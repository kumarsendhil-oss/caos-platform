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parts: a primer on how a CA practice actually works, then the CAOS platform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Document Intake — goal: Eliminate manual chasing and filing of client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Bookkeeping / Voucher Entry — goal: Automate the largest manual labour pool in the practice today — entering client purchase and sales records into Tally.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Reconciliation — GSTR-2A/2B vs Purchase Register — goal: Replace the single biggest manual time sink in GST compliance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 Compliance Checks — goal: Catch errors before they become notices from the department.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Communication — goal: Remove routine follow-up from the auditor's and staff's plate — the single biggest stated pain point in the practice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TDS / TCS Return Automation — goal: Apply the same reconciliation logic already built for GST to TDS/TCS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 Reconciliation — goal: Automate a task that is currently manual for most small and mid-size clients.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Papers — goal: Standardize and speed up documentation for every engagement.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Visibility — goal: Give the practice real visibility into its own capacity — the foundation for taking on more clients without more headcount.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Client Billing — goal: Automate invoicing based on services actually delivered, replacing the current ad hoc, per-client billing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3E"/>
        </a:solidFill>
      </p:bgPr>
    </p:bg>
    <p:spTree>
      <p:nvGrpSpPr>
        <p:cNvPr id="1" name=""/>
        <p:cNvGrpSpPr/>
        <p:nvPr/>
      </p:nvGrpSpPr>
      <p:grpSpPr>
        <a:xfrm>
          <a:off x="0" y="0"/>
          <a:ext cx="0" cy="0"/>
          <a:chOff x="0" y="0"/>
          <a:chExt cx="0" cy="0"/>
        </a:xfrm>
      </p:grpSpPr>
      <p:sp>
        <p:nvSpPr>
          <p:cNvPr id="2" name="Text 0"/>
          <p:cNvSpPr/>
          <p:nvPr/>
        </p:nvSpPr>
        <p:spPr>
          <a:xfrm>
            <a:off x="566928" y="1572768"/>
            <a:ext cx="6583680" cy="1371600"/>
          </a:xfrm>
          <a:prstGeom prst="rect">
            <a:avLst/>
          </a:prstGeom>
          <a:noFill/>
          <a:ln/>
        </p:spPr>
        <p:txBody>
          <a:bodyPr wrap="square" lIns="0" tIns="0" rIns="0" bIns="0" rtlCol="0" anchor="ctr"/>
          <a:lstStyle/>
          <a:p>
            <a:pPr indent="0" marL="0">
              <a:buNone/>
            </a:pPr>
            <a:r>
              <a:rPr lang="en-US" sz="9600" b="1" spc="200" kern="0" dirty="0">
                <a:solidFill>
                  <a:srgbClr val="FFFFFF"/>
                </a:solidFill>
                <a:latin typeface="Cambria" pitchFamily="34" charset="0"/>
                <a:ea typeface="Cambria" pitchFamily="34" charset="-122"/>
                <a:cs typeface="Cambria" pitchFamily="34" charset="-120"/>
              </a:rPr>
              <a:t>CAOS</a:t>
            </a:r>
            <a:endParaRPr lang="en-US" sz="9600" dirty="0"/>
          </a:p>
        </p:txBody>
      </p:sp>
      <p:sp>
        <p:nvSpPr>
          <p:cNvPr id="3" name="Text 1"/>
          <p:cNvSpPr/>
          <p:nvPr/>
        </p:nvSpPr>
        <p:spPr>
          <a:xfrm>
            <a:off x="566928" y="2889504"/>
            <a:ext cx="6583680" cy="384048"/>
          </a:xfrm>
          <a:prstGeom prst="rect">
            <a:avLst/>
          </a:prstGeom>
          <a:noFill/>
          <a:ln/>
        </p:spPr>
        <p:txBody>
          <a:bodyPr wrap="square" lIns="0" tIns="0" rIns="0" bIns="0" rtlCol="0" anchor="ctr"/>
          <a:lstStyle/>
          <a:p>
            <a:pPr indent="0" marL="0">
              <a:buNone/>
            </a:pPr>
            <a:r>
              <a:rPr lang="en-US" sz="2000" i="1" dirty="0">
                <a:solidFill>
                  <a:srgbClr val="C08428"/>
                </a:solidFill>
                <a:latin typeface="Cambria" pitchFamily="34" charset="0"/>
                <a:ea typeface="Cambria" pitchFamily="34" charset="-122"/>
                <a:cs typeface="Cambria" pitchFamily="34" charset="-120"/>
              </a:rPr>
              <a:t>From Chaos to CAOS</a:t>
            </a:r>
            <a:endParaRPr lang="en-US" sz="2000" dirty="0"/>
          </a:p>
        </p:txBody>
      </p:sp>
      <p:sp>
        <p:nvSpPr>
          <p:cNvPr id="4" name="Shape 2"/>
          <p:cNvSpPr/>
          <p:nvPr/>
        </p:nvSpPr>
        <p:spPr>
          <a:xfrm>
            <a:off x="566928" y="3529584"/>
            <a:ext cx="2011680" cy="0"/>
          </a:xfrm>
          <a:prstGeom prst="line">
            <a:avLst/>
          </a:prstGeom>
          <a:noFill/>
          <a:ln w="25400">
            <a:solidFill>
              <a:srgbClr val="2E7A78"/>
            </a:solidFill>
            <a:prstDash val="solid"/>
          </a:ln>
        </p:spPr>
      </p:sp>
      <p:sp>
        <p:nvSpPr>
          <p:cNvPr id="5" name="Text 3"/>
          <p:cNvSpPr/>
          <p:nvPr/>
        </p:nvSpPr>
        <p:spPr>
          <a:xfrm>
            <a:off x="566928" y="3712464"/>
            <a:ext cx="658368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Feature &amp; Process Documentation</a:t>
            </a:r>
            <a:endParaRPr lang="en-US" sz="1700" dirty="0"/>
          </a:p>
        </p:txBody>
      </p:sp>
      <p:sp>
        <p:nvSpPr>
          <p:cNvPr id="6" name="Text 4"/>
          <p:cNvSpPr/>
          <p:nvPr/>
        </p:nvSpPr>
        <p:spPr>
          <a:xfrm>
            <a:off x="566928" y="4114800"/>
            <a:ext cx="6035040" cy="731520"/>
          </a:xfrm>
          <a:prstGeom prst="rect">
            <a:avLst/>
          </a:prstGeom>
          <a:noFill/>
          <a:ln/>
        </p:spPr>
        <p:txBody>
          <a:bodyPr wrap="square" lIns="0" tIns="0" rIns="0" bIns="0" rtlCol="0" anchor="ctr"/>
          <a:lstStyle/>
          <a:p>
            <a:pPr indent="0" marL="0">
              <a:lnSpc>
                <a:spcPts val="1700"/>
              </a:lnSpc>
              <a:buNone/>
            </a:pPr>
            <a:r>
              <a:rPr lang="en-US" sz="1250" dirty="0">
                <a:solidFill>
                  <a:srgbClr val="B9CFCD"/>
                </a:solidFill>
                <a:latin typeface="Calibri" pitchFamily="34" charset="0"/>
                <a:ea typeface="Calibri" pitchFamily="34" charset="-122"/>
                <a:cs typeface="Calibri" pitchFamily="34" charset="-120"/>
              </a:rPr>
              <a:t>A practice-automation platform for Srivatsan &amp; Associates — with a primer on how a CA practice runs.</a:t>
            </a:r>
            <a:endParaRPr lang="en-US" sz="1250" dirty="0"/>
          </a:p>
        </p:txBody>
      </p:sp>
      <p:sp>
        <p:nvSpPr>
          <p:cNvPr id="7" name="Text 5"/>
          <p:cNvSpPr/>
          <p:nvPr/>
        </p:nvSpPr>
        <p:spPr>
          <a:xfrm>
            <a:off x="566928" y="5943600"/>
            <a:ext cx="7315200" cy="274320"/>
          </a:xfrm>
          <a:prstGeom prst="rect">
            <a:avLst/>
          </a:prstGeom>
          <a:noFill/>
          <a:ln/>
        </p:spPr>
        <p:txBody>
          <a:bodyPr wrap="square" lIns="0" tIns="0" rIns="0" bIns="0" rtlCol="0" anchor="ctr"/>
          <a:lstStyle/>
          <a:p>
            <a:pPr indent="0" marL="0">
              <a:buNone/>
            </a:pPr>
            <a:r>
              <a:rPr lang="en-US" sz="1000" dirty="0">
                <a:solidFill>
                  <a:srgbClr val="7E9A98"/>
                </a:solidFill>
                <a:latin typeface="Calibri" pitchFamily="34" charset="0"/>
                <a:ea typeface="Calibri" pitchFamily="34" charset="-122"/>
                <a:cs typeface="Calibri" pitchFamily="34" charset="-120"/>
              </a:rPr>
              <a:t>Prepared for Venture Assist / Srivatsan &amp; Associates   ·   v0.2   ·   August 2026</a:t>
            </a:r>
            <a:endParaRPr lang="en-US" sz="1000" dirty="0"/>
          </a:p>
        </p:txBody>
      </p:sp>
      <p:sp>
        <p:nvSpPr>
          <p:cNvPr id="8" name="Shape 6"/>
          <p:cNvSpPr/>
          <p:nvPr/>
        </p:nvSpPr>
        <p:spPr>
          <a:xfrm>
            <a:off x="7818120" y="1572768"/>
            <a:ext cx="3566160" cy="786384"/>
          </a:xfrm>
          <a:prstGeom prst="roundRect">
            <a:avLst>
              <a:gd name="adj" fmla="val 6977"/>
            </a:avLst>
          </a:prstGeom>
          <a:solidFill>
            <a:srgbClr val="FFFFFF">
              <a:alpha val="8000"/>
            </a:srgbClr>
          </a:solidFill>
          <a:ln w="12700">
            <a:solidFill>
              <a:srgbClr val="2E7A78"/>
            </a:solidFill>
            <a:prstDash val="solid"/>
          </a:ln>
        </p:spPr>
      </p:sp>
      <p:sp>
        <p:nvSpPr>
          <p:cNvPr id="9" name="Text 7"/>
          <p:cNvSpPr/>
          <p:nvPr/>
        </p:nvSpPr>
        <p:spPr>
          <a:xfrm>
            <a:off x="8037576" y="1691640"/>
            <a:ext cx="3127248"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Client documents</a:t>
            </a:r>
            <a:endParaRPr lang="en-US" sz="1200" dirty="0"/>
          </a:p>
        </p:txBody>
      </p:sp>
      <p:sp>
        <p:nvSpPr>
          <p:cNvPr id="10" name="Text 8"/>
          <p:cNvSpPr/>
          <p:nvPr/>
        </p:nvSpPr>
        <p:spPr>
          <a:xfrm>
            <a:off x="8037576" y="1975104"/>
            <a:ext cx="3127248" cy="256032"/>
          </a:xfrm>
          <a:prstGeom prst="rect">
            <a:avLst/>
          </a:prstGeom>
          <a:noFill/>
          <a:ln/>
        </p:spPr>
        <p:txBody>
          <a:bodyPr wrap="square" lIns="0" tIns="0" rIns="0" bIns="0" rtlCol="0" anchor="ctr"/>
          <a:lstStyle/>
          <a:p>
            <a:pPr indent="0" marL="0">
              <a:buNone/>
            </a:pPr>
            <a:r>
              <a:rPr lang="en-US" sz="950" dirty="0">
                <a:solidFill>
                  <a:srgbClr val="8FB0AE"/>
                </a:solidFill>
                <a:latin typeface="Calibri" pitchFamily="34" charset="0"/>
                <a:ea typeface="Calibri" pitchFamily="34" charset="-122"/>
                <a:cs typeface="Calibri" pitchFamily="34" charset="-120"/>
              </a:rPr>
              <a:t>invoice · bank statement · 26AS</a:t>
            </a:r>
            <a:endParaRPr lang="en-US" sz="950" dirty="0"/>
          </a:p>
        </p:txBody>
      </p:sp>
      <p:sp>
        <p:nvSpPr>
          <p:cNvPr id="11" name="Shape 9"/>
          <p:cNvSpPr/>
          <p:nvPr/>
        </p:nvSpPr>
        <p:spPr>
          <a:xfrm>
            <a:off x="9601200" y="2395728"/>
            <a:ext cx="0" cy="347472"/>
          </a:xfrm>
          <a:prstGeom prst="line">
            <a:avLst/>
          </a:prstGeom>
          <a:noFill/>
          <a:ln w="15875">
            <a:solidFill>
              <a:srgbClr val="2E7A78"/>
            </a:solidFill>
            <a:prstDash val="solid"/>
            <a:tailEnd type="triangle"/>
          </a:ln>
        </p:spPr>
      </p:sp>
      <p:sp>
        <p:nvSpPr>
          <p:cNvPr id="12" name="Shape 10"/>
          <p:cNvSpPr/>
          <p:nvPr/>
        </p:nvSpPr>
        <p:spPr>
          <a:xfrm>
            <a:off x="7818120" y="2779776"/>
            <a:ext cx="3566160" cy="786384"/>
          </a:xfrm>
          <a:prstGeom prst="roundRect">
            <a:avLst>
              <a:gd name="adj" fmla="val 6977"/>
            </a:avLst>
          </a:prstGeom>
          <a:solidFill>
            <a:srgbClr val="FFFFFF">
              <a:alpha val="8000"/>
            </a:srgbClr>
          </a:solidFill>
          <a:ln w="12700">
            <a:solidFill>
              <a:srgbClr val="2E7A78"/>
            </a:solidFill>
            <a:prstDash val="solid"/>
          </a:ln>
        </p:spPr>
      </p:sp>
      <p:sp>
        <p:nvSpPr>
          <p:cNvPr id="13" name="Text 11"/>
          <p:cNvSpPr/>
          <p:nvPr/>
        </p:nvSpPr>
        <p:spPr>
          <a:xfrm>
            <a:off x="8037576" y="2898648"/>
            <a:ext cx="3127248"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Vouchers &amp; ledgers</a:t>
            </a:r>
            <a:endParaRPr lang="en-US" sz="1200" dirty="0"/>
          </a:p>
        </p:txBody>
      </p:sp>
      <p:sp>
        <p:nvSpPr>
          <p:cNvPr id="14" name="Text 12"/>
          <p:cNvSpPr/>
          <p:nvPr/>
        </p:nvSpPr>
        <p:spPr>
          <a:xfrm>
            <a:off x="8037576" y="3182112"/>
            <a:ext cx="3127248" cy="256032"/>
          </a:xfrm>
          <a:prstGeom prst="rect">
            <a:avLst/>
          </a:prstGeom>
          <a:noFill/>
          <a:ln/>
        </p:spPr>
        <p:txBody>
          <a:bodyPr wrap="square" lIns="0" tIns="0" rIns="0" bIns="0" rtlCol="0" anchor="ctr"/>
          <a:lstStyle/>
          <a:p>
            <a:pPr indent="0" marL="0">
              <a:buNone/>
            </a:pPr>
            <a:r>
              <a:rPr lang="en-US" sz="950" dirty="0">
                <a:solidFill>
                  <a:srgbClr val="8FB0AE"/>
                </a:solidFill>
                <a:latin typeface="Calibri" pitchFamily="34" charset="0"/>
                <a:ea typeface="Calibri" pitchFamily="34" charset="-122"/>
                <a:cs typeface="Calibri" pitchFamily="34" charset="-120"/>
              </a:rPr>
              <a:t>the books</a:t>
            </a:r>
            <a:endParaRPr lang="en-US" sz="950" dirty="0"/>
          </a:p>
        </p:txBody>
      </p:sp>
      <p:sp>
        <p:nvSpPr>
          <p:cNvPr id="15" name="Shape 13"/>
          <p:cNvSpPr/>
          <p:nvPr/>
        </p:nvSpPr>
        <p:spPr>
          <a:xfrm>
            <a:off x="9601200" y="3602736"/>
            <a:ext cx="0" cy="347472"/>
          </a:xfrm>
          <a:prstGeom prst="line">
            <a:avLst/>
          </a:prstGeom>
          <a:noFill/>
          <a:ln w="15875">
            <a:solidFill>
              <a:srgbClr val="2E7A78"/>
            </a:solidFill>
            <a:prstDash val="solid"/>
            <a:tailEnd type="triangle"/>
          </a:ln>
        </p:spPr>
      </p:sp>
      <p:sp>
        <p:nvSpPr>
          <p:cNvPr id="16" name="Shape 14"/>
          <p:cNvSpPr/>
          <p:nvPr/>
        </p:nvSpPr>
        <p:spPr>
          <a:xfrm>
            <a:off x="7818120" y="3986784"/>
            <a:ext cx="3566160" cy="786384"/>
          </a:xfrm>
          <a:prstGeom prst="roundRect">
            <a:avLst>
              <a:gd name="adj" fmla="val 6977"/>
            </a:avLst>
          </a:prstGeom>
          <a:solidFill>
            <a:srgbClr val="FFFFFF">
              <a:alpha val="8000"/>
            </a:srgbClr>
          </a:solidFill>
          <a:ln w="12700">
            <a:solidFill>
              <a:srgbClr val="2E7A78"/>
            </a:solidFill>
            <a:prstDash val="solid"/>
          </a:ln>
        </p:spPr>
      </p:sp>
      <p:sp>
        <p:nvSpPr>
          <p:cNvPr id="17" name="Text 15"/>
          <p:cNvSpPr/>
          <p:nvPr/>
        </p:nvSpPr>
        <p:spPr>
          <a:xfrm>
            <a:off x="8037576" y="4105656"/>
            <a:ext cx="3127248"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Registers &amp; reconciliation</a:t>
            </a:r>
            <a:endParaRPr lang="en-US" sz="1200" dirty="0"/>
          </a:p>
        </p:txBody>
      </p:sp>
      <p:sp>
        <p:nvSpPr>
          <p:cNvPr id="18" name="Text 16"/>
          <p:cNvSpPr/>
          <p:nvPr/>
        </p:nvSpPr>
        <p:spPr>
          <a:xfrm>
            <a:off x="8037576" y="4389120"/>
            <a:ext cx="3127248" cy="256032"/>
          </a:xfrm>
          <a:prstGeom prst="rect">
            <a:avLst/>
          </a:prstGeom>
          <a:noFill/>
          <a:ln/>
        </p:spPr>
        <p:txBody>
          <a:bodyPr wrap="square" lIns="0" tIns="0" rIns="0" bIns="0" rtlCol="0" anchor="ctr"/>
          <a:lstStyle/>
          <a:p>
            <a:pPr indent="0" marL="0">
              <a:buNone/>
            </a:pPr>
            <a:r>
              <a:rPr lang="en-US" sz="950" dirty="0">
                <a:solidFill>
                  <a:srgbClr val="8FB0AE"/>
                </a:solidFill>
                <a:latin typeface="Calibri" pitchFamily="34" charset="0"/>
                <a:ea typeface="Calibri" pitchFamily="34" charset="-122"/>
                <a:cs typeface="Calibri" pitchFamily="34" charset="-120"/>
              </a:rPr>
              <a:t>books vs. the government</a:t>
            </a:r>
            <a:endParaRPr lang="en-US" sz="950" dirty="0"/>
          </a:p>
        </p:txBody>
      </p:sp>
      <p:sp>
        <p:nvSpPr>
          <p:cNvPr id="19" name="Shape 17"/>
          <p:cNvSpPr/>
          <p:nvPr/>
        </p:nvSpPr>
        <p:spPr>
          <a:xfrm>
            <a:off x="9601200" y="4809744"/>
            <a:ext cx="0" cy="347472"/>
          </a:xfrm>
          <a:prstGeom prst="line">
            <a:avLst/>
          </a:prstGeom>
          <a:noFill/>
          <a:ln w="15875">
            <a:solidFill>
              <a:srgbClr val="2E7A78"/>
            </a:solidFill>
            <a:prstDash val="solid"/>
            <a:tailEnd type="triangle"/>
          </a:ln>
        </p:spPr>
      </p:sp>
      <p:sp>
        <p:nvSpPr>
          <p:cNvPr id="20" name="Shape 18"/>
          <p:cNvSpPr/>
          <p:nvPr/>
        </p:nvSpPr>
        <p:spPr>
          <a:xfrm>
            <a:off x="7818120" y="5193792"/>
            <a:ext cx="3566160" cy="786384"/>
          </a:xfrm>
          <a:prstGeom prst="roundRect">
            <a:avLst>
              <a:gd name="adj" fmla="val 6977"/>
            </a:avLst>
          </a:prstGeom>
          <a:solidFill>
            <a:srgbClr val="FFFFFF">
              <a:alpha val="8000"/>
            </a:srgbClr>
          </a:solidFill>
          <a:ln w="12700">
            <a:solidFill>
              <a:srgbClr val="2E7A78"/>
            </a:solidFill>
            <a:prstDash val="solid"/>
          </a:ln>
        </p:spPr>
      </p:sp>
      <p:sp>
        <p:nvSpPr>
          <p:cNvPr id="21" name="Text 19"/>
          <p:cNvSpPr/>
          <p:nvPr/>
        </p:nvSpPr>
        <p:spPr>
          <a:xfrm>
            <a:off x="8037576" y="5312664"/>
            <a:ext cx="3127248" cy="256032"/>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Returns, filings &amp; billing</a:t>
            </a:r>
            <a:endParaRPr lang="en-US" sz="1200" dirty="0"/>
          </a:p>
        </p:txBody>
      </p:sp>
      <p:sp>
        <p:nvSpPr>
          <p:cNvPr id="22" name="Text 20"/>
          <p:cNvSpPr/>
          <p:nvPr/>
        </p:nvSpPr>
        <p:spPr>
          <a:xfrm>
            <a:off x="8037576" y="5596128"/>
            <a:ext cx="3127248" cy="256032"/>
          </a:xfrm>
          <a:prstGeom prst="rect">
            <a:avLst/>
          </a:prstGeom>
          <a:noFill/>
          <a:ln/>
        </p:spPr>
        <p:txBody>
          <a:bodyPr wrap="square" lIns="0" tIns="0" rIns="0" bIns="0" rtlCol="0" anchor="ctr"/>
          <a:lstStyle/>
          <a:p>
            <a:pPr indent="0" marL="0">
              <a:buNone/>
            </a:pPr>
            <a:r>
              <a:rPr lang="en-US" sz="950" dirty="0">
                <a:solidFill>
                  <a:srgbClr val="8FB0AE"/>
                </a:solidFill>
                <a:latin typeface="Calibri" pitchFamily="34" charset="0"/>
                <a:ea typeface="Calibri" pitchFamily="34" charset="-122"/>
                <a:cs typeface="Calibri" pitchFamily="34" charset="-120"/>
              </a:rPr>
              <a:t>the deliverable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8404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What's in this deck</a:t>
            </a:r>
            <a:endParaRPr lang="en-US" sz="2900" dirty="0"/>
          </a:p>
        </p:txBody>
      </p:sp>
      <p:sp>
        <p:nvSpPr>
          <p:cNvPr id="3" name="Text 1"/>
          <p:cNvSpPr/>
          <p:nvPr/>
        </p:nvSpPr>
        <p:spPr>
          <a:xfrm>
            <a:off x="566928" y="1060704"/>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Read Part 1 if you want to understand the work. Read Part 2 if you want to understand the system.</a:t>
            </a:r>
            <a:endParaRPr lang="en-US" sz="1300" dirty="0"/>
          </a:p>
        </p:txBody>
      </p:sp>
      <p:sp>
        <p:nvSpPr>
          <p:cNvPr id="4" name="Shape 2"/>
          <p:cNvSpPr/>
          <p:nvPr/>
        </p:nvSpPr>
        <p:spPr>
          <a:xfrm>
            <a:off x="566928" y="1627632"/>
            <a:ext cx="5239512" cy="4480560"/>
          </a:xfrm>
          <a:prstGeom prst="roundRect">
            <a:avLst>
              <a:gd name="adj" fmla="val 1429"/>
            </a:avLst>
          </a:prstGeom>
          <a:solidFill>
            <a:srgbClr val="EFF4F3"/>
          </a:solidFill>
          <a:ln w="12700">
            <a:solidFill>
              <a:srgbClr val="D5E0DE"/>
            </a:solidFill>
            <a:prstDash val="solid"/>
          </a:ln>
          <a:effectLst>
            <a:outerShdw sx="100000" sy="100000" kx="0" ky="0" algn="bl" rotWithShape="0" blurRad="101600" dist="25400" dir="5400000">
              <a:srgbClr val="0F3D3E">
                <a:alpha val="10000"/>
              </a:srgbClr>
            </a:outerShdw>
          </a:effectLst>
        </p:spPr>
      </p:sp>
      <p:sp>
        <p:nvSpPr>
          <p:cNvPr id="5" name="Text 3"/>
          <p:cNvSpPr/>
          <p:nvPr/>
        </p:nvSpPr>
        <p:spPr>
          <a:xfrm>
            <a:off x="950976" y="1883664"/>
            <a:ext cx="4471416"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PART 1</a:t>
            </a:r>
            <a:endParaRPr lang="en-US" sz="1050" dirty="0"/>
          </a:p>
        </p:txBody>
      </p:sp>
      <p:sp>
        <p:nvSpPr>
          <p:cNvPr id="6" name="Text 4"/>
          <p:cNvSpPr/>
          <p:nvPr/>
        </p:nvSpPr>
        <p:spPr>
          <a:xfrm>
            <a:off x="950976" y="2139696"/>
            <a:ext cx="4471416" cy="475488"/>
          </a:xfrm>
          <a:prstGeom prst="rect">
            <a:avLst/>
          </a:prstGeom>
          <a:noFill/>
          <a:ln/>
        </p:spPr>
        <p:txBody>
          <a:bodyPr wrap="square" lIns="0" tIns="0" rIns="0" bIns="0" rtlCol="0" anchor="ctr"/>
          <a:lstStyle/>
          <a:p>
            <a:pPr indent="0" marL="0">
              <a:buNone/>
            </a:pPr>
            <a:r>
              <a:rPr lang="en-US" sz="3000" b="1" dirty="0">
                <a:solidFill>
                  <a:srgbClr val="0F3D3E"/>
                </a:solidFill>
                <a:latin typeface="Cambria" pitchFamily="34" charset="0"/>
                <a:ea typeface="Cambria" pitchFamily="34" charset="-122"/>
                <a:cs typeface="Cambria" pitchFamily="34" charset="-120"/>
              </a:rPr>
              <a:t>The CA's World</a:t>
            </a:r>
            <a:endParaRPr lang="en-US" sz="3000" dirty="0"/>
          </a:p>
        </p:txBody>
      </p:sp>
      <p:sp>
        <p:nvSpPr>
          <p:cNvPr id="7" name="Text 5"/>
          <p:cNvSpPr/>
          <p:nvPr/>
        </p:nvSpPr>
        <p:spPr>
          <a:xfrm>
            <a:off x="950976" y="2633472"/>
            <a:ext cx="4471416" cy="274320"/>
          </a:xfrm>
          <a:prstGeom prst="rect">
            <a:avLst/>
          </a:prstGeom>
          <a:noFill/>
          <a:ln/>
        </p:spPr>
        <p:txBody>
          <a:bodyPr wrap="square" lIns="0" tIns="0" rIns="0" bIns="0" rtlCol="0" anchor="ctr"/>
          <a:lstStyle/>
          <a:p>
            <a:pPr indent="0" marL="0">
              <a:buNone/>
            </a:pPr>
            <a:r>
              <a:rPr lang="en-US" sz="1200" i="1" dirty="0">
                <a:solidFill>
                  <a:srgbClr val="5C6B6A"/>
                </a:solidFill>
                <a:latin typeface="Calibri" pitchFamily="34" charset="0"/>
                <a:ea typeface="Calibri" pitchFamily="34" charset="-122"/>
                <a:cs typeface="Calibri" pitchFamily="34" charset="-120"/>
              </a:rPr>
              <a:t>A primer, from zero</a:t>
            </a:r>
            <a:endParaRPr lang="en-US" sz="1200" dirty="0"/>
          </a:p>
        </p:txBody>
      </p:sp>
      <p:sp>
        <p:nvSpPr>
          <p:cNvPr id="8" name="Shape 6"/>
          <p:cNvSpPr/>
          <p:nvPr/>
        </p:nvSpPr>
        <p:spPr>
          <a:xfrm>
            <a:off x="950976" y="3072384"/>
            <a:ext cx="1371600" cy="0"/>
          </a:xfrm>
          <a:prstGeom prst="line">
            <a:avLst/>
          </a:prstGeom>
          <a:noFill/>
          <a:ln w="19050">
            <a:solidFill>
              <a:srgbClr val="D5E0DE"/>
            </a:solidFill>
            <a:prstDash val="solid"/>
          </a:ln>
        </p:spPr>
      </p:sp>
      <p:sp>
        <p:nvSpPr>
          <p:cNvPr id="9" name="Text 7"/>
          <p:cNvSpPr/>
          <p:nvPr/>
        </p:nvSpPr>
        <p:spPr>
          <a:xfrm>
            <a:off x="950976" y="3236976"/>
            <a:ext cx="4471416" cy="265176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5C6B6A"/>
                </a:solidFill>
                <a:latin typeface="Calibri" pitchFamily="34" charset="0"/>
                <a:ea typeface="Calibri" pitchFamily="34" charset="-122"/>
                <a:cs typeface="Calibri" pitchFamily="34" charset="-120"/>
              </a:rPr>
              <a:t>What a practice actually does, end to end</a:t>
            </a:r>
            <a:endParaRPr lang="en-US" sz="1150" dirty="0"/>
          </a:p>
          <a:p>
            <a:pPr marL="342900" indent="-342900">
              <a:lnSpc>
                <a:spcPts val="1500"/>
              </a:lnSpc>
              <a:spcAft>
                <a:spcPts val="800"/>
              </a:spcAft>
              <a:buSzPct val="100000"/>
              <a:buChar char="•"/>
            </a:pPr>
            <a:r>
              <a:rPr lang="en-US" sz="1150" dirty="0">
                <a:solidFill>
                  <a:srgbClr val="5C6B6A"/>
                </a:solidFill>
                <a:latin typeface="Calibri" pitchFamily="34" charset="0"/>
                <a:ea typeface="Calibri" pitchFamily="34" charset="-122"/>
                <a:cs typeface="Calibri" pitchFamily="34" charset="-120"/>
              </a:rPr>
              <a:t>Voucher · Ledger · Register — what each word means</a:t>
            </a:r>
            <a:endParaRPr lang="en-US" sz="1150" dirty="0"/>
          </a:p>
          <a:p>
            <a:pPr marL="342900" indent="-342900">
              <a:lnSpc>
                <a:spcPts val="1500"/>
              </a:lnSpc>
              <a:spcAft>
                <a:spcPts val="800"/>
              </a:spcAft>
              <a:buSzPct val="100000"/>
              <a:buChar char="•"/>
            </a:pPr>
            <a:r>
              <a:rPr lang="en-US" sz="1150" dirty="0">
                <a:solidFill>
                  <a:srgbClr val="5C6B6A"/>
                </a:solidFill>
                <a:latin typeface="Calibri" pitchFamily="34" charset="0"/>
                <a:ea typeface="Calibri" pitchFamily="34" charset="-122"/>
                <a:cs typeface="Calibri" pitchFamily="34" charset="-120"/>
              </a:rPr>
              <a:t>Trial balance → P&amp;L → balance sheet</a:t>
            </a:r>
            <a:endParaRPr lang="en-US" sz="1150" dirty="0"/>
          </a:p>
          <a:p>
            <a:pPr marL="342900" indent="-342900">
              <a:lnSpc>
                <a:spcPts val="1500"/>
              </a:lnSpc>
              <a:spcAft>
                <a:spcPts val="800"/>
              </a:spcAft>
              <a:buSzPct val="100000"/>
              <a:buChar char="•"/>
            </a:pPr>
            <a:r>
              <a:rPr lang="en-US" sz="1150" dirty="0">
                <a:solidFill>
                  <a:srgbClr val="5C6B6A"/>
                </a:solidFill>
                <a:latin typeface="Calibri" pitchFamily="34" charset="0"/>
                <a:ea typeface="Calibri" pitchFamily="34" charset="-122"/>
                <a:cs typeface="Calibri" pitchFamily="34" charset="-120"/>
              </a:rPr>
              <a:t>The GST return family, and why ITC forces reconciliation</a:t>
            </a:r>
            <a:endParaRPr lang="en-US" sz="1150" dirty="0"/>
          </a:p>
          <a:p>
            <a:pPr marL="342900" indent="-342900">
              <a:lnSpc>
                <a:spcPts val="1500"/>
              </a:lnSpc>
              <a:spcAft>
                <a:spcPts val="800"/>
              </a:spcAft>
              <a:buSzPct val="100000"/>
              <a:buChar char="•"/>
            </a:pPr>
            <a:r>
              <a:rPr lang="en-US" sz="1150" dirty="0">
                <a:solidFill>
                  <a:srgbClr val="5C6B6A"/>
                </a:solidFill>
                <a:latin typeface="Calibri" pitchFamily="34" charset="0"/>
                <a:ea typeface="Calibri" pitchFamily="34" charset="-122"/>
                <a:cs typeface="Calibri" pitchFamily="34" charset="-120"/>
              </a:rPr>
              <a:t>TDS &amp; Form 26AS · bank reconciliation · working papers</a:t>
            </a:r>
            <a:endParaRPr lang="en-US" sz="1150" dirty="0"/>
          </a:p>
          <a:p>
            <a:pPr marL="342900" indent="-342900">
              <a:lnSpc>
                <a:spcPts val="1500"/>
              </a:lnSpc>
              <a:spcAft>
                <a:spcPts val="800"/>
              </a:spcAft>
              <a:buSzPct val="100000"/>
              <a:buChar char="•"/>
            </a:pPr>
            <a:r>
              <a:rPr lang="en-US" sz="1150" dirty="0">
                <a:solidFill>
                  <a:srgbClr val="5C6B6A"/>
                </a:solidFill>
                <a:latin typeface="Calibri" pitchFamily="34" charset="0"/>
                <a:ea typeface="Calibri" pitchFamily="34" charset="-122"/>
                <a:cs typeface="Calibri" pitchFamily="34" charset="-120"/>
              </a:rPr>
              <a:t>The compliance calendar that shapes the whole year</a:t>
            </a:r>
            <a:endParaRPr lang="en-US" sz="1150" dirty="0"/>
          </a:p>
        </p:txBody>
      </p:sp>
      <p:sp>
        <p:nvSpPr>
          <p:cNvPr id="10" name="Shape 8"/>
          <p:cNvSpPr/>
          <p:nvPr/>
        </p:nvSpPr>
        <p:spPr>
          <a:xfrm>
            <a:off x="6382512" y="1627632"/>
            <a:ext cx="5239512" cy="4480560"/>
          </a:xfrm>
          <a:prstGeom prst="roundRect">
            <a:avLst>
              <a:gd name="adj" fmla="val 1429"/>
            </a:avLst>
          </a:prstGeom>
          <a:solidFill>
            <a:srgbClr val="0F3D3E"/>
          </a:solidFill>
          <a:ln w="12700">
            <a:solidFill>
              <a:srgbClr val="0F3D3E"/>
            </a:solidFill>
            <a:prstDash val="solid"/>
          </a:ln>
          <a:effectLst>
            <a:outerShdw sx="100000" sy="100000" kx="0" ky="0" algn="bl" rotWithShape="0" blurRad="101600" dist="25400" dir="5400000">
              <a:srgbClr val="0F3D3E">
                <a:alpha val="10000"/>
              </a:srgbClr>
            </a:outerShdw>
          </a:effectLst>
        </p:spPr>
      </p:sp>
      <p:sp>
        <p:nvSpPr>
          <p:cNvPr id="11" name="Text 9"/>
          <p:cNvSpPr/>
          <p:nvPr/>
        </p:nvSpPr>
        <p:spPr>
          <a:xfrm>
            <a:off x="6766560" y="1883664"/>
            <a:ext cx="4471416"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PART 2</a:t>
            </a:r>
            <a:endParaRPr lang="en-US" sz="1050" dirty="0"/>
          </a:p>
        </p:txBody>
      </p:sp>
      <p:sp>
        <p:nvSpPr>
          <p:cNvPr id="12" name="Text 10"/>
          <p:cNvSpPr/>
          <p:nvPr/>
        </p:nvSpPr>
        <p:spPr>
          <a:xfrm>
            <a:off x="6766560" y="2139696"/>
            <a:ext cx="4471416" cy="475488"/>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CAOS</a:t>
            </a:r>
            <a:endParaRPr lang="en-US" sz="3000" dirty="0"/>
          </a:p>
        </p:txBody>
      </p:sp>
      <p:sp>
        <p:nvSpPr>
          <p:cNvPr id="13" name="Text 11"/>
          <p:cNvSpPr/>
          <p:nvPr/>
        </p:nvSpPr>
        <p:spPr>
          <a:xfrm>
            <a:off x="6766560" y="2633472"/>
            <a:ext cx="4471416" cy="274320"/>
          </a:xfrm>
          <a:prstGeom prst="rect">
            <a:avLst/>
          </a:prstGeom>
          <a:noFill/>
          <a:ln/>
        </p:spPr>
        <p:txBody>
          <a:bodyPr wrap="square" lIns="0" tIns="0" rIns="0" bIns="0" rtlCol="0" anchor="ctr"/>
          <a:lstStyle/>
          <a:p>
            <a:pPr indent="0" marL="0">
              <a:buNone/>
            </a:pPr>
            <a:r>
              <a:rPr lang="en-US" sz="1200" i="1" dirty="0">
                <a:solidFill>
                  <a:srgbClr val="9FBBB9"/>
                </a:solidFill>
                <a:latin typeface="Calibri" pitchFamily="34" charset="0"/>
                <a:ea typeface="Calibri" pitchFamily="34" charset="-122"/>
                <a:cs typeface="Calibri" pitchFamily="34" charset="-120"/>
              </a:rPr>
              <a:t>Ten automation agents</a:t>
            </a:r>
            <a:endParaRPr lang="en-US" sz="1200" dirty="0"/>
          </a:p>
        </p:txBody>
      </p:sp>
      <p:sp>
        <p:nvSpPr>
          <p:cNvPr id="14" name="Shape 12"/>
          <p:cNvSpPr/>
          <p:nvPr/>
        </p:nvSpPr>
        <p:spPr>
          <a:xfrm>
            <a:off x="6766560" y="3072384"/>
            <a:ext cx="1371600" cy="0"/>
          </a:xfrm>
          <a:prstGeom prst="line">
            <a:avLst/>
          </a:prstGeom>
          <a:noFill/>
          <a:ln w="19050">
            <a:solidFill>
              <a:srgbClr val="2E7A78"/>
            </a:solidFill>
            <a:prstDash val="solid"/>
          </a:ln>
        </p:spPr>
      </p:sp>
      <p:sp>
        <p:nvSpPr>
          <p:cNvPr id="15" name="Text 13"/>
          <p:cNvSpPr/>
          <p:nvPr/>
        </p:nvSpPr>
        <p:spPr>
          <a:xfrm>
            <a:off x="6766560" y="3236976"/>
            <a:ext cx="4471416" cy="2651760"/>
          </a:xfrm>
          <a:prstGeom prst="rect">
            <a:avLst/>
          </a:prstGeom>
          <a:noFill/>
          <a:ln/>
        </p:spPr>
        <p:txBody>
          <a:bodyPr wrap="square" lIns="0" tIns="0" rIns="0" bIns="0" rtlCol="0" anchor="t"/>
          <a:lstStyle/>
          <a:p>
            <a:pPr marL="342900" indent="-342900">
              <a:lnSpc>
                <a:spcPts val="1500"/>
              </a:lnSpc>
              <a:spcAft>
                <a:spcPts val="800"/>
              </a:spcAft>
              <a:buSzPct val="100000"/>
              <a:buChar char="•"/>
            </a:pPr>
            <a:r>
              <a:rPr lang="en-US" sz="1150" dirty="0">
                <a:solidFill>
                  <a:srgbClr val="CFE0DE"/>
                </a:solidFill>
                <a:latin typeface="Calibri" pitchFamily="34" charset="0"/>
                <a:ea typeface="Calibri" pitchFamily="34" charset="-122"/>
                <a:cs typeface="Calibri" pitchFamily="34" charset="-120"/>
              </a:rPr>
              <a:t>What CAOS is, and what it replaces</a:t>
            </a:r>
            <a:endParaRPr lang="en-US" sz="1150" dirty="0"/>
          </a:p>
          <a:p>
            <a:pPr marL="342900" indent="-342900">
              <a:lnSpc>
                <a:spcPts val="1500"/>
              </a:lnSpc>
              <a:spcAft>
                <a:spcPts val="800"/>
              </a:spcAft>
              <a:buSzPct val="100000"/>
              <a:buChar char="•"/>
            </a:pPr>
            <a:r>
              <a:rPr lang="en-US" sz="1150" dirty="0">
                <a:solidFill>
                  <a:srgbClr val="CFE0DE"/>
                </a:solidFill>
                <a:latin typeface="Calibri" pitchFamily="34" charset="0"/>
                <a:ea typeface="Calibri" pitchFamily="34" charset="-122"/>
                <a:cs typeface="Calibri" pitchFamily="34" charset="-120"/>
              </a:rPr>
              <a:t>The numbers: 100 returns/month today → 500 target</a:t>
            </a:r>
            <a:endParaRPr lang="en-US" sz="1150" dirty="0"/>
          </a:p>
          <a:p>
            <a:pPr marL="342900" indent="-342900">
              <a:lnSpc>
                <a:spcPts val="1500"/>
              </a:lnSpc>
              <a:spcAft>
                <a:spcPts val="800"/>
              </a:spcAft>
              <a:buSzPct val="100000"/>
              <a:buChar char="•"/>
            </a:pPr>
            <a:r>
              <a:rPr lang="en-US" sz="1150" dirty="0">
                <a:solidFill>
                  <a:srgbClr val="CFE0DE"/>
                </a:solidFill>
                <a:latin typeface="Calibri" pitchFamily="34" charset="0"/>
                <a:ea typeface="Calibri" pitchFamily="34" charset="-122"/>
                <a:cs typeface="Calibri" pitchFamily="34" charset="-120"/>
              </a:rPr>
              <a:t>How work stays accountable — tasks, owners, escalation</a:t>
            </a:r>
            <a:endParaRPr lang="en-US" sz="1150" dirty="0"/>
          </a:p>
          <a:p>
            <a:pPr marL="342900" indent="-342900">
              <a:lnSpc>
                <a:spcPts val="1500"/>
              </a:lnSpc>
              <a:spcAft>
                <a:spcPts val="800"/>
              </a:spcAft>
              <a:buSzPct val="100000"/>
              <a:buChar char="•"/>
            </a:pPr>
            <a:r>
              <a:rPr lang="en-US" sz="1150" dirty="0">
                <a:solidFill>
                  <a:srgbClr val="CFE0DE"/>
                </a:solidFill>
                <a:latin typeface="Calibri" pitchFamily="34" charset="0"/>
                <a:ea typeface="Calibri" pitchFamily="34" charset="-122"/>
                <a:cs typeface="Calibri" pitchFamily="34" charset="-120"/>
              </a:rPr>
              <a:t>All ten agents: goal, flow, steps, human touchpoint</a:t>
            </a:r>
            <a:endParaRPr lang="en-US" sz="1150" dirty="0"/>
          </a:p>
          <a:p>
            <a:pPr marL="342900" indent="-342900">
              <a:lnSpc>
                <a:spcPts val="1500"/>
              </a:lnSpc>
              <a:spcAft>
                <a:spcPts val="800"/>
              </a:spcAft>
              <a:buSzPct val="100000"/>
              <a:buChar char="•"/>
            </a:pPr>
            <a:r>
              <a:rPr lang="en-US" sz="1150" dirty="0">
                <a:solidFill>
                  <a:srgbClr val="CFE0DE"/>
                </a:solidFill>
                <a:latin typeface="Calibri" pitchFamily="34" charset="0"/>
                <a:ea typeface="Calibri" pitchFamily="34" charset="-122"/>
                <a:cs typeface="Calibri" pitchFamily="34" charset="-120"/>
              </a:rPr>
              <a:t>The standardization groundwork required first</a:t>
            </a:r>
            <a:endParaRPr lang="en-US" sz="1150" dirty="0"/>
          </a:p>
          <a:p>
            <a:pPr marL="342900" indent="-342900">
              <a:lnSpc>
                <a:spcPts val="1500"/>
              </a:lnSpc>
              <a:spcAft>
                <a:spcPts val="800"/>
              </a:spcAft>
              <a:buSzPct val="100000"/>
              <a:buChar char="•"/>
            </a:pPr>
            <a:r>
              <a:rPr lang="en-US" sz="1150" dirty="0">
                <a:solidFill>
                  <a:srgbClr val="CFE0DE"/>
                </a:solidFill>
                <a:latin typeface="Calibri" pitchFamily="34" charset="0"/>
                <a:ea typeface="Calibri" pitchFamily="34" charset="-122"/>
                <a:cs typeface="Calibri" pitchFamily="34" charset="-120"/>
              </a:rPr>
              <a:t>What's deliberately out of scope for now</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3D3E"/>
        </a:solidFill>
      </p:bgPr>
    </p:bg>
    <p:spTree>
      <p:nvGrpSpPr>
        <p:cNvPr id="1" name=""/>
        <p:cNvGrpSpPr/>
        <p:nvPr/>
      </p:nvGrpSpPr>
      <p:grpSpPr>
        <a:xfrm>
          <a:off x="0" y="0"/>
          <a:ext cx="0" cy="0"/>
          <a:chOff x="0" y="0"/>
          <a:chExt cx="0" cy="0"/>
        </a:xfrm>
      </p:grpSpPr>
      <p:sp>
        <p:nvSpPr>
          <p:cNvPr id="2" name="Text 0"/>
          <p:cNvSpPr/>
          <p:nvPr/>
        </p:nvSpPr>
        <p:spPr>
          <a:xfrm>
            <a:off x="566928" y="2286000"/>
            <a:ext cx="7315200" cy="365760"/>
          </a:xfrm>
          <a:prstGeom prst="rect">
            <a:avLst/>
          </a:prstGeom>
          <a:noFill/>
          <a:ln/>
        </p:spPr>
        <p:txBody>
          <a:bodyPr wrap="square" lIns="0" tIns="0" rIns="0" bIns="0" rtlCol="0" anchor="ctr"/>
          <a:lstStyle/>
          <a:p>
            <a:pPr indent="0" marL="0">
              <a:buNone/>
            </a:pPr>
            <a:r>
              <a:rPr lang="en-US" sz="1300" b="1" spc="240" kern="0" dirty="0">
                <a:solidFill>
                  <a:srgbClr val="C08428"/>
                </a:solidFill>
                <a:latin typeface="Calibri" pitchFamily="34" charset="0"/>
                <a:ea typeface="Calibri" pitchFamily="34" charset="-122"/>
                <a:cs typeface="Calibri" pitchFamily="34" charset="-120"/>
              </a:rPr>
              <a:t>PART 1</a:t>
            </a:r>
            <a:endParaRPr lang="en-US" sz="1300" dirty="0"/>
          </a:p>
        </p:txBody>
      </p:sp>
      <p:sp>
        <p:nvSpPr>
          <p:cNvPr id="3" name="Text 1"/>
          <p:cNvSpPr/>
          <p:nvPr/>
        </p:nvSpPr>
        <p:spPr>
          <a:xfrm>
            <a:off x="566928" y="2688336"/>
            <a:ext cx="8229600" cy="91440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The CA's World</a:t>
            </a:r>
            <a:endParaRPr lang="en-US" sz="5800" dirty="0"/>
          </a:p>
        </p:txBody>
      </p:sp>
      <p:sp>
        <p:nvSpPr>
          <p:cNvPr id="4" name="Text 2"/>
          <p:cNvSpPr/>
          <p:nvPr/>
        </p:nvSpPr>
        <p:spPr>
          <a:xfrm>
            <a:off x="566928" y="3767328"/>
            <a:ext cx="7680960" cy="822960"/>
          </a:xfrm>
          <a:prstGeom prst="rect">
            <a:avLst/>
          </a:prstGeom>
          <a:noFill/>
          <a:ln/>
        </p:spPr>
        <p:txBody>
          <a:bodyPr wrap="square" lIns="0" tIns="0" rIns="0" bIns="0" rtlCol="0" anchor="ctr"/>
          <a:lstStyle/>
          <a:p>
            <a:pPr indent="0" marL="0">
              <a:lnSpc>
                <a:spcPts val="2100"/>
              </a:lnSpc>
              <a:buNone/>
            </a:pPr>
            <a:r>
              <a:rPr lang="en-US" sz="1350" dirty="0">
                <a:solidFill>
                  <a:srgbClr val="A8C3C1"/>
                </a:solidFill>
                <a:latin typeface="Calibri" pitchFamily="34" charset="0"/>
                <a:ea typeface="Calibri" pitchFamily="34" charset="-122"/>
                <a:cs typeface="Calibri" pitchFamily="34" charset="-120"/>
              </a:rPr>
              <a:t>Every term CAOS uses — voucher, ledger, register, reconciliation — comes from a real, physical</a:t>
            </a:r>
            <a:endParaRPr lang="en-US" sz="1350" dirty="0"/>
          </a:p>
          <a:p>
            <a:pPr indent="0" marL="0">
              <a:lnSpc>
                <a:spcPts val="2100"/>
              </a:lnSpc>
              <a:buNone/>
            </a:pPr>
            <a:r>
              <a:rPr lang="en-US" sz="1350" dirty="0">
                <a:solidFill>
                  <a:srgbClr val="A8C3C1"/>
                </a:solidFill>
                <a:latin typeface="Calibri" pitchFamily="34" charset="0"/>
                <a:ea typeface="Calibri" pitchFamily="34" charset="-122"/>
                <a:cs typeface="Calibri" pitchFamily="34" charset="-120"/>
              </a:rPr>
              <a:t>process a practice has run for decades. This part explains that process end to end.</a:t>
            </a:r>
            <a:endParaRPr lang="en-US" sz="1350" dirty="0"/>
          </a:p>
        </p:txBody>
      </p:sp>
      <p:sp>
        <p:nvSpPr>
          <p:cNvPr id="5" name="Shape 3"/>
          <p:cNvSpPr/>
          <p:nvPr/>
        </p:nvSpPr>
        <p:spPr>
          <a:xfrm>
            <a:off x="566928" y="5029200"/>
            <a:ext cx="182880" cy="182880"/>
          </a:xfrm>
          <a:prstGeom prst="roundRect">
            <a:avLst>
              <a:gd name="adj" fmla="val 15000"/>
            </a:avLst>
          </a:prstGeom>
          <a:solidFill>
            <a:srgbClr val="C08428"/>
          </a:solidFill>
          <a:ln w="12700">
            <a:solidFill>
              <a:srgbClr val="C08428"/>
            </a:solidFill>
            <a:prstDash val="solid"/>
          </a:ln>
        </p:spPr>
      </p:sp>
      <p:sp>
        <p:nvSpPr>
          <p:cNvPr id="6" name="Shape 4"/>
          <p:cNvSpPr/>
          <p:nvPr/>
        </p:nvSpPr>
        <p:spPr>
          <a:xfrm>
            <a:off x="877824" y="5029200"/>
            <a:ext cx="182880" cy="182880"/>
          </a:xfrm>
          <a:prstGeom prst="roundRect">
            <a:avLst>
              <a:gd name="adj" fmla="val 15000"/>
            </a:avLst>
          </a:prstGeom>
          <a:solidFill>
            <a:srgbClr val="C08428"/>
          </a:solidFill>
          <a:ln w="12700">
            <a:solidFill>
              <a:srgbClr val="C08428"/>
            </a:solidFill>
            <a:prstDash val="solid"/>
          </a:ln>
        </p:spPr>
      </p:sp>
      <p:sp>
        <p:nvSpPr>
          <p:cNvPr id="7" name="Shape 5"/>
          <p:cNvSpPr/>
          <p:nvPr/>
        </p:nvSpPr>
        <p:spPr>
          <a:xfrm>
            <a:off x="1188720" y="5029200"/>
            <a:ext cx="182880" cy="182880"/>
          </a:xfrm>
          <a:prstGeom prst="roundRect">
            <a:avLst>
              <a:gd name="adj" fmla="val 15000"/>
            </a:avLst>
          </a:prstGeom>
          <a:solidFill>
            <a:srgbClr val="C08428"/>
          </a:solidFill>
          <a:ln w="12700">
            <a:solidFill>
              <a:srgbClr val="C08428"/>
            </a:solidFill>
            <a:prstDash val="solid"/>
          </a:ln>
        </p:spPr>
      </p:sp>
      <p:sp>
        <p:nvSpPr>
          <p:cNvPr id="8" name="Shape 6"/>
          <p:cNvSpPr/>
          <p:nvPr/>
        </p:nvSpPr>
        <p:spPr>
          <a:xfrm>
            <a:off x="1499616" y="5029200"/>
            <a:ext cx="182880" cy="182880"/>
          </a:xfrm>
          <a:prstGeom prst="roundRect">
            <a:avLst>
              <a:gd name="adj" fmla="val 15000"/>
            </a:avLst>
          </a:prstGeom>
          <a:solidFill>
            <a:srgbClr val="C08428"/>
          </a:solidFill>
          <a:ln w="12700">
            <a:solidFill>
              <a:srgbClr val="C08428"/>
            </a:solidFill>
            <a:prstDash val="solid"/>
          </a:ln>
        </p:spPr>
      </p:sp>
      <p:sp>
        <p:nvSpPr>
          <p:cNvPr id="9" name="Shape 7"/>
          <p:cNvSpPr/>
          <p:nvPr/>
        </p:nvSpPr>
        <p:spPr>
          <a:xfrm>
            <a:off x="1810512" y="5029200"/>
            <a:ext cx="182880" cy="182880"/>
          </a:xfrm>
          <a:prstGeom prst="roundRect">
            <a:avLst>
              <a:gd name="adj" fmla="val 15000"/>
            </a:avLst>
          </a:prstGeom>
          <a:solidFill>
            <a:srgbClr val="2E7A78"/>
          </a:solidFill>
          <a:ln w="12700">
            <a:solidFill>
              <a:srgbClr val="2E7A78"/>
            </a:solidFill>
            <a:prstDash val="solid"/>
          </a:ln>
        </p:spPr>
      </p:sp>
      <p:sp>
        <p:nvSpPr>
          <p:cNvPr id="10" name="Shape 8"/>
          <p:cNvSpPr/>
          <p:nvPr/>
        </p:nvSpPr>
        <p:spPr>
          <a:xfrm>
            <a:off x="2121408" y="5029200"/>
            <a:ext cx="182880" cy="182880"/>
          </a:xfrm>
          <a:prstGeom prst="roundRect">
            <a:avLst>
              <a:gd name="adj" fmla="val 15000"/>
            </a:avLst>
          </a:prstGeom>
          <a:solidFill>
            <a:srgbClr val="2E7A78"/>
          </a:solidFill>
          <a:ln w="12700">
            <a:solidFill>
              <a:srgbClr val="2E7A78"/>
            </a:solidFill>
            <a:prstDash val="solid"/>
          </a:ln>
        </p:spPr>
      </p:sp>
      <p:sp>
        <p:nvSpPr>
          <p:cNvPr id="11" name="Shape 9"/>
          <p:cNvSpPr/>
          <p:nvPr/>
        </p:nvSpPr>
        <p:spPr>
          <a:xfrm>
            <a:off x="2432304" y="5029200"/>
            <a:ext cx="182880" cy="182880"/>
          </a:xfrm>
          <a:prstGeom prst="roundRect">
            <a:avLst>
              <a:gd name="adj" fmla="val 15000"/>
            </a:avLst>
          </a:prstGeom>
          <a:solidFill>
            <a:srgbClr val="2E7A78"/>
          </a:solidFill>
          <a:ln w="12700">
            <a:solidFill>
              <a:srgbClr val="2E7A78"/>
            </a:solidFill>
            <a:prstDash val="solid"/>
          </a:ln>
        </p:spPr>
      </p:sp>
      <p:sp>
        <p:nvSpPr>
          <p:cNvPr id="12" name="Shape 10"/>
          <p:cNvSpPr/>
          <p:nvPr/>
        </p:nvSpPr>
        <p:spPr>
          <a:xfrm>
            <a:off x="2743200" y="5029200"/>
            <a:ext cx="182880" cy="182880"/>
          </a:xfrm>
          <a:prstGeom prst="roundRect">
            <a:avLst>
              <a:gd name="adj" fmla="val 15000"/>
            </a:avLst>
          </a:prstGeom>
          <a:solidFill>
            <a:srgbClr val="2E7A78"/>
          </a:solidFill>
          <a:ln w="12700">
            <a:solidFill>
              <a:srgbClr val="2E7A78"/>
            </a:solidFill>
            <a:prstDash val="solid"/>
          </a:ln>
        </p:spPr>
      </p:sp>
      <p:sp>
        <p:nvSpPr>
          <p:cNvPr id="13" name="Shape 11"/>
          <p:cNvSpPr/>
          <p:nvPr/>
        </p:nvSpPr>
        <p:spPr>
          <a:xfrm>
            <a:off x="3054096" y="5029200"/>
            <a:ext cx="182880" cy="182880"/>
          </a:xfrm>
          <a:prstGeom prst="roundRect">
            <a:avLst>
              <a:gd name="adj" fmla="val 15000"/>
            </a:avLst>
          </a:prstGeom>
          <a:solidFill>
            <a:srgbClr val="2E7A78"/>
          </a:solidFill>
          <a:ln w="12700">
            <a:solidFill>
              <a:srgbClr val="2E7A78"/>
            </a:solidFill>
            <a:prstDash val="solid"/>
          </a:ln>
        </p:spPr>
      </p:sp>
      <p:sp>
        <p:nvSpPr>
          <p:cNvPr id="14" name="Shape 12"/>
          <p:cNvSpPr/>
          <p:nvPr/>
        </p:nvSpPr>
        <p:spPr>
          <a:xfrm>
            <a:off x="3364992" y="5029200"/>
            <a:ext cx="182880" cy="182880"/>
          </a:xfrm>
          <a:prstGeom prst="roundRect">
            <a:avLst>
              <a:gd name="adj" fmla="val 15000"/>
            </a:avLst>
          </a:prstGeom>
          <a:solidFill>
            <a:srgbClr val="2E7A78"/>
          </a:solidFill>
          <a:ln w="12700">
            <a:solidFill>
              <a:srgbClr val="2E7A78"/>
            </a:solidFill>
            <a:prstDash val="solid"/>
          </a:ln>
        </p:spPr>
      </p:sp>
      <p:sp>
        <p:nvSpPr>
          <p:cNvPr id="15" name="Shape 13"/>
          <p:cNvSpPr/>
          <p:nvPr/>
        </p:nvSpPr>
        <p:spPr>
          <a:xfrm>
            <a:off x="3675888" y="5029200"/>
            <a:ext cx="182880" cy="182880"/>
          </a:xfrm>
          <a:prstGeom prst="roundRect">
            <a:avLst>
              <a:gd name="adj" fmla="val 15000"/>
            </a:avLst>
          </a:prstGeom>
          <a:solidFill>
            <a:srgbClr val="2E7A78"/>
          </a:solidFill>
          <a:ln w="12700">
            <a:solidFill>
              <a:srgbClr val="2E7A78"/>
            </a:solidFill>
            <a:prstDash val="solid"/>
          </a:ln>
        </p:spPr>
      </p:sp>
      <p:sp>
        <p:nvSpPr>
          <p:cNvPr id="16" name="Shape 14"/>
          <p:cNvSpPr/>
          <p:nvPr/>
        </p:nvSpPr>
        <p:spPr>
          <a:xfrm>
            <a:off x="3986784" y="5029200"/>
            <a:ext cx="182880" cy="182880"/>
          </a:xfrm>
          <a:prstGeom prst="roundRect">
            <a:avLst>
              <a:gd name="adj" fmla="val 15000"/>
            </a:avLst>
          </a:prstGeom>
          <a:solidFill>
            <a:srgbClr val="2E7A78"/>
          </a:solidFill>
          <a:ln w="12700">
            <a:solidFill>
              <a:srgbClr val="2E7A78"/>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01</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What a CA practice actually does</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Four stages. Everything in this deck sits inside one of them.</a:t>
            </a:r>
            <a:endParaRPr lang="en-US" sz="1300" dirty="0"/>
          </a:p>
        </p:txBody>
      </p:sp>
      <p:sp>
        <p:nvSpPr>
          <p:cNvPr id="5" name="Shape 3"/>
          <p:cNvSpPr/>
          <p:nvPr/>
        </p:nvSpPr>
        <p:spPr>
          <a:xfrm>
            <a:off x="566928" y="1664208"/>
            <a:ext cx="2679192" cy="3310128"/>
          </a:xfrm>
          <a:prstGeom prst="roundRect">
            <a:avLst>
              <a:gd name="adj" fmla="val 2389"/>
            </a:avLst>
          </a:prstGeom>
          <a:solidFill>
            <a:srgbClr val="EFF4F3"/>
          </a:solidFill>
          <a:ln w="12700">
            <a:solidFill>
              <a:srgbClr val="D5E0DE"/>
            </a:solidFill>
            <a:prstDash val="solid"/>
          </a:ln>
        </p:spPr>
      </p:sp>
      <p:sp>
        <p:nvSpPr>
          <p:cNvPr id="6" name="Text 4"/>
          <p:cNvSpPr/>
          <p:nvPr/>
        </p:nvSpPr>
        <p:spPr>
          <a:xfrm>
            <a:off x="804672" y="1883664"/>
            <a:ext cx="365760" cy="365760"/>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61872" y="1883664"/>
            <a:ext cx="1764792" cy="365760"/>
          </a:xfrm>
          <a:prstGeom prst="rect">
            <a:avLst/>
          </a:prstGeom>
          <a:noFill/>
          <a:ln/>
        </p:spPr>
        <p:txBody>
          <a:bodyPr wrap="square" lIns="0" tIns="0" rIns="0" bIns="0" rtlCol="0" anchor="ctr"/>
          <a:lstStyle/>
          <a:p>
            <a:pPr indent="0" marL="0">
              <a:buNone/>
            </a:pPr>
            <a:r>
              <a:rPr lang="en-US" sz="1450" b="1" dirty="0">
                <a:solidFill>
                  <a:srgbClr val="0F3D3E"/>
                </a:solidFill>
                <a:latin typeface="Cambria" pitchFamily="34" charset="0"/>
                <a:ea typeface="Cambria" pitchFamily="34" charset="-122"/>
                <a:cs typeface="Cambria" pitchFamily="34" charset="-120"/>
              </a:rPr>
              <a:t>Evidence arrives</a:t>
            </a:r>
            <a:endParaRPr lang="en-US" sz="1450" dirty="0"/>
          </a:p>
        </p:txBody>
      </p:sp>
      <p:sp>
        <p:nvSpPr>
          <p:cNvPr id="8" name="Text 6"/>
          <p:cNvSpPr/>
          <p:nvPr/>
        </p:nvSpPr>
        <p:spPr>
          <a:xfrm>
            <a:off x="804672" y="2340864"/>
            <a:ext cx="2203704" cy="566928"/>
          </a:xfrm>
          <a:prstGeom prst="rect">
            <a:avLst/>
          </a:prstGeom>
          <a:noFill/>
          <a:ln/>
        </p:spPr>
        <p:txBody>
          <a:bodyPr wrap="square" lIns="0" tIns="0" rIns="0" bIns="0" rtlCol="0" anchor="t"/>
          <a:lstStyle/>
          <a:p>
            <a:pPr indent="0" marL="0">
              <a:lnSpc>
                <a:spcPts val="1400"/>
              </a:lnSpc>
              <a:buNone/>
            </a:pPr>
            <a:r>
              <a:rPr lang="en-US" sz="1050" i="1" dirty="0">
                <a:solidFill>
                  <a:srgbClr val="5C6B6A"/>
                </a:solidFill>
                <a:latin typeface="Calibri" pitchFamily="34" charset="0"/>
                <a:ea typeface="Calibri" pitchFamily="34" charset="-122"/>
                <a:cs typeface="Calibri" pitchFamily="34" charset="-120"/>
              </a:rPr>
              <a:t>Proof that a transaction happened</a:t>
            </a:r>
            <a:endParaRPr lang="en-US" sz="1050" dirty="0"/>
          </a:p>
        </p:txBody>
      </p:sp>
      <p:sp>
        <p:nvSpPr>
          <p:cNvPr id="9" name="Text 7"/>
          <p:cNvSpPr/>
          <p:nvPr/>
        </p:nvSpPr>
        <p:spPr>
          <a:xfrm>
            <a:off x="804672" y="2999232"/>
            <a:ext cx="2203704" cy="219456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Purchase &amp; sales invoices</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Bank statements</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Expense bills, receipts</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Form 26AS, GST data</a:t>
            </a:r>
            <a:endParaRPr lang="en-US" sz="1050" dirty="0"/>
          </a:p>
        </p:txBody>
      </p:sp>
      <p:sp>
        <p:nvSpPr>
          <p:cNvPr id="10" name="Shape 8"/>
          <p:cNvSpPr/>
          <p:nvPr/>
        </p:nvSpPr>
        <p:spPr>
          <a:xfrm>
            <a:off x="3282696" y="3319272"/>
            <a:ext cx="182880" cy="0"/>
          </a:xfrm>
          <a:prstGeom prst="line">
            <a:avLst/>
          </a:prstGeom>
          <a:noFill/>
          <a:ln w="15875">
            <a:solidFill>
              <a:srgbClr val="9AB0AE"/>
            </a:solidFill>
            <a:prstDash val="solid"/>
            <a:tailEnd type="triangle"/>
          </a:ln>
        </p:spPr>
      </p:sp>
      <p:sp>
        <p:nvSpPr>
          <p:cNvPr id="11" name="Shape 9"/>
          <p:cNvSpPr/>
          <p:nvPr/>
        </p:nvSpPr>
        <p:spPr>
          <a:xfrm>
            <a:off x="3502152" y="1664208"/>
            <a:ext cx="2679192" cy="3310128"/>
          </a:xfrm>
          <a:prstGeom prst="roundRect">
            <a:avLst>
              <a:gd name="adj" fmla="val 2389"/>
            </a:avLst>
          </a:prstGeom>
          <a:solidFill>
            <a:srgbClr val="EFF4F3"/>
          </a:solidFill>
          <a:ln w="12700">
            <a:solidFill>
              <a:srgbClr val="D5E0DE"/>
            </a:solidFill>
            <a:prstDash val="solid"/>
          </a:ln>
        </p:spPr>
      </p:sp>
      <p:sp>
        <p:nvSpPr>
          <p:cNvPr id="12" name="Text 10"/>
          <p:cNvSpPr/>
          <p:nvPr/>
        </p:nvSpPr>
        <p:spPr>
          <a:xfrm>
            <a:off x="3739896" y="1883664"/>
            <a:ext cx="365760" cy="365760"/>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4197096" y="1883664"/>
            <a:ext cx="1764792" cy="365760"/>
          </a:xfrm>
          <a:prstGeom prst="rect">
            <a:avLst/>
          </a:prstGeom>
          <a:noFill/>
          <a:ln/>
        </p:spPr>
        <p:txBody>
          <a:bodyPr wrap="square" lIns="0" tIns="0" rIns="0" bIns="0" rtlCol="0" anchor="ctr"/>
          <a:lstStyle/>
          <a:p>
            <a:pPr indent="0" marL="0">
              <a:buNone/>
            </a:pPr>
            <a:r>
              <a:rPr lang="en-US" sz="1450" b="1" dirty="0">
                <a:solidFill>
                  <a:srgbClr val="0F3D3E"/>
                </a:solidFill>
                <a:latin typeface="Cambria" pitchFamily="34" charset="0"/>
                <a:ea typeface="Cambria" pitchFamily="34" charset="-122"/>
                <a:cs typeface="Cambria" pitchFamily="34" charset="-120"/>
              </a:rPr>
              <a:t>It gets recorded</a:t>
            </a:r>
            <a:endParaRPr lang="en-US" sz="1450" dirty="0"/>
          </a:p>
        </p:txBody>
      </p:sp>
      <p:sp>
        <p:nvSpPr>
          <p:cNvPr id="14" name="Text 12"/>
          <p:cNvSpPr/>
          <p:nvPr/>
        </p:nvSpPr>
        <p:spPr>
          <a:xfrm>
            <a:off x="3739896" y="2340864"/>
            <a:ext cx="2203704" cy="566928"/>
          </a:xfrm>
          <a:prstGeom prst="rect">
            <a:avLst/>
          </a:prstGeom>
          <a:noFill/>
          <a:ln/>
        </p:spPr>
        <p:txBody>
          <a:bodyPr wrap="square" lIns="0" tIns="0" rIns="0" bIns="0" rtlCol="0" anchor="t"/>
          <a:lstStyle/>
          <a:p>
            <a:pPr indent="0" marL="0">
              <a:lnSpc>
                <a:spcPts val="1400"/>
              </a:lnSpc>
              <a:buNone/>
            </a:pPr>
            <a:r>
              <a:rPr lang="en-US" sz="1050" i="1" dirty="0">
                <a:solidFill>
                  <a:srgbClr val="5C6B6A"/>
                </a:solidFill>
                <a:latin typeface="Calibri" pitchFamily="34" charset="0"/>
                <a:ea typeface="Calibri" pitchFamily="34" charset="-122"/>
                <a:cs typeface="Calibri" pitchFamily="34" charset="-120"/>
              </a:rPr>
              <a:t>Evidence becomes an accounting entry</a:t>
            </a:r>
            <a:endParaRPr lang="en-US" sz="1050" dirty="0"/>
          </a:p>
        </p:txBody>
      </p:sp>
      <p:sp>
        <p:nvSpPr>
          <p:cNvPr id="15" name="Text 13"/>
          <p:cNvSpPr/>
          <p:nvPr/>
        </p:nvSpPr>
        <p:spPr>
          <a:xfrm>
            <a:off x="3739896" y="2999232"/>
            <a:ext cx="2203704" cy="219456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Voucher per transaction</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Posted to ledgers</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Collected into registers</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Kept in Tally</a:t>
            </a:r>
            <a:endParaRPr lang="en-US" sz="1050" dirty="0"/>
          </a:p>
        </p:txBody>
      </p:sp>
      <p:sp>
        <p:nvSpPr>
          <p:cNvPr id="16" name="Shape 14"/>
          <p:cNvSpPr/>
          <p:nvPr/>
        </p:nvSpPr>
        <p:spPr>
          <a:xfrm>
            <a:off x="6217920" y="3319272"/>
            <a:ext cx="182880" cy="0"/>
          </a:xfrm>
          <a:prstGeom prst="line">
            <a:avLst/>
          </a:prstGeom>
          <a:noFill/>
          <a:ln w="15875">
            <a:solidFill>
              <a:srgbClr val="9AB0AE"/>
            </a:solidFill>
            <a:prstDash val="solid"/>
            <a:tailEnd type="triangle"/>
          </a:ln>
        </p:spPr>
      </p:sp>
      <p:sp>
        <p:nvSpPr>
          <p:cNvPr id="17" name="Shape 15"/>
          <p:cNvSpPr/>
          <p:nvPr/>
        </p:nvSpPr>
        <p:spPr>
          <a:xfrm>
            <a:off x="6437376" y="1664208"/>
            <a:ext cx="2679192" cy="3310128"/>
          </a:xfrm>
          <a:prstGeom prst="roundRect">
            <a:avLst>
              <a:gd name="adj" fmla="val 2389"/>
            </a:avLst>
          </a:prstGeom>
          <a:solidFill>
            <a:srgbClr val="EFF4F3"/>
          </a:solidFill>
          <a:ln w="12700">
            <a:solidFill>
              <a:srgbClr val="D5E0DE"/>
            </a:solidFill>
            <a:prstDash val="solid"/>
          </a:ln>
        </p:spPr>
      </p:sp>
      <p:sp>
        <p:nvSpPr>
          <p:cNvPr id="18" name="Text 16"/>
          <p:cNvSpPr/>
          <p:nvPr/>
        </p:nvSpPr>
        <p:spPr>
          <a:xfrm>
            <a:off x="6675120" y="1883664"/>
            <a:ext cx="365760" cy="365760"/>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7132320" y="1883664"/>
            <a:ext cx="1764792" cy="365760"/>
          </a:xfrm>
          <a:prstGeom prst="rect">
            <a:avLst/>
          </a:prstGeom>
          <a:noFill/>
          <a:ln/>
        </p:spPr>
        <p:txBody>
          <a:bodyPr wrap="square" lIns="0" tIns="0" rIns="0" bIns="0" rtlCol="0" anchor="ctr"/>
          <a:lstStyle/>
          <a:p>
            <a:pPr indent="0" marL="0">
              <a:buNone/>
            </a:pPr>
            <a:r>
              <a:rPr lang="en-US" sz="1450" b="1" dirty="0">
                <a:solidFill>
                  <a:srgbClr val="0F3D3E"/>
                </a:solidFill>
                <a:latin typeface="Cambria" pitchFamily="34" charset="0"/>
                <a:ea typeface="Cambria" pitchFamily="34" charset="-122"/>
                <a:cs typeface="Cambria" pitchFamily="34" charset="-120"/>
              </a:rPr>
              <a:t>It gets summarized</a:t>
            </a:r>
            <a:endParaRPr lang="en-US" sz="1450" dirty="0"/>
          </a:p>
        </p:txBody>
      </p:sp>
      <p:sp>
        <p:nvSpPr>
          <p:cNvPr id="20" name="Text 18"/>
          <p:cNvSpPr/>
          <p:nvPr/>
        </p:nvSpPr>
        <p:spPr>
          <a:xfrm>
            <a:off x="6675120" y="2340864"/>
            <a:ext cx="2203704" cy="566928"/>
          </a:xfrm>
          <a:prstGeom prst="rect">
            <a:avLst/>
          </a:prstGeom>
          <a:noFill/>
          <a:ln/>
        </p:spPr>
        <p:txBody>
          <a:bodyPr wrap="square" lIns="0" tIns="0" rIns="0" bIns="0" rtlCol="0" anchor="t"/>
          <a:lstStyle/>
          <a:p>
            <a:pPr indent="0" marL="0">
              <a:lnSpc>
                <a:spcPts val="1400"/>
              </a:lnSpc>
              <a:buNone/>
            </a:pPr>
            <a:r>
              <a:rPr lang="en-US" sz="1050" i="1" dirty="0">
                <a:solidFill>
                  <a:srgbClr val="5C6B6A"/>
                </a:solidFill>
                <a:latin typeface="Calibri" pitchFamily="34" charset="0"/>
                <a:ea typeface="Calibri" pitchFamily="34" charset="-122"/>
                <a:cs typeface="Calibri" pitchFamily="34" charset="-120"/>
              </a:rPr>
              <a:t>Entries become statements</a:t>
            </a:r>
            <a:endParaRPr lang="en-US" sz="1050" dirty="0"/>
          </a:p>
        </p:txBody>
      </p:sp>
      <p:sp>
        <p:nvSpPr>
          <p:cNvPr id="21" name="Text 19"/>
          <p:cNvSpPr/>
          <p:nvPr/>
        </p:nvSpPr>
        <p:spPr>
          <a:xfrm>
            <a:off x="6675120" y="2999232"/>
            <a:ext cx="2203704" cy="219456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Trial balance</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Profit &amp; loss account</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Balance sheet</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Cash / fund flow</a:t>
            </a:r>
            <a:endParaRPr lang="en-US" sz="1050" dirty="0"/>
          </a:p>
        </p:txBody>
      </p:sp>
      <p:sp>
        <p:nvSpPr>
          <p:cNvPr id="22" name="Shape 20"/>
          <p:cNvSpPr/>
          <p:nvPr/>
        </p:nvSpPr>
        <p:spPr>
          <a:xfrm>
            <a:off x="9153144" y="3319272"/>
            <a:ext cx="182880" cy="0"/>
          </a:xfrm>
          <a:prstGeom prst="line">
            <a:avLst/>
          </a:prstGeom>
          <a:noFill/>
          <a:ln w="15875">
            <a:solidFill>
              <a:srgbClr val="9AB0AE"/>
            </a:solidFill>
            <a:prstDash val="solid"/>
            <a:tailEnd type="triangle"/>
          </a:ln>
        </p:spPr>
      </p:sp>
      <p:sp>
        <p:nvSpPr>
          <p:cNvPr id="23" name="Shape 21"/>
          <p:cNvSpPr/>
          <p:nvPr/>
        </p:nvSpPr>
        <p:spPr>
          <a:xfrm>
            <a:off x="9372600" y="1664208"/>
            <a:ext cx="2679192" cy="3310128"/>
          </a:xfrm>
          <a:prstGeom prst="roundRect">
            <a:avLst>
              <a:gd name="adj" fmla="val 2389"/>
            </a:avLst>
          </a:prstGeom>
          <a:solidFill>
            <a:srgbClr val="E2ECEA"/>
          </a:solidFill>
          <a:ln w="12700">
            <a:solidFill>
              <a:srgbClr val="E2ECEA"/>
            </a:solidFill>
            <a:prstDash val="solid"/>
          </a:ln>
        </p:spPr>
      </p:sp>
      <p:sp>
        <p:nvSpPr>
          <p:cNvPr id="24" name="Text 22"/>
          <p:cNvSpPr/>
          <p:nvPr/>
        </p:nvSpPr>
        <p:spPr>
          <a:xfrm>
            <a:off x="9610344" y="1883664"/>
            <a:ext cx="365760" cy="365760"/>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0067544" y="1883664"/>
            <a:ext cx="1764792" cy="365760"/>
          </a:xfrm>
          <a:prstGeom prst="rect">
            <a:avLst/>
          </a:prstGeom>
          <a:noFill/>
          <a:ln/>
        </p:spPr>
        <p:txBody>
          <a:bodyPr wrap="square" lIns="0" tIns="0" rIns="0" bIns="0" rtlCol="0" anchor="ctr"/>
          <a:lstStyle/>
          <a:p>
            <a:pPr indent="0" marL="0">
              <a:buNone/>
            </a:pPr>
            <a:r>
              <a:rPr lang="en-US" sz="1450" b="1" dirty="0">
                <a:solidFill>
                  <a:srgbClr val="0F3D3E"/>
                </a:solidFill>
                <a:latin typeface="Cambria" pitchFamily="34" charset="0"/>
                <a:ea typeface="Cambria" pitchFamily="34" charset="-122"/>
                <a:cs typeface="Cambria" pitchFamily="34" charset="-120"/>
              </a:rPr>
              <a:t>It gets reconciled &amp; filed</a:t>
            </a:r>
            <a:endParaRPr lang="en-US" sz="1450" dirty="0"/>
          </a:p>
        </p:txBody>
      </p:sp>
      <p:sp>
        <p:nvSpPr>
          <p:cNvPr id="26" name="Text 24"/>
          <p:cNvSpPr/>
          <p:nvPr/>
        </p:nvSpPr>
        <p:spPr>
          <a:xfrm>
            <a:off x="9610344" y="2340864"/>
            <a:ext cx="2203704" cy="566928"/>
          </a:xfrm>
          <a:prstGeom prst="rect">
            <a:avLst/>
          </a:prstGeom>
          <a:noFill/>
          <a:ln/>
        </p:spPr>
        <p:txBody>
          <a:bodyPr wrap="square" lIns="0" tIns="0" rIns="0" bIns="0" rtlCol="0" anchor="t"/>
          <a:lstStyle/>
          <a:p>
            <a:pPr indent="0" marL="0">
              <a:lnSpc>
                <a:spcPts val="1400"/>
              </a:lnSpc>
              <a:buNone/>
            </a:pPr>
            <a:r>
              <a:rPr lang="en-US" sz="1050" i="1" dirty="0">
                <a:solidFill>
                  <a:srgbClr val="5C6B6A"/>
                </a:solidFill>
                <a:latin typeface="Calibri" pitchFamily="34" charset="0"/>
                <a:ea typeface="Calibri" pitchFamily="34" charset="-122"/>
                <a:cs typeface="Calibri" pitchFamily="34" charset="-120"/>
              </a:rPr>
              <a:t>The books must agree with the outside world</a:t>
            </a:r>
            <a:endParaRPr lang="en-US" sz="1050" dirty="0"/>
          </a:p>
        </p:txBody>
      </p:sp>
      <p:sp>
        <p:nvSpPr>
          <p:cNvPr id="27" name="Text 25"/>
          <p:cNvSpPr/>
          <p:nvPr/>
        </p:nvSpPr>
        <p:spPr>
          <a:xfrm>
            <a:off x="9610344" y="2999232"/>
            <a:ext cx="2203704" cy="2194560"/>
          </a:xfrm>
          <a:prstGeom prst="rect">
            <a:avLst/>
          </a:prstGeom>
          <a:noFill/>
          <a:ln/>
        </p:spPr>
        <p:txBody>
          <a:bodyPr wrap="square" lIns="0" tIns="0" rIns="0" bIns="0" rtlCol="0" anchor="t"/>
          <a:lstStyle/>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GST returns &amp; ITC matching</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TDS returns vs 26AS</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Bank reconciliation</a:t>
            </a:r>
            <a:endParaRPr lang="en-US" sz="1050" dirty="0"/>
          </a:p>
          <a:p>
            <a:pPr marL="342900" indent="-342900">
              <a:lnSpc>
                <a:spcPts val="1400"/>
              </a:lnSpc>
              <a:spcAft>
                <a:spcPts val="600"/>
              </a:spcAft>
              <a:buSzPct val="100000"/>
              <a:buChar char="•"/>
            </a:pPr>
            <a:r>
              <a:rPr lang="en-US" sz="1050" dirty="0">
                <a:solidFill>
                  <a:srgbClr val="0F3D3E"/>
                </a:solidFill>
                <a:latin typeface="Calibri" pitchFamily="34" charset="0"/>
                <a:ea typeface="Calibri" pitchFamily="34" charset="-122"/>
                <a:cs typeface="Calibri" pitchFamily="34" charset="-120"/>
              </a:rPr>
              <a:t>Audit &amp; working papers</a:t>
            </a:r>
            <a:endParaRPr lang="en-US" sz="1050" dirty="0"/>
          </a:p>
        </p:txBody>
      </p:sp>
      <p:sp>
        <p:nvSpPr>
          <p:cNvPr id="28" name="Shape 26"/>
          <p:cNvSpPr/>
          <p:nvPr/>
        </p:nvSpPr>
        <p:spPr>
          <a:xfrm>
            <a:off x="566928" y="5212080"/>
            <a:ext cx="11064240" cy="786384"/>
          </a:xfrm>
          <a:prstGeom prst="roundRect">
            <a:avLst>
              <a:gd name="adj" fmla="val 8140"/>
            </a:avLst>
          </a:prstGeom>
          <a:solidFill>
            <a:srgbClr val="F3E7CE"/>
          </a:solidFill>
          <a:ln w="12700">
            <a:solidFill>
              <a:srgbClr val="F3E7CE"/>
            </a:solidFill>
            <a:prstDash val="solid"/>
          </a:ln>
        </p:spPr>
      </p:sp>
      <p:sp>
        <p:nvSpPr>
          <p:cNvPr id="29" name="Text 27"/>
          <p:cNvSpPr/>
          <p:nvPr/>
        </p:nvSpPr>
        <p:spPr>
          <a:xfrm>
            <a:off x="768096" y="5294376"/>
            <a:ext cx="1066190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WHERE THE HOURS GO</a:t>
            </a:r>
            <a:endParaRPr lang="en-US" sz="900" dirty="0"/>
          </a:p>
        </p:txBody>
      </p:sp>
      <p:sp>
        <p:nvSpPr>
          <p:cNvPr id="30" name="Text 28"/>
          <p:cNvSpPr/>
          <p:nvPr/>
        </p:nvSpPr>
        <p:spPr>
          <a:xfrm>
            <a:off x="768096" y="5504688"/>
            <a:ext cx="10661904" cy="384048"/>
          </a:xfrm>
          <a:prstGeom prst="rect">
            <a:avLst/>
          </a:prstGeom>
          <a:noFill/>
          <a:ln/>
        </p:spPr>
        <p:txBody>
          <a:bodyPr wrap="square" lIns="0" tIns="0" rIns="0" bIns="0" rtlCol="0" anchor="t"/>
          <a:lstStyle/>
          <a:p>
            <a:pPr indent="0" marL="0">
              <a:lnSpc>
                <a:spcPts val="1344"/>
              </a:lnSpc>
              <a:buNone/>
            </a:pPr>
            <a:r>
              <a:rPr lang="en-US" sz="1050" dirty="0">
                <a:solidFill>
                  <a:srgbClr val="0F3D3E"/>
                </a:solidFill>
                <a:latin typeface="Calibri" pitchFamily="34" charset="0"/>
                <a:ea typeface="Calibri" pitchFamily="34" charset="-122"/>
                <a:cs typeface="Calibri" pitchFamily="34" charset="-120"/>
              </a:rPr>
              <a:t>Stages 2 and 4 — recording and reconciling — are almost entirely mechanical, repeat every single month for every single client, and consume the bulk of a practice's labour. Stage 3 is largely automatic once stage 2 is clean. That is the whole thesis behind CAOS.</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02</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Voucher</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The accounting record of one transaction. The atom everything else is built from.</a:t>
            </a:r>
            <a:endParaRPr lang="en-US" sz="1300" dirty="0"/>
          </a:p>
        </p:txBody>
      </p:sp>
      <p:sp>
        <p:nvSpPr>
          <p:cNvPr id="5" name="Text 3"/>
          <p:cNvSpPr/>
          <p:nvPr/>
        </p:nvSpPr>
        <p:spPr>
          <a:xfrm>
            <a:off x="566928" y="1700784"/>
            <a:ext cx="5577840" cy="914400"/>
          </a:xfrm>
          <a:prstGeom prst="rect">
            <a:avLst/>
          </a:prstGeom>
          <a:noFill/>
          <a:ln/>
        </p:spPr>
        <p:txBody>
          <a:bodyPr wrap="square" lIns="0" tIns="0" rIns="0" bIns="0" rtlCol="0" anchor="t"/>
          <a:lstStyle/>
          <a:p>
            <a:pPr indent="0" marL="0">
              <a:lnSpc>
                <a:spcPts val="1600"/>
              </a:lnSpc>
              <a:buNone/>
            </a:pPr>
            <a:r>
              <a:rPr lang="en-US" sz="1150" dirty="0">
                <a:solidFill>
                  <a:srgbClr val="0F3D3E"/>
                </a:solidFill>
                <a:latin typeface="Calibri" pitchFamily="34" charset="0"/>
                <a:ea typeface="Calibri" pitchFamily="34" charset="-122"/>
                <a:cs typeface="Calibri" pitchFamily="34" charset="-120"/>
              </a:rPr>
              <a:t>A voucher answers four questions about a single event: what happened, when, for how much, and which two accounts move. Every voucher is double-entry — the total debited always equals the total credited, so the books can never silently drift.</a:t>
            </a:r>
            <a:endParaRPr lang="en-US" sz="1150" dirty="0"/>
          </a:p>
        </p:txBody>
      </p:sp>
      <p:sp>
        <p:nvSpPr>
          <p:cNvPr id="6" name="Text 4"/>
          <p:cNvSpPr/>
          <p:nvPr/>
        </p:nvSpPr>
        <p:spPr>
          <a:xfrm>
            <a:off x="566928" y="2743200"/>
            <a:ext cx="5577840" cy="219456"/>
          </a:xfrm>
          <a:prstGeom prst="rect">
            <a:avLst/>
          </a:prstGeom>
          <a:noFill/>
          <a:ln/>
        </p:spPr>
        <p:txBody>
          <a:bodyPr wrap="square" lIns="0" tIns="0" rIns="0" bIns="0" rtlCol="0" anchor="ctr"/>
          <a:lstStyle/>
          <a:p>
            <a:pPr indent="0" marL="0">
              <a:buNone/>
            </a:pPr>
            <a:r>
              <a:rPr lang="en-US" sz="900" b="1" spc="140" kern="0" dirty="0">
                <a:solidFill>
                  <a:srgbClr val="C08428"/>
                </a:solidFill>
                <a:latin typeface="Calibri" pitchFamily="34" charset="0"/>
                <a:ea typeface="Calibri" pitchFamily="34" charset="-122"/>
                <a:cs typeface="Calibri" pitchFamily="34" charset="-120"/>
              </a:rPr>
              <a:t>THE COMMON VOUCHER TYPES</a:t>
            </a:r>
            <a:endParaRPr lang="en-US" sz="900" dirty="0"/>
          </a:p>
        </p:txBody>
      </p:sp>
      <p:sp>
        <p:nvSpPr>
          <p:cNvPr id="7" name="Shape 5"/>
          <p:cNvSpPr/>
          <p:nvPr/>
        </p:nvSpPr>
        <p:spPr>
          <a:xfrm>
            <a:off x="566928" y="3017520"/>
            <a:ext cx="1481328" cy="292608"/>
          </a:xfrm>
          <a:prstGeom prst="roundRect">
            <a:avLst>
              <a:gd name="adj" fmla="val 12500"/>
            </a:avLst>
          </a:prstGeom>
          <a:solidFill>
            <a:srgbClr val="E2ECEA"/>
          </a:solidFill>
          <a:ln w="12700">
            <a:solidFill>
              <a:srgbClr val="E2ECEA"/>
            </a:solidFill>
            <a:prstDash val="solid"/>
          </a:ln>
        </p:spPr>
      </p:sp>
      <p:sp>
        <p:nvSpPr>
          <p:cNvPr id="8" name="Text 6"/>
          <p:cNvSpPr/>
          <p:nvPr/>
        </p:nvSpPr>
        <p:spPr>
          <a:xfrm>
            <a:off x="566928" y="3017520"/>
            <a:ext cx="1481328" cy="292608"/>
          </a:xfrm>
          <a:prstGeom prst="rect">
            <a:avLst/>
          </a:prstGeom>
          <a:noFill/>
          <a:ln/>
        </p:spPr>
        <p:txBody>
          <a:bodyPr wrap="square" lIns="0" tIns="0" rIns="0" bIns="0" rtlCol="0" anchor="ctr"/>
          <a:lstStyle/>
          <a:p>
            <a:pPr algn="ctr" indent="0" marL="0">
              <a:buNone/>
            </a:pPr>
            <a:r>
              <a:rPr lang="en-US" sz="950" b="1" dirty="0">
                <a:solidFill>
                  <a:srgbClr val="0F3D3E"/>
                </a:solidFill>
                <a:latin typeface="Calibri" pitchFamily="34" charset="0"/>
                <a:ea typeface="Calibri" pitchFamily="34" charset="-122"/>
                <a:cs typeface="Calibri" pitchFamily="34" charset="-120"/>
              </a:rPr>
              <a:t>Purchase</a:t>
            </a:r>
            <a:endParaRPr lang="en-US" sz="950" dirty="0"/>
          </a:p>
        </p:txBody>
      </p:sp>
      <p:sp>
        <p:nvSpPr>
          <p:cNvPr id="9" name="Text 7"/>
          <p:cNvSpPr/>
          <p:nvPr/>
        </p:nvSpPr>
        <p:spPr>
          <a:xfrm>
            <a:off x="2194560" y="3017520"/>
            <a:ext cx="3931920" cy="292608"/>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goods or services bought</a:t>
            </a:r>
            <a:endParaRPr lang="en-US" sz="1000" dirty="0"/>
          </a:p>
        </p:txBody>
      </p:sp>
      <p:sp>
        <p:nvSpPr>
          <p:cNvPr id="10" name="Shape 8"/>
          <p:cNvSpPr/>
          <p:nvPr/>
        </p:nvSpPr>
        <p:spPr>
          <a:xfrm>
            <a:off x="566928" y="3383280"/>
            <a:ext cx="1481328" cy="292608"/>
          </a:xfrm>
          <a:prstGeom prst="roundRect">
            <a:avLst>
              <a:gd name="adj" fmla="val 12500"/>
            </a:avLst>
          </a:prstGeom>
          <a:solidFill>
            <a:srgbClr val="E2ECEA"/>
          </a:solidFill>
          <a:ln w="12700">
            <a:solidFill>
              <a:srgbClr val="E2ECEA"/>
            </a:solidFill>
            <a:prstDash val="solid"/>
          </a:ln>
        </p:spPr>
      </p:sp>
      <p:sp>
        <p:nvSpPr>
          <p:cNvPr id="11" name="Text 9"/>
          <p:cNvSpPr/>
          <p:nvPr/>
        </p:nvSpPr>
        <p:spPr>
          <a:xfrm>
            <a:off x="566928" y="3383280"/>
            <a:ext cx="1481328" cy="292608"/>
          </a:xfrm>
          <a:prstGeom prst="rect">
            <a:avLst/>
          </a:prstGeom>
          <a:noFill/>
          <a:ln/>
        </p:spPr>
        <p:txBody>
          <a:bodyPr wrap="square" lIns="0" tIns="0" rIns="0" bIns="0" rtlCol="0" anchor="ctr"/>
          <a:lstStyle/>
          <a:p>
            <a:pPr algn="ctr" indent="0" marL="0">
              <a:buNone/>
            </a:pPr>
            <a:r>
              <a:rPr lang="en-US" sz="950" b="1" dirty="0">
                <a:solidFill>
                  <a:srgbClr val="0F3D3E"/>
                </a:solidFill>
                <a:latin typeface="Calibri" pitchFamily="34" charset="0"/>
                <a:ea typeface="Calibri" pitchFamily="34" charset="-122"/>
                <a:cs typeface="Calibri" pitchFamily="34" charset="-120"/>
              </a:rPr>
              <a:t>Sales</a:t>
            </a:r>
            <a:endParaRPr lang="en-US" sz="950" dirty="0"/>
          </a:p>
        </p:txBody>
      </p:sp>
      <p:sp>
        <p:nvSpPr>
          <p:cNvPr id="12" name="Text 10"/>
          <p:cNvSpPr/>
          <p:nvPr/>
        </p:nvSpPr>
        <p:spPr>
          <a:xfrm>
            <a:off x="2194560" y="3383280"/>
            <a:ext cx="3931920" cy="292608"/>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goods or services sold</a:t>
            </a:r>
            <a:endParaRPr lang="en-US" sz="1000" dirty="0"/>
          </a:p>
        </p:txBody>
      </p:sp>
      <p:sp>
        <p:nvSpPr>
          <p:cNvPr id="13" name="Shape 11"/>
          <p:cNvSpPr/>
          <p:nvPr/>
        </p:nvSpPr>
        <p:spPr>
          <a:xfrm>
            <a:off x="566928" y="3749040"/>
            <a:ext cx="1481328" cy="292608"/>
          </a:xfrm>
          <a:prstGeom prst="roundRect">
            <a:avLst>
              <a:gd name="adj" fmla="val 12500"/>
            </a:avLst>
          </a:prstGeom>
          <a:solidFill>
            <a:srgbClr val="E2ECEA"/>
          </a:solidFill>
          <a:ln w="12700">
            <a:solidFill>
              <a:srgbClr val="E2ECEA"/>
            </a:solidFill>
            <a:prstDash val="solid"/>
          </a:ln>
        </p:spPr>
      </p:sp>
      <p:sp>
        <p:nvSpPr>
          <p:cNvPr id="14" name="Text 12"/>
          <p:cNvSpPr/>
          <p:nvPr/>
        </p:nvSpPr>
        <p:spPr>
          <a:xfrm>
            <a:off x="566928" y="3749040"/>
            <a:ext cx="1481328" cy="292608"/>
          </a:xfrm>
          <a:prstGeom prst="rect">
            <a:avLst/>
          </a:prstGeom>
          <a:noFill/>
          <a:ln/>
        </p:spPr>
        <p:txBody>
          <a:bodyPr wrap="square" lIns="0" tIns="0" rIns="0" bIns="0" rtlCol="0" anchor="ctr"/>
          <a:lstStyle/>
          <a:p>
            <a:pPr algn="ctr" indent="0" marL="0">
              <a:buNone/>
            </a:pPr>
            <a:r>
              <a:rPr lang="en-US" sz="950" b="1" dirty="0">
                <a:solidFill>
                  <a:srgbClr val="0F3D3E"/>
                </a:solidFill>
                <a:latin typeface="Calibri" pitchFamily="34" charset="0"/>
                <a:ea typeface="Calibri" pitchFamily="34" charset="-122"/>
                <a:cs typeface="Calibri" pitchFamily="34" charset="-120"/>
              </a:rPr>
              <a:t>Payment</a:t>
            </a:r>
            <a:endParaRPr lang="en-US" sz="950" dirty="0"/>
          </a:p>
        </p:txBody>
      </p:sp>
      <p:sp>
        <p:nvSpPr>
          <p:cNvPr id="15" name="Text 13"/>
          <p:cNvSpPr/>
          <p:nvPr/>
        </p:nvSpPr>
        <p:spPr>
          <a:xfrm>
            <a:off x="2194560" y="3749040"/>
            <a:ext cx="3931920" cy="292608"/>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money going out</a:t>
            </a:r>
            <a:endParaRPr lang="en-US" sz="1000" dirty="0"/>
          </a:p>
        </p:txBody>
      </p:sp>
      <p:sp>
        <p:nvSpPr>
          <p:cNvPr id="16" name="Shape 14"/>
          <p:cNvSpPr/>
          <p:nvPr/>
        </p:nvSpPr>
        <p:spPr>
          <a:xfrm>
            <a:off x="566928" y="4114800"/>
            <a:ext cx="1481328" cy="292608"/>
          </a:xfrm>
          <a:prstGeom prst="roundRect">
            <a:avLst>
              <a:gd name="adj" fmla="val 12500"/>
            </a:avLst>
          </a:prstGeom>
          <a:solidFill>
            <a:srgbClr val="E2ECEA"/>
          </a:solidFill>
          <a:ln w="12700">
            <a:solidFill>
              <a:srgbClr val="E2ECEA"/>
            </a:solidFill>
            <a:prstDash val="solid"/>
          </a:ln>
        </p:spPr>
      </p:sp>
      <p:sp>
        <p:nvSpPr>
          <p:cNvPr id="17" name="Text 15"/>
          <p:cNvSpPr/>
          <p:nvPr/>
        </p:nvSpPr>
        <p:spPr>
          <a:xfrm>
            <a:off x="566928" y="4114800"/>
            <a:ext cx="1481328" cy="292608"/>
          </a:xfrm>
          <a:prstGeom prst="rect">
            <a:avLst/>
          </a:prstGeom>
          <a:noFill/>
          <a:ln/>
        </p:spPr>
        <p:txBody>
          <a:bodyPr wrap="square" lIns="0" tIns="0" rIns="0" bIns="0" rtlCol="0" anchor="ctr"/>
          <a:lstStyle/>
          <a:p>
            <a:pPr algn="ctr" indent="0" marL="0">
              <a:buNone/>
            </a:pPr>
            <a:r>
              <a:rPr lang="en-US" sz="950" b="1" dirty="0">
                <a:solidFill>
                  <a:srgbClr val="0F3D3E"/>
                </a:solidFill>
                <a:latin typeface="Calibri" pitchFamily="34" charset="0"/>
                <a:ea typeface="Calibri" pitchFamily="34" charset="-122"/>
                <a:cs typeface="Calibri" pitchFamily="34" charset="-120"/>
              </a:rPr>
              <a:t>Receipt</a:t>
            </a:r>
            <a:endParaRPr lang="en-US" sz="950" dirty="0"/>
          </a:p>
        </p:txBody>
      </p:sp>
      <p:sp>
        <p:nvSpPr>
          <p:cNvPr id="18" name="Text 16"/>
          <p:cNvSpPr/>
          <p:nvPr/>
        </p:nvSpPr>
        <p:spPr>
          <a:xfrm>
            <a:off x="2194560" y="4114800"/>
            <a:ext cx="3931920" cy="292608"/>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money coming in</a:t>
            </a:r>
            <a:endParaRPr lang="en-US" sz="1000" dirty="0"/>
          </a:p>
        </p:txBody>
      </p:sp>
      <p:sp>
        <p:nvSpPr>
          <p:cNvPr id="19" name="Shape 17"/>
          <p:cNvSpPr/>
          <p:nvPr/>
        </p:nvSpPr>
        <p:spPr>
          <a:xfrm>
            <a:off x="566928" y="4480560"/>
            <a:ext cx="1481328" cy="292608"/>
          </a:xfrm>
          <a:prstGeom prst="roundRect">
            <a:avLst>
              <a:gd name="adj" fmla="val 12500"/>
            </a:avLst>
          </a:prstGeom>
          <a:solidFill>
            <a:srgbClr val="E2ECEA"/>
          </a:solidFill>
          <a:ln w="12700">
            <a:solidFill>
              <a:srgbClr val="E2ECEA"/>
            </a:solidFill>
            <a:prstDash val="solid"/>
          </a:ln>
        </p:spPr>
      </p:sp>
      <p:sp>
        <p:nvSpPr>
          <p:cNvPr id="20" name="Text 18"/>
          <p:cNvSpPr/>
          <p:nvPr/>
        </p:nvSpPr>
        <p:spPr>
          <a:xfrm>
            <a:off x="566928" y="4480560"/>
            <a:ext cx="1481328" cy="292608"/>
          </a:xfrm>
          <a:prstGeom prst="rect">
            <a:avLst/>
          </a:prstGeom>
          <a:noFill/>
          <a:ln/>
        </p:spPr>
        <p:txBody>
          <a:bodyPr wrap="square" lIns="0" tIns="0" rIns="0" bIns="0" rtlCol="0" anchor="ctr"/>
          <a:lstStyle/>
          <a:p>
            <a:pPr algn="ctr" indent="0" marL="0">
              <a:buNone/>
            </a:pPr>
            <a:r>
              <a:rPr lang="en-US" sz="950" b="1" dirty="0">
                <a:solidFill>
                  <a:srgbClr val="0F3D3E"/>
                </a:solidFill>
                <a:latin typeface="Calibri" pitchFamily="34" charset="0"/>
                <a:ea typeface="Calibri" pitchFamily="34" charset="-122"/>
                <a:cs typeface="Calibri" pitchFamily="34" charset="-120"/>
              </a:rPr>
              <a:t>Contra</a:t>
            </a:r>
            <a:endParaRPr lang="en-US" sz="950" dirty="0"/>
          </a:p>
        </p:txBody>
      </p:sp>
      <p:sp>
        <p:nvSpPr>
          <p:cNvPr id="21" name="Text 19"/>
          <p:cNvSpPr/>
          <p:nvPr/>
        </p:nvSpPr>
        <p:spPr>
          <a:xfrm>
            <a:off x="2194560" y="4480560"/>
            <a:ext cx="3931920" cy="292608"/>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cash ↔ bank transfers</a:t>
            </a:r>
            <a:endParaRPr lang="en-US" sz="1000" dirty="0"/>
          </a:p>
        </p:txBody>
      </p:sp>
      <p:sp>
        <p:nvSpPr>
          <p:cNvPr id="22" name="Shape 20"/>
          <p:cNvSpPr/>
          <p:nvPr/>
        </p:nvSpPr>
        <p:spPr>
          <a:xfrm>
            <a:off x="566928" y="4846320"/>
            <a:ext cx="1481328" cy="292608"/>
          </a:xfrm>
          <a:prstGeom prst="roundRect">
            <a:avLst>
              <a:gd name="adj" fmla="val 12500"/>
            </a:avLst>
          </a:prstGeom>
          <a:solidFill>
            <a:srgbClr val="E2ECEA"/>
          </a:solidFill>
          <a:ln w="12700">
            <a:solidFill>
              <a:srgbClr val="E2ECEA"/>
            </a:solidFill>
            <a:prstDash val="solid"/>
          </a:ln>
        </p:spPr>
      </p:sp>
      <p:sp>
        <p:nvSpPr>
          <p:cNvPr id="23" name="Text 21"/>
          <p:cNvSpPr/>
          <p:nvPr/>
        </p:nvSpPr>
        <p:spPr>
          <a:xfrm>
            <a:off x="566928" y="4846320"/>
            <a:ext cx="1481328" cy="292608"/>
          </a:xfrm>
          <a:prstGeom prst="rect">
            <a:avLst/>
          </a:prstGeom>
          <a:noFill/>
          <a:ln/>
        </p:spPr>
        <p:txBody>
          <a:bodyPr wrap="square" lIns="0" tIns="0" rIns="0" bIns="0" rtlCol="0" anchor="ctr"/>
          <a:lstStyle/>
          <a:p>
            <a:pPr algn="ctr" indent="0" marL="0">
              <a:buNone/>
            </a:pPr>
            <a:r>
              <a:rPr lang="en-US" sz="950" b="1" dirty="0">
                <a:solidFill>
                  <a:srgbClr val="0F3D3E"/>
                </a:solidFill>
                <a:latin typeface="Calibri" pitchFamily="34" charset="0"/>
                <a:ea typeface="Calibri" pitchFamily="34" charset="-122"/>
                <a:cs typeface="Calibri" pitchFamily="34" charset="-120"/>
              </a:rPr>
              <a:t>Journal</a:t>
            </a:r>
            <a:endParaRPr lang="en-US" sz="950" dirty="0"/>
          </a:p>
        </p:txBody>
      </p:sp>
      <p:sp>
        <p:nvSpPr>
          <p:cNvPr id="24" name="Text 22"/>
          <p:cNvSpPr/>
          <p:nvPr/>
        </p:nvSpPr>
        <p:spPr>
          <a:xfrm>
            <a:off x="2194560" y="4846320"/>
            <a:ext cx="3931920" cy="292608"/>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adjustments, depreciation, provisions</a:t>
            </a:r>
            <a:endParaRPr lang="en-US" sz="1000" dirty="0"/>
          </a:p>
        </p:txBody>
      </p:sp>
      <p:sp>
        <p:nvSpPr>
          <p:cNvPr id="25" name="Shape 23"/>
          <p:cNvSpPr/>
          <p:nvPr/>
        </p:nvSpPr>
        <p:spPr>
          <a:xfrm>
            <a:off x="566928" y="5212080"/>
            <a:ext cx="1481328" cy="292608"/>
          </a:xfrm>
          <a:prstGeom prst="roundRect">
            <a:avLst>
              <a:gd name="adj" fmla="val 12500"/>
            </a:avLst>
          </a:prstGeom>
          <a:solidFill>
            <a:srgbClr val="E2ECEA"/>
          </a:solidFill>
          <a:ln w="12700">
            <a:solidFill>
              <a:srgbClr val="E2ECEA"/>
            </a:solidFill>
            <a:prstDash val="solid"/>
          </a:ln>
        </p:spPr>
      </p:sp>
      <p:sp>
        <p:nvSpPr>
          <p:cNvPr id="26" name="Text 24"/>
          <p:cNvSpPr/>
          <p:nvPr/>
        </p:nvSpPr>
        <p:spPr>
          <a:xfrm>
            <a:off x="566928" y="5212080"/>
            <a:ext cx="1481328" cy="292608"/>
          </a:xfrm>
          <a:prstGeom prst="rect">
            <a:avLst/>
          </a:prstGeom>
          <a:noFill/>
          <a:ln/>
        </p:spPr>
        <p:txBody>
          <a:bodyPr wrap="square" lIns="0" tIns="0" rIns="0" bIns="0" rtlCol="0" anchor="ctr"/>
          <a:lstStyle/>
          <a:p>
            <a:pPr algn="ctr" indent="0" marL="0">
              <a:buNone/>
            </a:pPr>
            <a:r>
              <a:rPr lang="en-US" sz="950" b="1" dirty="0">
                <a:solidFill>
                  <a:srgbClr val="0F3D3E"/>
                </a:solidFill>
                <a:latin typeface="Calibri" pitchFamily="34" charset="0"/>
                <a:ea typeface="Calibri" pitchFamily="34" charset="-122"/>
                <a:cs typeface="Calibri" pitchFamily="34" charset="-120"/>
              </a:rPr>
              <a:t>Debit / Credit note</a:t>
            </a:r>
            <a:endParaRPr lang="en-US" sz="950" dirty="0"/>
          </a:p>
        </p:txBody>
      </p:sp>
      <p:sp>
        <p:nvSpPr>
          <p:cNvPr id="27" name="Text 25"/>
          <p:cNvSpPr/>
          <p:nvPr/>
        </p:nvSpPr>
        <p:spPr>
          <a:xfrm>
            <a:off x="2194560" y="5212080"/>
            <a:ext cx="3931920" cy="292608"/>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returns, rate corrections</a:t>
            </a:r>
            <a:endParaRPr lang="en-US" sz="1000" dirty="0"/>
          </a:p>
        </p:txBody>
      </p:sp>
      <p:sp>
        <p:nvSpPr>
          <p:cNvPr id="28" name="Shape 26"/>
          <p:cNvSpPr/>
          <p:nvPr/>
        </p:nvSpPr>
        <p:spPr>
          <a:xfrm>
            <a:off x="6583680" y="1664208"/>
            <a:ext cx="5029200" cy="1572768"/>
          </a:xfrm>
          <a:prstGeom prst="roundRect">
            <a:avLst>
              <a:gd name="adj" fmla="val 4070"/>
            </a:avLst>
          </a:prstGeom>
          <a:solidFill>
            <a:srgbClr val="FFFFFF"/>
          </a:solidFill>
          <a:ln w="12700">
            <a:solidFill>
              <a:srgbClr val="D5E0DE"/>
            </a:solidFill>
            <a:prstDash val="solid"/>
          </a:ln>
        </p:spPr>
      </p:sp>
      <p:sp>
        <p:nvSpPr>
          <p:cNvPr id="29" name="Text 27"/>
          <p:cNvSpPr/>
          <p:nvPr/>
        </p:nvSpPr>
        <p:spPr>
          <a:xfrm>
            <a:off x="6839712" y="1792224"/>
            <a:ext cx="2743200" cy="219456"/>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TAX INVOICE</a:t>
            </a:r>
            <a:endParaRPr lang="en-US" sz="900" dirty="0"/>
          </a:p>
        </p:txBody>
      </p:sp>
      <p:sp>
        <p:nvSpPr>
          <p:cNvPr id="30" name="Text 28"/>
          <p:cNvSpPr/>
          <p:nvPr/>
        </p:nvSpPr>
        <p:spPr>
          <a:xfrm>
            <a:off x="9235440" y="1792224"/>
            <a:ext cx="2103120" cy="219456"/>
          </a:xfrm>
          <a:prstGeom prst="rect">
            <a:avLst/>
          </a:prstGeom>
          <a:noFill/>
          <a:ln/>
        </p:spPr>
        <p:txBody>
          <a:bodyPr wrap="square" lIns="0" tIns="0" rIns="0" bIns="0" rtlCol="0" anchor="ctr"/>
          <a:lstStyle/>
          <a:p>
            <a:pPr algn="r" indent="0" marL="0">
              <a:buNone/>
            </a:pPr>
            <a:r>
              <a:rPr lang="en-US" sz="900" dirty="0">
                <a:solidFill>
                  <a:srgbClr val="5C6B6A"/>
                </a:solidFill>
                <a:latin typeface="Calibri" pitchFamily="34" charset="0"/>
                <a:ea typeface="Calibri" pitchFamily="34" charset="-122"/>
                <a:cs typeface="Calibri" pitchFamily="34" charset="-120"/>
              </a:rPr>
              <a:t>INV-4417  ·  12 Jul 2026</a:t>
            </a:r>
            <a:endParaRPr lang="en-US" sz="900" dirty="0"/>
          </a:p>
        </p:txBody>
      </p:sp>
      <p:sp>
        <p:nvSpPr>
          <p:cNvPr id="31" name="Text 29"/>
          <p:cNvSpPr/>
          <p:nvPr/>
        </p:nvSpPr>
        <p:spPr>
          <a:xfrm>
            <a:off x="6839712" y="2048256"/>
            <a:ext cx="4517136" cy="256032"/>
          </a:xfrm>
          <a:prstGeom prst="rect">
            <a:avLst/>
          </a:prstGeom>
          <a:noFill/>
          <a:ln/>
        </p:spPr>
        <p:txBody>
          <a:bodyPr wrap="square" lIns="0" tIns="0" rIns="0" bIns="0" rtlCol="0" anchor="ctr"/>
          <a:lstStyle/>
          <a:p>
            <a:pPr indent="0" marL="0">
              <a:buNone/>
            </a:pPr>
            <a:r>
              <a:rPr lang="en-US" sz="1250" b="1" dirty="0">
                <a:solidFill>
                  <a:srgbClr val="0F3D3E"/>
                </a:solidFill>
                <a:latin typeface="Calibri" pitchFamily="34" charset="0"/>
                <a:ea typeface="Calibri" pitchFamily="34" charset="-122"/>
                <a:cs typeface="Calibri" pitchFamily="34" charset="-120"/>
              </a:rPr>
              <a:t>Coastal Components Pvt Ltd</a:t>
            </a:r>
            <a:endParaRPr lang="en-US" sz="1250" dirty="0"/>
          </a:p>
        </p:txBody>
      </p:sp>
      <p:sp>
        <p:nvSpPr>
          <p:cNvPr id="32" name="Text 30"/>
          <p:cNvSpPr/>
          <p:nvPr/>
        </p:nvSpPr>
        <p:spPr>
          <a:xfrm>
            <a:off x="6839712" y="2286000"/>
            <a:ext cx="4517136" cy="201168"/>
          </a:xfrm>
          <a:prstGeom prst="rect">
            <a:avLst/>
          </a:prstGeom>
          <a:noFill/>
          <a:ln/>
        </p:spPr>
        <p:txBody>
          <a:bodyPr wrap="square" lIns="0" tIns="0" rIns="0" bIns="0" rtlCol="0" anchor="ctr"/>
          <a:lstStyle/>
          <a:p>
            <a:pPr indent="0" marL="0">
              <a:buNone/>
            </a:pPr>
            <a:r>
              <a:rPr lang="en-US" sz="900" dirty="0">
                <a:solidFill>
                  <a:srgbClr val="5C6B6A"/>
                </a:solidFill>
                <a:latin typeface="Calibri" pitchFamily="34" charset="0"/>
                <a:ea typeface="Calibri" pitchFamily="34" charset="-122"/>
                <a:cs typeface="Calibri" pitchFamily="34" charset="-120"/>
              </a:rPr>
              <a:t>GSTIN 33AABCC1234D1Z5</a:t>
            </a:r>
            <a:endParaRPr lang="en-US" sz="900" dirty="0"/>
          </a:p>
        </p:txBody>
      </p:sp>
      <p:sp>
        <p:nvSpPr>
          <p:cNvPr id="33" name="Text 31"/>
          <p:cNvSpPr/>
          <p:nvPr/>
        </p:nvSpPr>
        <p:spPr>
          <a:xfrm>
            <a:off x="6839712" y="2615184"/>
            <a:ext cx="4517136" cy="457200"/>
          </a:xfrm>
          <a:prstGeom prst="rect">
            <a:avLst/>
          </a:prstGeom>
          <a:noFill/>
          <a:ln/>
        </p:spPr>
        <p:txBody>
          <a:bodyPr wrap="square" lIns="0" tIns="0" rIns="0" bIns="0" rtlCol="0" anchor="ctr"/>
          <a:lstStyle/>
          <a:p>
            <a:pPr indent="0" marL="0">
              <a:buNone/>
            </a:pPr>
            <a:r>
              <a:rPr lang="en-US" sz="1050" dirty="0">
                <a:solidFill>
                  <a:srgbClr val="5C6B6A"/>
                </a:solidFill>
                <a:latin typeface="Calibri" pitchFamily="34" charset="0"/>
                <a:ea typeface="Calibri" pitchFamily="34" charset="-122"/>
                <a:cs typeface="Calibri" pitchFamily="34" charset="-120"/>
              </a:rPr>
              <a:t>Taxable value  ₹1,00,000</a:t>
            </a:r>
            <a:pPr indent="0" marL="0">
              <a:buNone/>
            </a:pPr>
            <a:r>
              <a:rPr lang="en-US" sz="1050" dirty="0">
                <a:solidFill>
                  <a:srgbClr val="5C6B6A"/>
                </a:solidFill>
                <a:latin typeface="Calibri" pitchFamily="34" charset="0"/>
                <a:ea typeface="Calibri" pitchFamily="34" charset="-122"/>
                <a:cs typeface="Calibri" pitchFamily="34" charset="-120"/>
              </a:rPr>
              <a:t>     IGST 18%  ₹18,000</a:t>
            </a:r>
            <a:pPr indent="0" marL="0">
              <a:buNone/>
            </a:pPr>
            <a:r>
              <a:rPr lang="en-US" sz="1050" b="1" dirty="0">
                <a:solidFill>
                  <a:srgbClr val="0F3D3E"/>
                </a:solidFill>
                <a:latin typeface="Calibri" pitchFamily="34" charset="0"/>
                <a:ea typeface="Calibri" pitchFamily="34" charset="-122"/>
                <a:cs typeface="Calibri" pitchFamily="34" charset="-120"/>
              </a:rPr>
              <a:t>     Invoice total  ₹1,18,000</a:t>
            </a:r>
            <a:endParaRPr lang="en-US" sz="1050" dirty="0"/>
          </a:p>
        </p:txBody>
      </p:sp>
      <p:sp>
        <p:nvSpPr>
          <p:cNvPr id="34" name="Shape 32"/>
          <p:cNvSpPr/>
          <p:nvPr/>
        </p:nvSpPr>
        <p:spPr>
          <a:xfrm>
            <a:off x="9098280" y="3291840"/>
            <a:ext cx="0" cy="384048"/>
          </a:xfrm>
          <a:prstGeom prst="line">
            <a:avLst/>
          </a:prstGeom>
          <a:noFill/>
          <a:ln w="15875">
            <a:solidFill>
              <a:srgbClr val="9AB0AE"/>
            </a:solidFill>
            <a:prstDash val="solid"/>
            <a:tailEnd type="triangle"/>
          </a:ln>
        </p:spPr>
      </p:sp>
      <p:sp>
        <p:nvSpPr>
          <p:cNvPr id="35" name="Text 33"/>
          <p:cNvSpPr/>
          <p:nvPr/>
        </p:nvSpPr>
        <p:spPr>
          <a:xfrm>
            <a:off x="9208008" y="3310128"/>
            <a:ext cx="1280160" cy="274320"/>
          </a:xfrm>
          <a:prstGeom prst="rect">
            <a:avLst/>
          </a:prstGeom>
          <a:noFill/>
          <a:ln/>
        </p:spPr>
        <p:txBody>
          <a:bodyPr wrap="square" lIns="0" tIns="0" rIns="0" bIns="0" rtlCol="0" anchor="ctr"/>
          <a:lstStyle/>
          <a:p>
            <a:pPr indent="0" marL="0">
              <a:buNone/>
            </a:pPr>
            <a:r>
              <a:rPr lang="en-US" sz="900" i="1" dirty="0">
                <a:solidFill>
                  <a:srgbClr val="5C6B6A"/>
                </a:solidFill>
                <a:latin typeface="Calibri" pitchFamily="34" charset="0"/>
                <a:ea typeface="Calibri" pitchFamily="34" charset="-122"/>
                <a:cs typeface="Calibri" pitchFamily="34" charset="-120"/>
              </a:rPr>
              <a:t>recorded as</a:t>
            </a:r>
            <a:endParaRPr lang="en-US" sz="900" dirty="0"/>
          </a:p>
        </p:txBody>
      </p:sp>
      <p:sp>
        <p:nvSpPr>
          <p:cNvPr id="36" name="Shape 34"/>
          <p:cNvSpPr/>
          <p:nvPr/>
        </p:nvSpPr>
        <p:spPr>
          <a:xfrm>
            <a:off x="6583680" y="3730752"/>
            <a:ext cx="5029200" cy="2157984"/>
          </a:xfrm>
          <a:prstGeom prst="roundRect">
            <a:avLst>
              <a:gd name="adj" fmla="val 2966"/>
            </a:avLst>
          </a:prstGeom>
          <a:solidFill>
            <a:srgbClr val="EFF4F3"/>
          </a:solidFill>
          <a:ln w="12700">
            <a:solidFill>
              <a:srgbClr val="D5E0DE"/>
            </a:solidFill>
            <a:prstDash val="solid"/>
          </a:ln>
        </p:spPr>
      </p:sp>
      <p:sp>
        <p:nvSpPr>
          <p:cNvPr id="37" name="Text 35"/>
          <p:cNvSpPr/>
          <p:nvPr/>
        </p:nvSpPr>
        <p:spPr>
          <a:xfrm>
            <a:off x="6839712" y="3840480"/>
            <a:ext cx="3108960" cy="237744"/>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PURCHASE VOUCHER</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839712" y="4114800"/>
          <a:ext cx="4517136" cy="914400"/>
        </p:xfrm>
        <a:graphic>
          <a:graphicData uri="http://schemas.openxmlformats.org/drawingml/2006/table">
            <a:tbl>
              <a:tblPr/>
              <a:tblGrid>
                <a:gridCol w="2432304"/>
                <a:gridCol w="1042416"/>
                <a:gridCol w="1042416"/>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Particulars</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Debit</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Credit</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r>
              <a:tr h="274320">
                <a:tc>
                  <a:txBody>
                    <a:bodyPr/>
                    <a:lstStyle/>
                    <a:p>
                      <a:pPr indent="0" marL="0">
                        <a:buNone/>
                      </a:pPr>
                      <a:r>
                        <a:rPr lang="en-US" sz="950" dirty="0">
                          <a:solidFill>
                            <a:srgbClr val="0F3D3E"/>
                          </a:solidFill>
                          <a:latin typeface="Calibri" pitchFamily="34" charset="0"/>
                          <a:ea typeface="Calibri" pitchFamily="34" charset="-122"/>
                          <a:cs typeface="Calibri" pitchFamily="34" charset="-120"/>
                        </a:rPr>
                        <a:t>Purchases — Components</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50" dirty="0">
                          <a:solidFill>
                            <a:srgbClr val="0F3D3E"/>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50" dirty="0">
                          <a:solidFill>
                            <a:srgbClr val="0F3D3E"/>
                          </a:solidFill>
                          <a:latin typeface="Calibri" pitchFamily="34" charset="0"/>
                          <a:ea typeface="Calibri" pitchFamily="34" charset="-122"/>
                          <a:cs typeface="Calibri" pitchFamily="34" charset="-120"/>
                        </a:rPr>
                        <a:t>Input IGST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50" dirty="0">
                          <a:solidFill>
                            <a:srgbClr val="0F3D3E"/>
                          </a:solidFill>
                          <a:latin typeface="Calibri" pitchFamily="34" charset="0"/>
                          <a:ea typeface="Calibri" pitchFamily="34" charset="-122"/>
                          <a:cs typeface="Calibri" pitchFamily="34" charset="-120"/>
                        </a:rPr>
                        <a:t>18,000</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50" dirty="0">
                          <a:solidFill>
                            <a:srgbClr val="0F3D3E"/>
                          </a:solidFill>
                          <a:latin typeface="Calibri" pitchFamily="34" charset="0"/>
                          <a:ea typeface="Calibri" pitchFamily="34" charset="-122"/>
                          <a:cs typeface="Calibri" pitchFamily="34" charset="-120"/>
                        </a:rPr>
                        <a:t>Coastal Components Pvt Ltd</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50" dirty="0">
                          <a:solidFill>
                            <a:srgbClr val="0F3D3E"/>
                          </a:solidFill>
                          <a:latin typeface="Calibri" pitchFamily="34" charset="0"/>
                          <a:ea typeface="Calibri" pitchFamily="34" charset="-122"/>
                          <a:cs typeface="Calibri" pitchFamily="34" charset="-120"/>
                        </a:rPr>
                        <a:t>1,18,000</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Balanced</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2ECEA"/>
                    </a:solidFill>
                  </a:tcPr>
                </a:tc>
                <a:tc>
                  <a:txBody>
                    <a:bodyPr/>
                    <a:lstStyle/>
                    <a:p>
                      <a:pPr algn="r" indent="0" marL="0">
                        <a:buNone/>
                      </a:pPr>
                      <a:r>
                        <a:rPr lang="en-US" sz="950" b="1" dirty="0">
                          <a:solidFill>
                            <a:srgbClr val="0F3D3E"/>
                          </a:solidFill>
                          <a:latin typeface="Calibri" pitchFamily="34" charset="0"/>
                          <a:ea typeface="Calibri" pitchFamily="34" charset="-122"/>
                          <a:cs typeface="Calibri" pitchFamily="34" charset="-120"/>
                        </a:rPr>
                        <a:t>1,18,000</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2ECEA"/>
                    </a:solidFill>
                  </a:tcPr>
                </a:tc>
                <a:tc>
                  <a:txBody>
                    <a:bodyPr/>
                    <a:lstStyle/>
                    <a:p>
                      <a:pPr algn="r" indent="0" marL="0">
                        <a:buNone/>
                      </a:pPr>
                      <a:r>
                        <a:rPr lang="en-US" sz="950" b="1" dirty="0">
                          <a:solidFill>
                            <a:srgbClr val="0F3D3E"/>
                          </a:solidFill>
                          <a:latin typeface="Calibri" pitchFamily="34" charset="0"/>
                          <a:ea typeface="Calibri" pitchFamily="34" charset="-122"/>
                          <a:cs typeface="Calibri" pitchFamily="34" charset="-120"/>
                        </a:rPr>
                        <a:t>1,18,000</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E2ECEA"/>
                    </a:solidFill>
                  </a:tcPr>
                </a:tc>
              </a:tr>
            </a:tbl>
          </a:graphicData>
        </a:graphic>
      </p:graphicFrame>
      <p:sp>
        <p:nvSpPr>
          <p:cNvPr id="39" name="Text 36"/>
          <p:cNvSpPr/>
          <p:nvPr/>
        </p:nvSpPr>
        <p:spPr>
          <a:xfrm>
            <a:off x="6839712" y="5541264"/>
            <a:ext cx="4517136" cy="274320"/>
          </a:xfrm>
          <a:prstGeom prst="rect">
            <a:avLst/>
          </a:prstGeom>
          <a:noFill/>
          <a:ln/>
        </p:spPr>
        <p:txBody>
          <a:bodyPr wrap="square" lIns="0" tIns="0" rIns="0" bIns="0" rtlCol="0" anchor="ctr"/>
          <a:lstStyle/>
          <a:p>
            <a:pPr indent="0" marL="0">
              <a:buNone/>
            </a:pPr>
            <a:r>
              <a:rPr lang="en-US" sz="950" i="1" dirty="0">
                <a:solidFill>
                  <a:srgbClr val="5C6B6A"/>
                </a:solidFill>
                <a:latin typeface="Calibri" pitchFamily="34" charset="0"/>
                <a:ea typeface="Calibri" pitchFamily="34" charset="-122"/>
                <a:cs typeface="Calibri" pitchFamily="34" charset="-120"/>
              </a:rPr>
              <a:t>Two accounts move, in opposite directions, for the same total.</a:t>
            </a:r>
            <a:endParaRPr lang="en-US" sz="950" dirty="0"/>
          </a:p>
        </p:txBody>
      </p:sp>
      <p:sp>
        <p:nvSpPr>
          <p:cNvPr id="40" name="Text 37"/>
          <p:cNvSpPr/>
          <p:nvPr/>
        </p:nvSpPr>
        <p:spPr>
          <a:xfrm>
            <a:off x="566928" y="6272784"/>
            <a:ext cx="11064240" cy="274320"/>
          </a:xfrm>
          <a:prstGeom prst="rect">
            <a:avLst/>
          </a:prstGeom>
          <a:noFill/>
          <a:ln/>
        </p:spPr>
        <p:txBody>
          <a:bodyPr wrap="square" lIns="0" tIns="0" rIns="0" bIns="0" rtlCol="0" anchor="ctr"/>
          <a:lstStyle/>
          <a:p>
            <a:pPr indent="0" marL="0">
              <a:buNone/>
            </a:pPr>
            <a:r>
              <a:rPr lang="en-US" sz="1000" b="1" dirty="0">
                <a:solidFill>
                  <a:srgbClr val="C08428"/>
                </a:solidFill>
                <a:latin typeface="Calibri" pitchFamily="34" charset="0"/>
                <a:ea typeface="Calibri" pitchFamily="34" charset="-122"/>
                <a:cs typeface="Calibri" pitchFamily="34" charset="-120"/>
              </a:rPr>
              <a:t>In CAOS  ›  </a:t>
            </a:r>
            <a:pPr indent="0" marL="0">
              <a:buNone/>
            </a:pPr>
            <a:r>
              <a:rPr lang="en-US" sz="1000" dirty="0">
                <a:solidFill>
                  <a:srgbClr val="5C6B6A"/>
                </a:solidFill>
                <a:latin typeface="Calibri" pitchFamily="34" charset="0"/>
                <a:ea typeface="Calibri" pitchFamily="34" charset="-122"/>
                <a:cs typeface="Calibri" pitchFamily="34" charset="-120"/>
              </a:rPr>
              <a:t>Agent 2 — Bookkeeping / Voucher Entry drafts this automatically from the invoice, and a human approves it before it posts.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03</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Ledger</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A running account for one party or one head. Vouchers land here and accumulate.</a:t>
            </a:r>
            <a:endParaRPr lang="en-US" sz="1300" dirty="0"/>
          </a:p>
        </p:txBody>
      </p:sp>
      <p:sp>
        <p:nvSpPr>
          <p:cNvPr id="5" name="Text 3"/>
          <p:cNvSpPr/>
          <p:nvPr/>
        </p:nvSpPr>
        <p:spPr>
          <a:xfrm>
            <a:off x="566928" y="1700784"/>
            <a:ext cx="5577840" cy="1371600"/>
          </a:xfrm>
          <a:prstGeom prst="rect">
            <a:avLst/>
          </a:prstGeom>
          <a:noFill/>
          <a:ln/>
        </p:spPr>
        <p:txBody>
          <a:bodyPr wrap="square" lIns="0" tIns="0" rIns="0" bIns="0" rtlCol="0" anchor="t"/>
          <a:lstStyle/>
          <a:p>
            <a:pPr indent="0" marL="0">
              <a:lnSpc>
                <a:spcPts val="1600"/>
              </a:lnSpc>
              <a:buNone/>
            </a:pPr>
            <a:r>
              <a:rPr lang="en-US" sz="1150" dirty="0">
                <a:solidFill>
                  <a:srgbClr val="0F3D3E"/>
                </a:solidFill>
                <a:latin typeface="Calibri" pitchFamily="34" charset="0"/>
                <a:ea typeface="Calibri" pitchFamily="34" charset="-122"/>
                <a:cs typeface="Calibri" pitchFamily="34" charset="-120"/>
              </a:rPr>
              <a:t>If a voucher is a single event, a ledger is the story of one participant across all events. Every voucher that mentions a vendor posts into that vendor's ledger; the balance at the bottom tells you exactly what is still owed. The full list of ledgers a business keeps is its </a:t>
            </a:r>
            <a:pPr indent="0" marL="0">
              <a:lnSpc>
                <a:spcPts val="1600"/>
              </a:lnSpc>
              <a:buNone/>
            </a:pPr>
            <a:r>
              <a:rPr lang="en-US" sz="1150" b="1" dirty="0">
                <a:solidFill>
                  <a:srgbClr val="0F3D3E"/>
                </a:solidFill>
                <a:latin typeface="Calibri" pitchFamily="34" charset="0"/>
                <a:ea typeface="Calibri" pitchFamily="34" charset="-122"/>
                <a:cs typeface="Calibri" pitchFamily="34" charset="-120"/>
              </a:rPr>
              <a:t>chart of accounts</a:t>
            </a:r>
            <a:pPr indent="0" marL="0">
              <a:lnSpc>
                <a:spcPts val="1600"/>
              </a:lnSpc>
              <a:buNone/>
            </a:pPr>
            <a:r>
              <a:rPr lang="en-US" sz="1150" dirty="0">
                <a:solidFill>
                  <a:srgbClr val="0F3D3E"/>
                </a:solidFill>
                <a:latin typeface="Calibri" pitchFamily="34" charset="0"/>
                <a:ea typeface="Calibri" pitchFamily="34" charset="-122"/>
                <a:cs typeface="Calibri" pitchFamily="34" charset="-120"/>
              </a:rPr>
              <a:t> — and no two clients set it up quite the same way, which is why standardizing it is a precondition for automation.</a:t>
            </a:r>
            <a:endParaRPr lang="en-US" sz="1150" dirty="0"/>
          </a:p>
        </p:txBody>
      </p:sp>
      <p:sp>
        <p:nvSpPr>
          <p:cNvPr id="6" name="Text 4"/>
          <p:cNvSpPr/>
          <p:nvPr/>
        </p:nvSpPr>
        <p:spPr>
          <a:xfrm>
            <a:off x="566928" y="3218688"/>
            <a:ext cx="5577840" cy="219456"/>
          </a:xfrm>
          <a:prstGeom prst="rect">
            <a:avLst/>
          </a:prstGeom>
          <a:noFill/>
          <a:ln/>
        </p:spPr>
        <p:txBody>
          <a:bodyPr wrap="square" lIns="0" tIns="0" rIns="0" bIns="0" rtlCol="0" anchor="ctr"/>
          <a:lstStyle/>
          <a:p>
            <a:pPr indent="0" marL="0">
              <a:buNone/>
            </a:pPr>
            <a:r>
              <a:rPr lang="en-US" sz="900" b="1" spc="140" kern="0" dirty="0">
                <a:solidFill>
                  <a:srgbClr val="C08428"/>
                </a:solidFill>
                <a:latin typeface="Calibri" pitchFamily="34" charset="0"/>
                <a:ea typeface="Calibri" pitchFamily="34" charset="-122"/>
                <a:cs typeface="Calibri" pitchFamily="34" charset="-120"/>
              </a:rPr>
              <a:t>EVERY LEDGER SITS IN ONE OF FIVE GROUPS</a:t>
            </a:r>
            <a:endParaRPr lang="en-US" sz="900" dirty="0"/>
          </a:p>
        </p:txBody>
      </p:sp>
      <p:sp>
        <p:nvSpPr>
          <p:cNvPr id="7" name="Shape 5"/>
          <p:cNvSpPr/>
          <p:nvPr/>
        </p:nvSpPr>
        <p:spPr>
          <a:xfrm>
            <a:off x="566928" y="3511296"/>
            <a:ext cx="1225296" cy="310896"/>
          </a:xfrm>
          <a:prstGeom prst="roundRect">
            <a:avLst>
              <a:gd name="adj" fmla="val 11765"/>
            </a:avLst>
          </a:prstGeom>
          <a:solidFill>
            <a:srgbClr val="0F3D3E"/>
          </a:solidFill>
          <a:ln w="12700">
            <a:solidFill>
              <a:srgbClr val="0F3D3E"/>
            </a:solidFill>
            <a:prstDash val="solid"/>
          </a:ln>
        </p:spPr>
      </p:sp>
      <p:sp>
        <p:nvSpPr>
          <p:cNvPr id="8" name="Text 6"/>
          <p:cNvSpPr/>
          <p:nvPr/>
        </p:nvSpPr>
        <p:spPr>
          <a:xfrm>
            <a:off x="566928" y="3511296"/>
            <a:ext cx="12252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Assets</a:t>
            </a:r>
            <a:endParaRPr lang="en-US" sz="950" dirty="0"/>
          </a:p>
        </p:txBody>
      </p:sp>
      <p:sp>
        <p:nvSpPr>
          <p:cNvPr id="9" name="Text 7"/>
          <p:cNvSpPr/>
          <p:nvPr/>
        </p:nvSpPr>
        <p:spPr>
          <a:xfrm>
            <a:off x="1938528" y="3511296"/>
            <a:ext cx="4206240" cy="310896"/>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what the business owns — cash, bank, stock, receivables</a:t>
            </a:r>
            <a:endParaRPr lang="en-US" sz="1000" dirty="0"/>
          </a:p>
        </p:txBody>
      </p:sp>
      <p:sp>
        <p:nvSpPr>
          <p:cNvPr id="10" name="Shape 8"/>
          <p:cNvSpPr/>
          <p:nvPr/>
        </p:nvSpPr>
        <p:spPr>
          <a:xfrm>
            <a:off x="566928" y="3913632"/>
            <a:ext cx="1225296" cy="310896"/>
          </a:xfrm>
          <a:prstGeom prst="roundRect">
            <a:avLst>
              <a:gd name="adj" fmla="val 11765"/>
            </a:avLst>
          </a:prstGeom>
          <a:solidFill>
            <a:srgbClr val="0F3D3E"/>
          </a:solidFill>
          <a:ln w="12700">
            <a:solidFill>
              <a:srgbClr val="0F3D3E"/>
            </a:solidFill>
            <a:prstDash val="solid"/>
          </a:ln>
        </p:spPr>
      </p:sp>
      <p:sp>
        <p:nvSpPr>
          <p:cNvPr id="11" name="Text 9"/>
          <p:cNvSpPr/>
          <p:nvPr/>
        </p:nvSpPr>
        <p:spPr>
          <a:xfrm>
            <a:off x="566928" y="3913632"/>
            <a:ext cx="12252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Liabilities</a:t>
            </a:r>
            <a:endParaRPr lang="en-US" sz="950" dirty="0"/>
          </a:p>
        </p:txBody>
      </p:sp>
      <p:sp>
        <p:nvSpPr>
          <p:cNvPr id="12" name="Text 10"/>
          <p:cNvSpPr/>
          <p:nvPr/>
        </p:nvSpPr>
        <p:spPr>
          <a:xfrm>
            <a:off x="1938528" y="3913632"/>
            <a:ext cx="4206240" cy="310896"/>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what it owes — vendors, loans, taxes payable</a:t>
            </a:r>
            <a:endParaRPr lang="en-US" sz="1000" dirty="0"/>
          </a:p>
        </p:txBody>
      </p:sp>
      <p:sp>
        <p:nvSpPr>
          <p:cNvPr id="13" name="Shape 11"/>
          <p:cNvSpPr/>
          <p:nvPr/>
        </p:nvSpPr>
        <p:spPr>
          <a:xfrm>
            <a:off x="566928" y="4315968"/>
            <a:ext cx="1225296" cy="310896"/>
          </a:xfrm>
          <a:prstGeom prst="roundRect">
            <a:avLst>
              <a:gd name="adj" fmla="val 11765"/>
            </a:avLst>
          </a:prstGeom>
          <a:solidFill>
            <a:srgbClr val="0F3D3E"/>
          </a:solidFill>
          <a:ln w="12700">
            <a:solidFill>
              <a:srgbClr val="0F3D3E"/>
            </a:solidFill>
            <a:prstDash val="solid"/>
          </a:ln>
        </p:spPr>
      </p:sp>
      <p:sp>
        <p:nvSpPr>
          <p:cNvPr id="14" name="Text 12"/>
          <p:cNvSpPr/>
          <p:nvPr/>
        </p:nvSpPr>
        <p:spPr>
          <a:xfrm>
            <a:off x="566928" y="4315968"/>
            <a:ext cx="12252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Capital</a:t>
            </a:r>
            <a:endParaRPr lang="en-US" sz="950" dirty="0"/>
          </a:p>
        </p:txBody>
      </p:sp>
      <p:sp>
        <p:nvSpPr>
          <p:cNvPr id="15" name="Text 13"/>
          <p:cNvSpPr/>
          <p:nvPr/>
        </p:nvSpPr>
        <p:spPr>
          <a:xfrm>
            <a:off x="1938528" y="4315968"/>
            <a:ext cx="4206240" cy="310896"/>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the owner's stake</a:t>
            </a:r>
            <a:endParaRPr lang="en-US" sz="1000" dirty="0"/>
          </a:p>
        </p:txBody>
      </p:sp>
      <p:sp>
        <p:nvSpPr>
          <p:cNvPr id="16" name="Shape 14"/>
          <p:cNvSpPr/>
          <p:nvPr/>
        </p:nvSpPr>
        <p:spPr>
          <a:xfrm>
            <a:off x="566928" y="4718304"/>
            <a:ext cx="1225296" cy="310896"/>
          </a:xfrm>
          <a:prstGeom prst="roundRect">
            <a:avLst>
              <a:gd name="adj" fmla="val 11765"/>
            </a:avLst>
          </a:prstGeom>
          <a:solidFill>
            <a:srgbClr val="0F3D3E"/>
          </a:solidFill>
          <a:ln w="12700">
            <a:solidFill>
              <a:srgbClr val="0F3D3E"/>
            </a:solidFill>
            <a:prstDash val="solid"/>
          </a:ln>
        </p:spPr>
      </p:sp>
      <p:sp>
        <p:nvSpPr>
          <p:cNvPr id="17" name="Text 15"/>
          <p:cNvSpPr/>
          <p:nvPr/>
        </p:nvSpPr>
        <p:spPr>
          <a:xfrm>
            <a:off x="566928" y="4718304"/>
            <a:ext cx="12252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Income</a:t>
            </a:r>
            <a:endParaRPr lang="en-US" sz="950" dirty="0"/>
          </a:p>
        </p:txBody>
      </p:sp>
      <p:sp>
        <p:nvSpPr>
          <p:cNvPr id="18" name="Text 16"/>
          <p:cNvSpPr/>
          <p:nvPr/>
        </p:nvSpPr>
        <p:spPr>
          <a:xfrm>
            <a:off x="1938528" y="4718304"/>
            <a:ext cx="4206240" cy="310896"/>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what it earned — sales, other income</a:t>
            </a:r>
            <a:endParaRPr lang="en-US" sz="1000" dirty="0"/>
          </a:p>
        </p:txBody>
      </p:sp>
      <p:sp>
        <p:nvSpPr>
          <p:cNvPr id="19" name="Shape 17"/>
          <p:cNvSpPr/>
          <p:nvPr/>
        </p:nvSpPr>
        <p:spPr>
          <a:xfrm>
            <a:off x="566928" y="5120640"/>
            <a:ext cx="1225296" cy="310896"/>
          </a:xfrm>
          <a:prstGeom prst="roundRect">
            <a:avLst>
              <a:gd name="adj" fmla="val 11765"/>
            </a:avLst>
          </a:prstGeom>
          <a:solidFill>
            <a:srgbClr val="0F3D3E"/>
          </a:solidFill>
          <a:ln w="12700">
            <a:solidFill>
              <a:srgbClr val="0F3D3E"/>
            </a:solidFill>
            <a:prstDash val="solid"/>
          </a:ln>
        </p:spPr>
      </p:sp>
      <p:sp>
        <p:nvSpPr>
          <p:cNvPr id="20" name="Text 18"/>
          <p:cNvSpPr/>
          <p:nvPr/>
        </p:nvSpPr>
        <p:spPr>
          <a:xfrm>
            <a:off x="566928" y="5120640"/>
            <a:ext cx="122529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Expenses</a:t>
            </a:r>
            <a:endParaRPr lang="en-US" sz="950" dirty="0"/>
          </a:p>
        </p:txBody>
      </p:sp>
      <p:sp>
        <p:nvSpPr>
          <p:cNvPr id="21" name="Text 19"/>
          <p:cNvSpPr/>
          <p:nvPr/>
        </p:nvSpPr>
        <p:spPr>
          <a:xfrm>
            <a:off x="1938528" y="5120640"/>
            <a:ext cx="4206240" cy="310896"/>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what it spent — purchases, salaries, rent</a:t>
            </a:r>
            <a:endParaRPr lang="en-US" sz="1000" dirty="0"/>
          </a:p>
        </p:txBody>
      </p:sp>
      <p:sp>
        <p:nvSpPr>
          <p:cNvPr id="22" name="Shape 20"/>
          <p:cNvSpPr/>
          <p:nvPr/>
        </p:nvSpPr>
        <p:spPr>
          <a:xfrm>
            <a:off x="6583680" y="1700784"/>
            <a:ext cx="1517904" cy="566928"/>
          </a:xfrm>
          <a:prstGeom prst="roundRect">
            <a:avLst>
              <a:gd name="adj" fmla="val 11290"/>
            </a:avLst>
          </a:prstGeom>
          <a:solidFill>
            <a:srgbClr val="FFFFFF"/>
          </a:solidFill>
          <a:ln w="12700">
            <a:solidFill>
              <a:srgbClr val="D5E0DE"/>
            </a:solidFill>
            <a:prstDash val="solid"/>
          </a:ln>
        </p:spPr>
      </p:sp>
      <p:sp>
        <p:nvSpPr>
          <p:cNvPr id="23" name="Text 21"/>
          <p:cNvSpPr/>
          <p:nvPr/>
        </p:nvSpPr>
        <p:spPr>
          <a:xfrm>
            <a:off x="6675120" y="1737360"/>
            <a:ext cx="1335024" cy="237744"/>
          </a:xfrm>
          <a:prstGeom prst="rect">
            <a:avLst/>
          </a:prstGeom>
          <a:noFill/>
          <a:ln/>
        </p:spPr>
        <p:txBody>
          <a:bodyPr wrap="square" lIns="0" tIns="0" rIns="0" bIns="0" rtlCol="0" anchor="ctr"/>
          <a:lstStyle/>
          <a:p>
            <a:pPr algn="ctr" indent="0" marL="0">
              <a:buNone/>
            </a:pPr>
            <a:r>
              <a:rPr lang="en-US" sz="900" b="1" dirty="0">
                <a:solidFill>
                  <a:srgbClr val="0F3D3E"/>
                </a:solidFill>
                <a:latin typeface="Calibri" pitchFamily="34" charset="0"/>
                <a:ea typeface="Calibri" pitchFamily="34" charset="-122"/>
                <a:cs typeface="Calibri" pitchFamily="34" charset="-120"/>
              </a:rPr>
              <a:t>INV-4417</a:t>
            </a:r>
            <a:endParaRPr lang="en-US" sz="900" dirty="0"/>
          </a:p>
        </p:txBody>
      </p:sp>
      <p:sp>
        <p:nvSpPr>
          <p:cNvPr id="24" name="Text 22"/>
          <p:cNvSpPr/>
          <p:nvPr/>
        </p:nvSpPr>
        <p:spPr>
          <a:xfrm>
            <a:off x="6675120" y="1956816"/>
            <a:ext cx="1335024" cy="237744"/>
          </a:xfrm>
          <a:prstGeom prst="rect">
            <a:avLst/>
          </a:prstGeom>
          <a:noFill/>
          <a:ln/>
        </p:spPr>
        <p:txBody>
          <a:bodyPr wrap="square" lIns="0" tIns="0" rIns="0" bIns="0" rtlCol="0" anchor="ctr"/>
          <a:lstStyle/>
          <a:p>
            <a:pPr algn="ctr" indent="0" marL="0">
              <a:buNone/>
            </a:pPr>
            <a:r>
              <a:rPr lang="en-US" sz="900" dirty="0">
                <a:solidFill>
                  <a:srgbClr val="5C6B6A"/>
                </a:solidFill>
                <a:latin typeface="Calibri" pitchFamily="34" charset="0"/>
                <a:ea typeface="Calibri" pitchFamily="34" charset="-122"/>
                <a:cs typeface="Calibri" pitchFamily="34" charset="-120"/>
              </a:rPr>
              <a:t>₹1,18,000</a:t>
            </a:r>
            <a:endParaRPr lang="en-US" sz="900" dirty="0"/>
          </a:p>
        </p:txBody>
      </p:sp>
      <p:sp>
        <p:nvSpPr>
          <p:cNvPr id="25" name="Shape 23"/>
          <p:cNvSpPr/>
          <p:nvPr/>
        </p:nvSpPr>
        <p:spPr>
          <a:xfrm>
            <a:off x="7342632" y="2322576"/>
            <a:ext cx="1755648" cy="365760"/>
          </a:xfrm>
          <a:prstGeom prst="line">
            <a:avLst/>
          </a:prstGeom>
          <a:noFill/>
          <a:ln w="15875">
            <a:solidFill>
              <a:srgbClr val="9AB0AE"/>
            </a:solidFill>
            <a:prstDash val="solid"/>
            <a:tailEnd type="triangle"/>
          </a:ln>
        </p:spPr>
      </p:sp>
      <p:sp>
        <p:nvSpPr>
          <p:cNvPr id="26" name="Shape 24"/>
          <p:cNvSpPr/>
          <p:nvPr/>
        </p:nvSpPr>
        <p:spPr>
          <a:xfrm>
            <a:off x="8339328" y="1700784"/>
            <a:ext cx="1517904" cy="566928"/>
          </a:xfrm>
          <a:prstGeom prst="roundRect">
            <a:avLst>
              <a:gd name="adj" fmla="val 11290"/>
            </a:avLst>
          </a:prstGeom>
          <a:solidFill>
            <a:srgbClr val="FFFFFF"/>
          </a:solidFill>
          <a:ln w="12700">
            <a:solidFill>
              <a:srgbClr val="D5E0DE"/>
            </a:solidFill>
            <a:prstDash val="solid"/>
          </a:ln>
        </p:spPr>
      </p:sp>
      <p:sp>
        <p:nvSpPr>
          <p:cNvPr id="27" name="Text 25"/>
          <p:cNvSpPr/>
          <p:nvPr/>
        </p:nvSpPr>
        <p:spPr>
          <a:xfrm>
            <a:off x="8430768" y="1737360"/>
            <a:ext cx="1335024" cy="237744"/>
          </a:xfrm>
          <a:prstGeom prst="rect">
            <a:avLst/>
          </a:prstGeom>
          <a:noFill/>
          <a:ln/>
        </p:spPr>
        <p:txBody>
          <a:bodyPr wrap="square" lIns="0" tIns="0" rIns="0" bIns="0" rtlCol="0" anchor="ctr"/>
          <a:lstStyle/>
          <a:p>
            <a:pPr algn="ctr" indent="0" marL="0">
              <a:buNone/>
            </a:pPr>
            <a:r>
              <a:rPr lang="en-US" sz="900" b="1" dirty="0">
                <a:solidFill>
                  <a:srgbClr val="0F3D3E"/>
                </a:solidFill>
                <a:latin typeface="Calibri" pitchFamily="34" charset="0"/>
                <a:ea typeface="Calibri" pitchFamily="34" charset="-122"/>
                <a:cs typeface="Calibri" pitchFamily="34" charset="-120"/>
              </a:rPr>
              <a:t>NEFT pmt</a:t>
            </a:r>
            <a:endParaRPr lang="en-US" sz="900" dirty="0"/>
          </a:p>
        </p:txBody>
      </p:sp>
      <p:sp>
        <p:nvSpPr>
          <p:cNvPr id="28" name="Text 26"/>
          <p:cNvSpPr/>
          <p:nvPr/>
        </p:nvSpPr>
        <p:spPr>
          <a:xfrm>
            <a:off x="8430768" y="1956816"/>
            <a:ext cx="1335024" cy="237744"/>
          </a:xfrm>
          <a:prstGeom prst="rect">
            <a:avLst/>
          </a:prstGeom>
          <a:noFill/>
          <a:ln/>
        </p:spPr>
        <p:txBody>
          <a:bodyPr wrap="square" lIns="0" tIns="0" rIns="0" bIns="0" rtlCol="0" anchor="ctr"/>
          <a:lstStyle/>
          <a:p>
            <a:pPr algn="ctr" indent="0" marL="0">
              <a:buNone/>
            </a:pPr>
            <a:r>
              <a:rPr lang="en-US" sz="900" dirty="0">
                <a:solidFill>
                  <a:srgbClr val="5C6B6A"/>
                </a:solidFill>
                <a:latin typeface="Calibri" pitchFamily="34" charset="0"/>
                <a:ea typeface="Calibri" pitchFamily="34" charset="-122"/>
                <a:cs typeface="Calibri" pitchFamily="34" charset="-120"/>
              </a:rPr>
              <a:t>₹70,000</a:t>
            </a:r>
            <a:endParaRPr lang="en-US" sz="900" dirty="0"/>
          </a:p>
        </p:txBody>
      </p:sp>
      <p:sp>
        <p:nvSpPr>
          <p:cNvPr id="29" name="Shape 27"/>
          <p:cNvSpPr/>
          <p:nvPr/>
        </p:nvSpPr>
        <p:spPr>
          <a:xfrm flipH="1">
            <a:off x="9098280" y="2322576"/>
            <a:ext cx="0" cy="365760"/>
          </a:xfrm>
          <a:prstGeom prst="line">
            <a:avLst/>
          </a:prstGeom>
          <a:noFill/>
          <a:ln w="15875">
            <a:solidFill>
              <a:srgbClr val="9AB0AE"/>
            </a:solidFill>
            <a:prstDash val="solid"/>
            <a:tailEnd type="triangle"/>
          </a:ln>
        </p:spPr>
      </p:sp>
      <p:sp>
        <p:nvSpPr>
          <p:cNvPr id="30" name="Shape 28"/>
          <p:cNvSpPr/>
          <p:nvPr/>
        </p:nvSpPr>
        <p:spPr>
          <a:xfrm>
            <a:off x="10094976" y="1700784"/>
            <a:ext cx="1517904" cy="566928"/>
          </a:xfrm>
          <a:prstGeom prst="roundRect">
            <a:avLst>
              <a:gd name="adj" fmla="val 11290"/>
            </a:avLst>
          </a:prstGeom>
          <a:solidFill>
            <a:srgbClr val="FFFFFF"/>
          </a:solidFill>
          <a:ln w="12700">
            <a:solidFill>
              <a:srgbClr val="D5E0DE"/>
            </a:solidFill>
            <a:prstDash val="solid"/>
          </a:ln>
        </p:spPr>
      </p:sp>
      <p:sp>
        <p:nvSpPr>
          <p:cNvPr id="31" name="Text 29"/>
          <p:cNvSpPr/>
          <p:nvPr/>
        </p:nvSpPr>
        <p:spPr>
          <a:xfrm>
            <a:off x="10186416" y="1737360"/>
            <a:ext cx="1335024" cy="237744"/>
          </a:xfrm>
          <a:prstGeom prst="rect">
            <a:avLst/>
          </a:prstGeom>
          <a:noFill/>
          <a:ln/>
        </p:spPr>
        <p:txBody>
          <a:bodyPr wrap="square" lIns="0" tIns="0" rIns="0" bIns="0" rtlCol="0" anchor="ctr"/>
          <a:lstStyle/>
          <a:p>
            <a:pPr algn="ctr" indent="0" marL="0">
              <a:buNone/>
            </a:pPr>
            <a:r>
              <a:rPr lang="en-US" sz="900" b="1" dirty="0">
                <a:solidFill>
                  <a:srgbClr val="0F3D3E"/>
                </a:solidFill>
                <a:latin typeface="Calibri" pitchFamily="34" charset="0"/>
                <a:ea typeface="Calibri" pitchFamily="34" charset="-122"/>
                <a:cs typeface="Calibri" pitchFamily="34" charset="-120"/>
              </a:rPr>
              <a:t>INV-4692</a:t>
            </a:r>
            <a:endParaRPr lang="en-US" sz="900" dirty="0"/>
          </a:p>
        </p:txBody>
      </p:sp>
      <p:sp>
        <p:nvSpPr>
          <p:cNvPr id="32" name="Text 30"/>
          <p:cNvSpPr/>
          <p:nvPr/>
        </p:nvSpPr>
        <p:spPr>
          <a:xfrm>
            <a:off x="10186416" y="1956816"/>
            <a:ext cx="1335024" cy="237744"/>
          </a:xfrm>
          <a:prstGeom prst="rect">
            <a:avLst/>
          </a:prstGeom>
          <a:noFill/>
          <a:ln/>
        </p:spPr>
        <p:txBody>
          <a:bodyPr wrap="square" lIns="0" tIns="0" rIns="0" bIns="0" rtlCol="0" anchor="ctr"/>
          <a:lstStyle/>
          <a:p>
            <a:pPr algn="ctr" indent="0" marL="0">
              <a:buNone/>
            </a:pPr>
            <a:r>
              <a:rPr lang="en-US" sz="900" dirty="0">
                <a:solidFill>
                  <a:srgbClr val="5C6B6A"/>
                </a:solidFill>
                <a:latin typeface="Calibri" pitchFamily="34" charset="0"/>
                <a:ea typeface="Calibri" pitchFamily="34" charset="-122"/>
                <a:cs typeface="Calibri" pitchFamily="34" charset="-120"/>
              </a:rPr>
              <a:t>₹32,000</a:t>
            </a:r>
            <a:endParaRPr lang="en-US" sz="900" dirty="0"/>
          </a:p>
        </p:txBody>
      </p:sp>
      <p:sp>
        <p:nvSpPr>
          <p:cNvPr id="33" name="Shape 31"/>
          <p:cNvSpPr/>
          <p:nvPr/>
        </p:nvSpPr>
        <p:spPr>
          <a:xfrm flipH="1">
            <a:off x="9098280" y="2322576"/>
            <a:ext cx="1755648" cy="365760"/>
          </a:xfrm>
          <a:prstGeom prst="line">
            <a:avLst/>
          </a:prstGeom>
          <a:noFill/>
          <a:ln w="15875">
            <a:solidFill>
              <a:srgbClr val="9AB0AE"/>
            </a:solidFill>
            <a:prstDash val="solid"/>
            <a:tailEnd type="triangle"/>
          </a:ln>
        </p:spPr>
      </p:sp>
      <p:sp>
        <p:nvSpPr>
          <p:cNvPr id="34" name="Shape 32"/>
          <p:cNvSpPr/>
          <p:nvPr/>
        </p:nvSpPr>
        <p:spPr>
          <a:xfrm>
            <a:off x="6583680" y="2743200"/>
            <a:ext cx="5029200" cy="2651760"/>
          </a:xfrm>
          <a:prstGeom prst="roundRect">
            <a:avLst>
              <a:gd name="adj" fmla="val 2414"/>
            </a:avLst>
          </a:prstGeom>
          <a:solidFill>
            <a:srgbClr val="EFF4F3"/>
          </a:solidFill>
          <a:ln w="12700">
            <a:solidFill>
              <a:srgbClr val="D5E0DE"/>
            </a:solidFill>
            <a:prstDash val="solid"/>
          </a:ln>
        </p:spPr>
      </p:sp>
      <p:sp>
        <p:nvSpPr>
          <p:cNvPr id="35" name="Text 33"/>
          <p:cNvSpPr/>
          <p:nvPr/>
        </p:nvSpPr>
        <p:spPr>
          <a:xfrm>
            <a:off x="6821424" y="2871216"/>
            <a:ext cx="4553712" cy="256032"/>
          </a:xfrm>
          <a:prstGeom prst="rect">
            <a:avLst/>
          </a:prstGeom>
          <a:noFill/>
          <a:ln/>
        </p:spPr>
        <p:txBody>
          <a:bodyPr wrap="square" lIns="0" tIns="0" rIns="0" bIns="0" rtlCol="0" anchor="ctr"/>
          <a:lstStyle/>
          <a:p>
            <a:pPr indent="0" marL="0">
              <a:buNone/>
            </a:pPr>
            <a:r>
              <a:rPr lang="en-US" sz="1000" b="1" dirty="0">
                <a:solidFill>
                  <a:srgbClr val="0F3D3E"/>
                </a:solidFill>
                <a:latin typeface="Calibri" pitchFamily="34" charset="0"/>
                <a:ea typeface="Calibri" pitchFamily="34" charset="-122"/>
                <a:cs typeface="Calibri" pitchFamily="34" charset="-120"/>
              </a:rPr>
              <a:t>LEDGER  ·  Coastal Components Pvt Ltd</a:t>
            </a:r>
            <a:endParaRPr lang="en-US" sz="1000" dirty="0"/>
          </a:p>
        </p:txBody>
      </p:sp>
      <p:sp>
        <p:nvSpPr>
          <p:cNvPr id="36" name="Text 34"/>
          <p:cNvSpPr/>
          <p:nvPr/>
        </p:nvSpPr>
        <p:spPr>
          <a:xfrm>
            <a:off x="6821424" y="3108960"/>
            <a:ext cx="4553712" cy="219456"/>
          </a:xfrm>
          <a:prstGeom prst="rect">
            <a:avLst/>
          </a:prstGeom>
          <a:noFill/>
          <a:ln/>
        </p:spPr>
        <p:txBody>
          <a:bodyPr wrap="square" lIns="0" tIns="0" rIns="0" bIns="0" rtlCol="0" anchor="ctr"/>
          <a:lstStyle/>
          <a:p>
            <a:pPr indent="0" marL="0">
              <a:buNone/>
            </a:pPr>
            <a:r>
              <a:rPr lang="en-US" sz="900" i="1" dirty="0">
                <a:solidFill>
                  <a:srgbClr val="5C6B6A"/>
                </a:solidFill>
                <a:latin typeface="Calibri" pitchFamily="34" charset="0"/>
                <a:ea typeface="Calibri" pitchFamily="34" charset="-122"/>
                <a:cs typeface="Calibri" pitchFamily="34" charset="-120"/>
              </a:rPr>
              <a:t>Group: Sundry Creditors (Liabilities)</a:t>
            </a:r>
            <a:endParaRPr lang="en-US" sz="9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821424" y="3401568"/>
          <a:ext cx="4553712" cy="914400"/>
        </p:xfrm>
        <a:graphic>
          <a:graphicData uri="http://schemas.openxmlformats.org/drawingml/2006/table">
            <a:tbl>
              <a:tblPr/>
              <a:tblGrid>
                <a:gridCol w="640080"/>
                <a:gridCol w="1700784"/>
                <a:gridCol w="694944"/>
                <a:gridCol w="694944"/>
                <a:gridCol w="8229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Particulars</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Dr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Cr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Balance</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12 Jul</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Purchase INV-4417</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1,18,000</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1,18,000 Cr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28 Jul</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Payment — NEFT</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70,000</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48,000 Cr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05 Aug</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Purchase INV-4692</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32,000</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80,000 Cr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bl>
          </a:graphicData>
        </a:graphic>
      </p:graphicFrame>
      <p:sp>
        <p:nvSpPr>
          <p:cNvPr id="38" name="Text 35"/>
          <p:cNvSpPr/>
          <p:nvPr/>
        </p:nvSpPr>
        <p:spPr>
          <a:xfrm>
            <a:off x="6821424" y="4956048"/>
            <a:ext cx="4553712" cy="292608"/>
          </a:xfrm>
          <a:prstGeom prst="rect">
            <a:avLst/>
          </a:prstGeom>
          <a:noFill/>
          <a:ln/>
        </p:spPr>
        <p:txBody>
          <a:bodyPr wrap="square" lIns="0" tIns="0" rIns="0" bIns="0" rtlCol="0" anchor="ctr"/>
          <a:lstStyle/>
          <a:p>
            <a:pPr indent="0" marL="0">
              <a:buNone/>
            </a:pPr>
            <a:r>
              <a:rPr lang="en-US" sz="1000" b="1" dirty="0">
                <a:solidFill>
                  <a:srgbClr val="0F3D3E"/>
                </a:solidFill>
                <a:latin typeface="Calibri" pitchFamily="34" charset="0"/>
                <a:ea typeface="Calibri" pitchFamily="34" charset="-122"/>
                <a:cs typeface="Calibri" pitchFamily="34" charset="-120"/>
              </a:rPr>
              <a:t>Closing balance ₹80,000 Cr — still owed to this vendor.</a:t>
            </a:r>
            <a:endParaRPr lang="en-US" sz="1000" dirty="0"/>
          </a:p>
        </p:txBody>
      </p:sp>
      <p:sp>
        <p:nvSpPr>
          <p:cNvPr id="39" name="Text 36"/>
          <p:cNvSpPr/>
          <p:nvPr/>
        </p:nvSpPr>
        <p:spPr>
          <a:xfrm>
            <a:off x="566928" y="6272784"/>
            <a:ext cx="11064240" cy="274320"/>
          </a:xfrm>
          <a:prstGeom prst="rect">
            <a:avLst/>
          </a:prstGeom>
          <a:noFill/>
          <a:ln/>
        </p:spPr>
        <p:txBody>
          <a:bodyPr wrap="square" lIns="0" tIns="0" rIns="0" bIns="0" rtlCol="0" anchor="ctr"/>
          <a:lstStyle/>
          <a:p>
            <a:pPr indent="0" marL="0">
              <a:buNone/>
            </a:pPr>
            <a:r>
              <a:rPr lang="en-US" sz="1000" b="1" dirty="0">
                <a:solidFill>
                  <a:srgbClr val="C08428"/>
                </a:solidFill>
                <a:latin typeface="Calibri" pitchFamily="34" charset="0"/>
                <a:ea typeface="Calibri" pitchFamily="34" charset="-122"/>
                <a:cs typeface="Calibri" pitchFamily="34" charset="-120"/>
              </a:rPr>
              <a:t>In CAOS  ›  </a:t>
            </a:r>
            <a:pPr indent="0" marL="0">
              <a:buNone/>
            </a:pPr>
            <a:r>
              <a:rPr lang="en-US" sz="1000" dirty="0">
                <a:solidFill>
                  <a:srgbClr val="5C6B6A"/>
                </a:solidFill>
                <a:latin typeface="Calibri" pitchFamily="34" charset="0"/>
                <a:ea typeface="Calibri" pitchFamily="34" charset="-122"/>
                <a:cs typeface="Calibri" pitchFamily="34" charset="-120"/>
              </a:rPr>
              <a:t>Matching a vendor name on an invoice to the correct existing ledger is the judgment call CAOS escalates rather than guesses.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04</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Register</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The same entries, sliced a different way: by transaction type, in date order.</a:t>
            </a:r>
            <a:endParaRPr lang="en-US" sz="1300" dirty="0"/>
          </a:p>
        </p:txBody>
      </p:sp>
      <p:sp>
        <p:nvSpPr>
          <p:cNvPr id="5" name="Text 3"/>
          <p:cNvSpPr/>
          <p:nvPr/>
        </p:nvSpPr>
        <p:spPr>
          <a:xfrm>
            <a:off x="566928" y="1682496"/>
            <a:ext cx="11064240" cy="365760"/>
          </a:xfrm>
          <a:prstGeom prst="rect">
            <a:avLst/>
          </a:prstGeom>
          <a:noFill/>
          <a:ln/>
        </p:spPr>
        <p:txBody>
          <a:bodyPr wrap="square" lIns="0" tIns="0" rIns="0" bIns="0" rtlCol="0" anchor="t"/>
          <a:lstStyle/>
          <a:p>
            <a:pPr indent="0" marL="0">
              <a:buNone/>
            </a:pPr>
            <a:r>
              <a:rPr lang="en-US" sz="1150" dirty="0">
                <a:solidFill>
                  <a:srgbClr val="0F3D3E"/>
                </a:solidFill>
                <a:latin typeface="Calibri" pitchFamily="34" charset="0"/>
                <a:ea typeface="Calibri" pitchFamily="34" charset="-122"/>
                <a:cs typeface="Calibri" pitchFamily="34" charset="-120"/>
              </a:rPr>
              <a:t>A ledger and a register contain the same underlying data. The difference is how it is organised — and that difference decides what each one is useful for.</a:t>
            </a:r>
            <a:endParaRPr lang="en-US" sz="1150" dirty="0"/>
          </a:p>
        </p:txBody>
      </p:sp>
      <p:sp>
        <p:nvSpPr>
          <p:cNvPr id="6" name="Shape 4"/>
          <p:cNvSpPr/>
          <p:nvPr/>
        </p:nvSpPr>
        <p:spPr>
          <a:xfrm>
            <a:off x="566928" y="2176272"/>
            <a:ext cx="5394960" cy="2523744"/>
          </a:xfrm>
          <a:prstGeom prst="roundRect">
            <a:avLst>
              <a:gd name="adj" fmla="val 2536"/>
            </a:avLst>
          </a:prstGeom>
          <a:solidFill>
            <a:srgbClr val="EFF4F3"/>
          </a:solidFill>
          <a:ln w="12700">
            <a:solidFill>
              <a:srgbClr val="D5E0DE"/>
            </a:solidFill>
            <a:prstDash val="solid"/>
          </a:ln>
        </p:spPr>
      </p:sp>
      <p:sp>
        <p:nvSpPr>
          <p:cNvPr id="7" name="Text 5"/>
          <p:cNvSpPr/>
          <p:nvPr/>
        </p:nvSpPr>
        <p:spPr>
          <a:xfrm>
            <a:off x="804672" y="2286000"/>
            <a:ext cx="4919472" cy="237744"/>
          </a:xfrm>
          <a:prstGeom prst="rect">
            <a:avLst/>
          </a:prstGeom>
          <a:noFill/>
          <a:ln/>
        </p:spPr>
        <p:txBody>
          <a:bodyPr wrap="square" lIns="0" tIns="0" rIns="0" bIns="0" rtlCol="0" anchor="ctr"/>
          <a:lstStyle/>
          <a:p>
            <a:pPr indent="0" marL="0">
              <a:buNone/>
            </a:pPr>
            <a:r>
              <a:rPr lang="en-US" sz="950" b="1" spc="100" kern="0" dirty="0">
                <a:solidFill>
                  <a:srgbClr val="C08428"/>
                </a:solidFill>
                <a:latin typeface="Calibri" pitchFamily="34" charset="0"/>
                <a:ea typeface="Calibri" pitchFamily="34" charset="-122"/>
                <a:cs typeface="Calibri" pitchFamily="34" charset="-120"/>
              </a:rPr>
              <a:t>LEDGER — organised by WHO / WHAT</a:t>
            </a:r>
            <a:endParaRPr lang="en-US" sz="950" dirty="0"/>
          </a:p>
        </p:txBody>
      </p:sp>
      <p:sp>
        <p:nvSpPr>
          <p:cNvPr id="8" name="Text 6"/>
          <p:cNvSpPr/>
          <p:nvPr/>
        </p:nvSpPr>
        <p:spPr>
          <a:xfrm>
            <a:off x="804672" y="2542032"/>
            <a:ext cx="4919472" cy="274320"/>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One account, all its transactions. Answers: “what do we owe this vendor?”</a:t>
            </a:r>
            <a:endParaRPr lang="en-US" sz="1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04672" y="2889504"/>
          <a:ext cx="4919472" cy="914400"/>
        </p:xfrm>
        <a:graphic>
          <a:graphicData uri="http://schemas.openxmlformats.org/drawingml/2006/table">
            <a:tbl>
              <a:tblPr/>
              <a:tblGrid>
                <a:gridCol w="3566160"/>
                <a:gridCol w="1353312"/>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Coastal Components Pvt Ltd</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Amount</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12 Jul  Purchase INV-4417</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1,18,000 Cr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28 Jul  Payment</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70,000 Dr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05 Aug  Purchase INV-4692</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32,000 Cr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bl>
          </a:graphicData>
        </a:graphic>
      </p:graphicFrame>
      <p:sp>
        <p:nvSpPr>
          <p:cNvPr id="10" name="Text 7"/>
          <p:cNvSpPr/>
          <p:nvPr/>
        </p:nvSpPr>
        <p:spPr>
          <a:xfrm>
            <a:off x="804672" y="4169664"/>
            <a:ext cx="4919472" cy="457200"/>
          </a:xfrm>
          <a:prstGeom prst="rect">
            <a:avLst/>
          </a:prstGeom>
          <a:noFill/>
          <a:ln/>
        </p:spPr>
        <p:txBody>
          <a:bodyPr wrap="square" lIns="0" tIns="0" rIns="0" bIns="0" rtlCol="0" anchor="t"/>
          <a:lstStyle/>
          <a:p>
            <a:pPr indent="0" marL="0">
              <a:buNone/>
            </a:pPr>
            <a:r>
              <a:rPr lang="en-US" sz="950" i="1" dirty="0">
                <a:solidFill>
                  <a:srgbClr val="5C6B6A"/>
                </a:solidFill>
                <a:latin typeface="Calibri" pitchFamily="34" charset="0"/>
                <a:ea typeface="Calibri" pitchFamily="34" charset="-122"/>
                <a:cs typeface="Calibri" pitchFamily="34" charset="-120"/>
              </a:rPr>
              <a:t>Used for: balances, statements of account, chasing payment.</a:t>
            </a:r>
            <a:endParaRPr lang="en-US" sz="950" dirty="0"/>
          </a:p>
        </p:txBody>
      </p:sp>
      <p:sp>
        <p:nvSpPr>
          <p:cNvPr id="11" name="Shape 8"/>
          <p:cNvSpPr/>
          <p:nvPr/>
        </p:nvSpPr>
        <p:spPr>
          <a:xfrm>
            <a:off x="6236208" y="2176272"/>
            <a:ext cx="5394960" cy="2523744"/>
          </a:xfrm>
          <a:prstGeom prst="roundRect">
            <a:avLst>
              <a:gd name="adj" fmla="val 2536"/>
            </a:avLst>
          </a:prstGeom>
          <a:solidFill>
            <a:srgbClr val="E2ECEA"/>
          </a:solidFill>
          <a:ln w="12700">
            <a:solidFill>
              <a:srgbClr val="E2ECEA"/>
            </a:solidFill>
            <a:prstDash val="solid"/>
          </a:ln>
        </p:spPr>
      </p:sp>
      <p:sp>
        <p:nvSpPr>
          <p:cNvPr id="12" name="Text 9"/>
          <p:cNvSpPr/>
          <p:nvPr/>
        </p:nvSpPr>
        <p:spPr>
          <a:xfrm>
            <a:off x="6473952" y="2286000"/>
            <a:ext cx="4919472" cy="237744"/>
          </a:xfrm>
          <a:prstGeom prst="rect">
            <a:avLst/>
          </a:prstGeom>
          <a:noFill/>
          <a:ln/>
        </p:spPr>
        <p:txBody>
          <a:bodyPr wrap="square" lIns="0" tIns="0" rIns="0" bIns="0" rtlCol="0" anchor="ctr"/>
          <a:lstStyle/>
          <a:p>
            <a:pPr indent="0" marL="0">
              <a:buNone/>
            </a:pPr>
            <a:r>
              <a:rPr lang="en-US" sz="950" b="1" spc="100" kern="0" dirty="0">
                <a:solidFill>
                  <a:srgbClr val="C08428"/>
                </a:solidFill>
                <a:latin typeface="Calibri" pitchFamily="34" charset="0"/>
                <a:ea typeface="Calibri" pitchFamily="34" charset="-122"/>
                <a:cs typeface="Calibri" pitchFamily="34" charset="-120"/>
              </a:rPr>
              <a:t>REGISTER — organised by WHEN / WHICH TYPE</a:t>
            </a:r>
            <a:endParaRPr lang="en-US" sz="950" dirty="0"/>
          </a:p>
        </p:txBody>
      </p:sp>
      <p:sp>
        <p:nvSpPr>
          <p:cNvPr id="13" name="Text 10"/>
          <p:cNvSpPr/>
          <p:nvPr/>
        </p:nvSpPr>
        <p:spPr>
          <a:xfrm>
            <a:off x="6473952" y="2542032"/>
            <a:ext cx="4919472" cy="274320"/>
          </a:xfrm>
          <a:prstGeom prst="rect">
            <a:avLst/>
          </a:prstGeom>
          <a:noFill/>
          <a:ln/>
        </p:spPr>
        <p:txBody>
          <a:bodyPr wrap="square" lIns="0" tIns="0" rIns="0" bIns="0" rtlCol="0" anchor="ctr"/>
          <a:lstStyle/>
          <a:p>
            <a:pPr indent="0" marL="0">
              <a:buNone/>
            </a:pPr>
            <a:r>
              <a:rPr lang="en-US" sz="1000" dirty="0">
                <a:solidFill>
                  <a:srgbClr val="5C6B6A"/>
                </a:solidFill>
                <a:latin typeface="Calibri" pitchFamily="34" charset="0"/>
                <a:ea typeface="Calibri" pitchFamily="34" charset="-122"/>
                <a:cs typeface="Calibri" pitchFamily="34" charset="-120"/>
              </a:rPr>
              <a:t>One transaction type, all parties, in date order. Answers: “what did we buy in July?”</a:t>
            </a:r>
            <a:endParaRPr lang="en-US" sz="10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73952" y="2889504"/>
          <a:ext cx="4919472" cy="914400"/>
        </p:xfrm>
        <a:graphic>
          <a:graphicData uri="http://schemas.openxmlformats.org/drawingml/2006/table">
            <a:tbl>
              <a:tblPr/>
              <a:tblGrid>
                <a:gridCol w="3566160"/>
                <a:gridCol w="1353312"/>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Purchase Register — July 2026</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algn="r" indent="0" marL="0">
                        <a:buNone/>
                      </a:pPr>
                      <a:r>
                        <a:rPr lang="en-US" sz="900" b="1" dirty="0">
                          <a:solidFill>
                            <a:srgbClr val="FFFFFF"/>
                          </a:solidFill>
                          <a:latin typeface="Calibri" pitchFamily="34" charset="0"/>
                          <a:ea typeface="Calibri" pitchFamily="34" charset="-122"/>
                          <a:cs typeface="Calibri" pitchFamily="34" charset="-120"/>
                        </a:rPr>
                        <a:t>Amount</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05 Jul  Anand Traders  INV-221</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44,000</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12 Jul  Coastal Components  INV-4417</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1,18,000</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274320">
                <a:tc>
                  <a:txBody>
                    <a:bodyPr/>
                    <a:lstStyle/>
                    <a:p>
                      <a:pPr indent="0" marL="0">
                        <a:buNone/>
                      </a:pPr>
                      <a:r>
                        <a:rPr lang="en-US" sz="900" dirty="0">
                          <a:solidFill>
                            <a:srgbClr val="0F3D3E"/>
                          </a:solidFill>
                          <a:latin typeface="Calibri" pitchFamily="34" charset="0"/>
                          <a:ea typeface="Calibri" pitchFamily="34" charset="-122"/>
                          <a:cs typeface="Calibri" pitchFamily="34" charset="-120"/>
                        </a:rPr>
                        <a:t>19 Jul  Meridian Supplies  INV-88</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r" indent="0" marL="0">
                        <a:buNone/>
                      </a:pPr>
                      <a:r>
                        <a:rPr lang="en-US" sz="900" dirty="0">
                          <a:solidFill>
                            <a:srgbClr val="0F3D3E"/>
                          </a:solidFill>
                          <a:latin typeface="Calibri" pitchFamily="34" charset="0"/>
                          <a:ea typeface="Calibri" pitchFamily="34" charset="-122"/>
                          <a:cs typeface="Calibri" pitchFamily="34" charset="-120"/>
                        </a:rPr>
                        <a:t>9,500</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bl>
          </a:graphicData>
        </a:graphic>
      </p:graphicFrame>
      <p:sp>
        <p:nvSpPr>
          <p:cNvPr id="15" name="Text 11"/>
          <p:cNvSpPr/>
          <p:nvPr/>
        </p:nvSpPr>
        <p:spPr>
          <a:xfrm>
            <a:off x="6473952" y="4169664"/>
            <a:ext cx="4919472" cy="457200"/>
          </a:xfrm>
          <a:prstGeom prst="rect">
            <a:avLst/>
          </a:prstGeom>
          <a:noFill/>
          <a:ln/>
        </p:spPr>
        <p:txBody>
          <a:bodyPr wrap="square" lIns="0" tIns="0" rIns="0" bIns="0" rtlCol="0" anchor="t"/>
          <a:lstStyle/>
          <a:p>
            <a:pPr indent="0" marL="0">
              <a:buNone/>
            </a:pPr>
            <a:r>
              <a:rPr lang="en-US" sz="950" i="1" dirty="0">
                <a:solidFill>
                  <a:srgbClr val="5C6B6A"/>
                </a:solidFill>
                <a:latin typeface="Calibri" pitchFamily="34" charset="0"/>
                <a:ea typeface="Calibri" pitchFamily="34" charset="-122"/>
                <a:cs typeface="Calibri" pitchFamily="34" charset="-120"/>
              </a:rPr>
              <a:t>Used for: GST returns, reconciliation against government data, audit sampling.</a:t>
            </a:r>
            <a:endParaRPr lang="en-US" sz="950" dirty="0"/>
          </a:p>
        </p:txBody>
      </p:sp>
      <p:sp>
        <p:nvSpPr>
          <p:cNvPr id="16" name="Shape 12"/>
          <p:cNvSpPr/>
          <p:nvPr/>
        </p:nvSpPr>
        <p:spPr>
          <a:xfrm>
            <a:off x="566928" y="4974336"/>
            <a:ext cx="11064240" cy="822960"/>
          </a:xfrm>
          <a:prstGeom prst="roundRect">
            <a:avLst>
              <a:gd name="adj" fmla="val 7778"/>
            </a:avLst>
          </a:prstGeom>
          <a:solidFill>
            <a:srgbClr val="F3E7CE"/>
          </a:solidFill>
          <a:ln w="12700">
            <a:solidFill>
              <a:srgbClr val="F3E7CE"/>
            </a:solidFill>
            <a:prstDash val="solid"/>
          </a:ln>
        </p:spPr>
      </p:sp>
      <p:sp>
        <p:nvSpPr>
          <p:cNvPr id="17" name="Text 13"/>
          <p:cNvSpPr/>
          <p:nvPr/>
        </p:nvSpPr>
        <p:spPr>
          <a:xfrm>
            <a:off x="768096" y="5056632"/>
            <a:ext cx="1066190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WHY THIS DISTINCTION MATTERS</a:t>
            </a:r>
            <a:endParaRPr lang="en-US" sz="900" dirty="0"/>
          </a:p>
        </p:txBody>
      </p:sp>
      <p:sp>
        <p:nvSpPr>
          <p:cNvPr id="18" name="Text 14"/>
          <p:cNvSpPr/>
          <p:nvPr/>
        </p:nvSpPr>
        <p:spPr>
          <a:xfrm>
            <a:off x="768096" y="5266944"/>
            <a:ext cx="10661904" cy="420624"/>
          </a:xfrm>
          <a:prstGeom prst="rect">
            <a:avLst/>
          </a:prstGeom>
          <a:noFill/>
          <a:ln/>
        </p:spPr>
        <p:txBody>
          <a:bodyPr wrap="square" lIns="0" tIns="0" rIns="0" bIns="0" rtlCol="0" anchor="t"/>
          <a:lstStyle/>
          <a:p>
            <a:pPr indent="0" marL="0">
              <a:lnSpc>
                <a:spcPts val="1344"/>
              </a:lnSpc>
              <a:buNone/>
            </a:pPr>
            <a:r>
              <a:rPr lang="en-US" sz="1050" dirty="0">
                <a:solidFill>
                  <a:srgbClr val="0F3D3E"/>
                </a:solidFill>
                <a:latin typeface="Calibri" pitchFamily="34" charset="0"/>
                <a:ea typeface="Calibri" pitchFamily="34" charset="-122"/>
                <a:cs typeface="Calibri" pitchFamily="34" charset="-120"/>
              </a:rPr>
              <a:t>The purchase register is the exact list the government's GSTR-2B gets compared against, line by line. The sales register is what a GSTR-1 return is built from. Registers are the practice's interface with the outside world — which is why almost every reconciliation in CAOS starts from one.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05</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The registers a practice actually keeps</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Not every client keeps all of them — but these are the books a CA expects to find.</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11064240" cy="914400"/>
        </p:xfrm>
        <a:graphic>
          <a:graphicData uri="http://schemas.openxmlformats.org/drawingml/2006/table">
            <a:tbl>
              <a:tblPr/>
              <a:tblGrid>
                <a:gridCol w="2148840"/>
                <a:gridCol w="3840480"/>
                <a:gridCol w="3977640"/>
                <a:gridCol w="1097280"/>
              </a:tblGrid>
              <a:tr h="47548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Register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holds</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What it is used for</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c>
                  <a:txBody>
                    <a:bodyPr/>
                    <a:lstStyle/>
                    <a:p>
                      <a:pPr algn="ctr" indent="0" marL="0">
                        <a:buNone/>
                      </a:pPr>
                      <a:r>
                        <a:rPr lang="en-US" sz="900" b="1" dirty="0">
                          <a:solidFill>
                            <a:srgbClr val="FFFFFF"/>
                          </a:solidFill>
                          <a:latin typeface="Calibri" pitchFamily="34" charset="0"/>
                          <a:ea typeface="Calibri" pitchFamily="34" charset="-122"/>
                          <a:cs typeface="Calibri" pitchFamily="34" charset="-120"/>
                        </a:rPr>
                        <a:t>Agent</a:t>
                      </a:r>
                      <a:endParaRPr lang="en-US" sz="90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solidFill>
                      <a:srgbClr val="0F3D3E"/>
                    </a:solidFill>
                  </a:tcPr>
                </a:tc>
              </a:tr>
              <a:tr h="475488">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Purchase Register</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Every purchase invoice received, with vendor, GSTIN, taxable value and GST split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Matched against GSTR-2B to claim input tax credit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ctr" indent="0" marL="0">
                        <a:buNone/>
                      </a:pPr>
                      <a:r>
                        <a:rPr lang="en-US" sz="950" b="1" dirty="0">
                          <a:solidFill>
                            <a:srgbClr val="C08428"/>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475488">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Sales Register</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Every sales invoice raised, with customer, GSTIN, HSN and tax charged</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The source data for the GSTR-1 return</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ctr" indent="0" marL="0">
                        <a:buNone/>
                      </a:pPr>
                      <a:r>
                        <a:rPr lang="en-US" sz="950" b="1" dirty="0">
                          <a:solidFill>
                            <a:srgbClr val="C08428"/>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475488">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Cash Book</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All cash received and paid, in date order</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Cash balance verification; a common audit risk area</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ctr" indent="0" marL="0">
                        <a:buNone/>
                      </a:pPr>
                      <a:r>
                        <a:rPr lang="en-US" sz="950" b="1" dirty="0">
                          <a:solidFill>
                            <a:srgbClr val="C08428"/>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475488">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Bank Book</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All bank receipts and payments as recorded in the books</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Reconciled against the bank's own statement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ctr" indent="0" marL="0">
                        <a:buNone/>
                      </a:pPr>
                      <a:r>
                        <a:rPr lang="en-US" sz="950" b="1" dirty="0">
                          <a:solidFill>
                            <a:srgbClr val="C08428"/>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475488">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Journal Register</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Adjustment entries — depreciation, provisions, corrections</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Reviewed closely at year end; heavy judgment content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ctr" indent="0" marL="0">
                        <a:buNone/>
                      </a:pPr>
                      <a:r>
                        <a:rPr lang="en-US" sz="950" b="1" dirty="0">
                          <a:solidFill>
                            <a:srgbClr val="C08428"/>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475488">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Fixed Asset Register</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Every asset owned, with cost, date, and depreciation to date</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Depreciation under Companies Act and Income Tax Act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ctr" indent="0" marL="0">
                        <a:buNone/>
                      </a:pPr>
                      <a:r>
                        <a:rPr lang="en-US" sz="950" b="1" dirty="0">
                          <a:solidFill>
                            <a:srgbClr val="8FA09E"/>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475488">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Stock / Inventory Register</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Quantities and values moving in and out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Closing stock valuation, which drives reported profit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ctr" indent="0" marL="0">
                        <a:buNone/>
                      </a:pPr>
                      <a:r>
                        <a:rPr lang="en-US" sz="950" b="1" dirty="0">
                          <a:solidFill>
                            <a:srgbClr val="8FA09E"/>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r h="475488">
                <a:tc>
                  <a:txBody>
                    <a:bodyPr/>
                    <a:lstStyle/>
                    <a:p>
                      <a:pPr indent="0" marL="0">
                        <a:buNone/>
                      </a:pPr>
                      <a:r>
                        <a:rPr lang="en-US" sz="950" b="1" dirty="0">
                          <a:solidFill>
                            <a:srgbClr val="0F3D3E"/>
                          </a:solidFill>
                          <a:latin typeface="Calibri" pitchFamily="34" charset="0"/>
                          <a:ea typeface="Calibri" pitchFamily="34" charset="-122"/>
                          <a:cs typeface="Calibri" pitchFamily="34" charset="-120"/>
                        </a:rPr>
                        <a:t>Debit / Credit Note Register</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Returns, rate revisions and post-sale adjustments</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indent="0" marL="0">
                        <a:buNone/>
                      </a:pPr>
                      <a:r>
                        <a:rPr lang="en-US" sz="950" dirty="0">
                          <a:solidFill>
                            <a:srgbClr val="5C6B6A"/>
                          </a:solidFill>
                          <a:latin typeface="Calibri" pitchFamily="34" charset="0"/>
                          <a:ea typeface="Calibri" pitchFamily="34" charset="-122"/>
                          <a:cs typeface="Calibri" pitchFamily="34" charset="-120"/>
                        </a:rPr>
                        <a:t>These amend GST already reported — a frequent mismatch source</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c>
                  <a:txBody>
                    <a:bodyPr/>
                    <a:lstStyle/>
                    <a:p>
                      <a:pPr algn="ctr" indent="0" marL="0">
                        <a:buNone/>
                      </a:pPr>
                      <a:r>
                        <a:rPr lang="en-US" sz="950" b="1" dirty="0">
                          <a:solidFill>
                            <a:srgbClr val="C08428"/>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82296" marR="82296" marT="45720" marB="45720" anchor="ctr">
                    <a:lnL w="9525" cap="flat" cmpd="sng" algn="ctr">
                      <a:solidFill>
                        <a:srgbClr val="D5E0DE"/>
                      </a:solidFill>
                      <a:prstDash val="solid"/>
                      <a:round/>
                      <a:headEnd type="none" w="med" len="med"/>
                      <a:tailEnd type="none" w="med" len="med"/>
                    </a:lnL>
                    <a:lnR w="9525" cap="flat" cmpd="sng" algn="ctr">
                      <a:solidFill>
                        <a:srgbClr val="D5E0DE"/>
                      </a:solidFill>
                      <a:prstDash val="solid"/>
                      <a:round/>
                      <a:headEnd type="none" w="med" len="med"/>
                      <a:tailEnd type="none" w="med" len="med"/>
                    </a:lnR>
                    <a:lnT w="9525" cap="flat" cmpd="sng" algn="ctr">
                      <a:solidFill>
                        <a:srgbClr val="D5E0DE"/>
                      </a:solidFill>
                      <a:prstDash val="solid"/>
                      <a:round/>
                      <a:headEnd type="none" w="med" len="med"/>
                      <a:tailEnd type="none" w="med" len="med"/>
                    </a:lnT>
                    <a:lnB w="9525" cap="flat" cmpd="sng" algn="ctr">
                      <a:solidFill>
                        <a:srgbClr val="D5E0DE"/>
                      </a:solidFill>
                      <a:prstDash val="solid"/>
                      <a:round/>
                      <a:headEnd type="none" w="med" len="med"/>
                      <a:tailEnd type="none" w="med" len="med"/>
                    </a:lnB>
                  </a:tcPr>
                </a:tc>
              </a:tr>
            </a:tbl>
          </a:graphicData>
        </a:graphic>
      </p:graphicFrame>
      <p:sp>
        <p:nvSpPr>
          <p:cNvPr id="6" name="Text 3"/>
          <p:cNvSpPr/>
          <p:nvPr/>
        </p:nvSpPr>
        <p:spPr>
          <a:xfrm>
            <a:off x="566928" y="6053328"/>
            <a:ext cx="11064240" cy="274320"/>
          </a:xfrm>
          <a:prstGeom prst="rect">
            <a:avLst/>
          </a:prstGeom>
          <a:noFill/>
          <a:ln/>
        </p:spPr>
        <p:txBody>
          <a:bodyPr wrap="square" lIns="0" tIns="0" rIns="0" bIns="0" rtlCol="0" anchor="ctr"/>
          <a:lstStyle/>
          <a:p>
            <a:pPr indent="0" marL="0">
              <a:buNone/>
            </a:pPr>
            <a:r>
              <a:rPr lang="en-US" sz="950" i="1" dirty="0">
                <a:solidFill>
                  <a:srgbClr val="5C6B6A"/>
                </a:solidFill>
                <a:latin typeface="Calibri" pitchFamily="34" charset="0"/>
                <a:ea typeface="Calibri" pitchFamily="34" charset="-122"/>
                <a:cs typeface="Calibri" pitchFamily="34" charset="-120"/>
              </a:rPr>
              <a:t>“Agent” = the CAOS process in Part 2 that touches this register. “—” means it is out of scope for the current build.</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06</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From vouchers to financial statements</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The accounting cycle. Each step is a pure summary of the one below it.</a:t>
            </a:r>
            <a:endParaRPr lang="en-US" sz="1300" dirty="0"/>
          </a:p>
        </p:txBody>
      </p:sp>
      <p:sp>
        <p:nvSpPr>
          <p:cNvPr id="5" name="Text 3"/>
          <p:cNvSpPr/>
          <p:nvPr/>
        </p:nvSpPr>
        <p:spPr>
          <a:xfrm>
            <a:off x="566928" y="1719072"/>
            <a:ext cx="274320" cy="274320"/>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987552" y="1682496"/>
            <a:ext cx="5669280" cy="256032"/>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Source documents</a:t>
            </a:r>
            <a:endParaRPr lang="en-US" sz="1200" dirty="0"/>
          </a:p>
        </p:txBody>
      </p:sp>
      <p:sp>
        <p:nvSpPr>
          <p:cNvPr id="7" name="Text 5"/>
          <p:cNvSpPr/>
          <p:nvPr/>
        </p:nvSpPr>
        <p:spPr>
          <a:xfrm>
            <a:off x="987552" y="1938528"/>
            <a:ext cx="5669280" cy="548640"/>
          </a:xfrm>
          <a:prstGeom prst="rect">
            <a:avLst/>
          </a:prstGeom>
          <a:noFill/>
          <a:ln/>
        </p:spPr>
        <p:txBody>
          <a:bodyPr wrap="square" lIns="0" tIns="0" rIns="0" bIns="0" rtlCol="0" anchor="t"/>
          <a:lstStyle/>
          <a:p>
            <a:pPr indent="0" marL="0">
              <a:lnSpc>
                <a:spcPts val="1350"/>
              </a:lnSpc>
              <a:buNone/>
            </a:pPr>
            <a:r>
              <a:rPr lang="en-US" sz="1000" dirty="0">
                <a:solidFill>
                  <a:srgbClr val="5C6B6A"/>
                </a:solidFill>
                <a:latin typeface="Calibri" pitchFamily="34" charset="0"/>
                <a:ea typeface="Calibri" pitchFamily="34" charset="-122"/>
                <a:cs typeface="Calibri" pitchFamily="34" charset="-120"/>
              </a:rPr>
              <a:t>Invoices, bank statements, receipts, contracts — the raw evidence that a transaction happened at all.</a:t>
            </a:r>
            <a:endParaRPr lang="en-US" sz="1000" dirty="0"/>
          </a:p>
        </p:txBody>
      </p:sp>
      <p:sp>
        <p:nvSpPr>
          <p:cNvPr id="8" name="Text 6"/>
          <p:cNvSpPr/>
          <p:nvPr/>
        </p:nvSpPr>
        <p:spPr>
          <a:xfrm>
            <a:off x="566928" y="2468880"/>
            <a:ext cx="274320" cy="274320"/>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87552" y="2432304"/>
            <a:ext cx="5669280" cy="256032"/>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Vouchers</a:t>
            </a:r>
            <a:endParaRPr lang="en-US" sz="1200" dirty="0"/>
          </a:p>
        </p:txBody>
      </p:sp>
      <p:sp>
        <p:nvSpPr>
          <p:cNvPr id="10" name="Text 8"/>
          <p:cNvSpPr/>
          <p:nvPr/>
        </p:nvSpPr>
        <p:spPr>
          <a:xfrm>
            <a:off x="987552" y="2688336"/>
            <a:ext cx="5669280" cy="548640"/>
          </a:xfrm>
          <a:prstGeom prst="rect">
            <a:avLst/>
          </a:prstGeom>
          <a:noFill/>
          <a:ln/>
        </p:spPr>
        <p:txBody>
          <a:bodyPr wrap="square" lIns="0" tIns="0" rIns="0" bIns="0" rtlCol="0" anchor="t"/>
          <a:lstStyle/>
          <a:p>
            <a:pPr indent="0" marL="0">
              <a:lnSpc>
                <a:spcPts val="1350"/>
              </a:lnSpc>
              <a:buNone/>
            </a:pPr>
            <a:r>
              <a:rPr lang="en-US" sz="1000" dirty="0">
                <a:solidFill>
                  <a:srgbClr val="5C6B6A"/>
                </a:solidFill>
                <a:latin typeface="Calibri" pitchFamily="34" charset="0"/>
                <a:ea typeface="Calibri" pitchFamily="34" charset="-122"/>
                <a:cs typeface="Calibri" pitchFamily="34" charset="-120"/>
              </a:rPr>
              <a:t>One balanced entry per transaction: dated, classified, debit equal to credit.</a:t>
            </a:r>
            <a:endParaRPr lang="en-US" sz="1000" dirty="0"/>
          </a:p>
        </p:txBody>
      </p:sp>
      <p:sp>
        <p:nvSpPr>
          <p:cNvPr id="11" name="Text 9"/>
          <p:cNvSpPr/>
          <p:nvPr/>
        </p:nvSpPr>
        <p:spPr>
          <a:xfrm>
            <a:off x="566928" y="3218688"/>
            <a:ext cx="274320" cy="274320"/>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2" name="Text 10"/>
          <p:cNvSpPr/>
          <p:nvPr/>
        </p:nvSpPr>
        <p:spPr>
          <a:xfrm>
            <a:off x="987552" y="3182112"/>
            <a:ext cx="5669280" cy="256032"/>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Ledgers &amp; registers</a:t>
            </a:r>
            <a:endParaRPr lang="en-US" sz="1200" dirty="0"/>
          </a:p>
        </p:txBody>
      </p:sp>
      <p:sp>
        <p:nvSpPr>
          <p:cNvPr id="13" name="Text 11"/>
          <p:cNvSpPr/>
          <p:nvPr/>
        </p:nvSpPr>
        <p:spPr>
          <a:xfrm>
            <a:off x="987552" y="3438144"/>
            <a:ext cx="5669280" cy="548640"/>
          </a:xfrm>
          <a:prstGeom prst="rect">
            <a:avLst/>
          </a:prstGeom>
          <a:noFill/>
          <a:ln/>
        </p:spPr>
        <p:txBody>
          <a:bodyPr wrap="square" lIns="0" tIns="0" rIns="0" bIns="0" rtlCol="0" anchor="t"/>
          <a:lstStyle/>
          <a:p>
            <a:pPr indent="0" marL="0">
              <a:lnSpc>
                <a:spcPts val="1350"/>
              </a:lnSpc>
              <a:buNone/>
            </a:pPr>
            <a:r>
              <a:rPr lang="en-US" sz="1000" dirty="0">
                <a:solidFill>
                  <a:srgbClr val="5C6B6A"/>
                </a:solidFill>
                <a:latin typeface="Calibri" pitchFamily="34" charset="0"/>
                <a:ea typeface="Calibri" pitchFamily="34" charset="-122"/>
                <a:cs typeface="Calibri" pitchFamily="34" charset="-120"/>
              </a:rPr>
              <a:t>The same entries accumulate two ways — by account, and by transaction type in date order.</a:t>
            </a:r>
            <a:endParaRPr lang="en-US" sz="1000" dirty="0"/>
          </a:p>
        </p:txBody>
      </p:sp>
      <p:sp>
        <p:nvSpPr>
          <p:cNvPr id="14" name="Text 12"/>
          <p:cNvSpPr/>
          <p:nvPr/>
        </p:nvSpPr>
        <p:spPr>
          <a:xfrm>
            <a:off x="566928" y="3968496"/>
            <a:ext cx="274320" cy="274320"/>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5" name="Text 13"/>
          <p:cNvSpPr/>
          <p:nvPr/>
        </p:nvSpPr>
        <p:spPr>
          <a:xfrm>
            <a:off x="987552" y="3931920"/>
            <a:ext cx="5669280" cy="256032"/>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Trial balance</a:t>
            </a:r>
            <a:endParaRPr lang="en-US" sz="1200" dirty="0"/>
          </a:p>
        </p:txBody>
      </p:sp>
      <p:sp>
        <p:nvSpPr>
          <p:cNvPr id="16" name="Text 14"/>
          <p:cNvSpPr/>
          <p:nvPr/>
        </p:nvSpPr>
        <p:spPr>
          <a:xfrm>
            <a:off x="987552" y="4187952"/>
            <a:ext cx="5669280" cy="548640"/>
          </a:xfrm>
          <a:prstGeom prst="rect">
            <a:avLst/>
          </a:prstGeom>
          <a:noFill/>
          <a:ln/>
        </p:spPr>
        <p:txBody>
          <a:bodyPr wrap="square" lIns="0" tIns="0" rIns="0" bIns="0" rtlCol="0" anchor="t"/>
          <a:lstStyle/>
          <a:p>
            <a:pPr indent="0" marL="0">
              <a:lnSpc>
                <a:spcPts val="1350"/>
              </a:lnSpc>
              <a:buNone/>
            </a:pPr>
            <a:r>
              <a:rPr lang="en-US" sz="1000" dirty="0">
                <a:solidFill>
                  <a:srgbClr val="5C6B6A"/>
                </a:solidFill>
                <a:latin typeface="Calibri" pitchFamily="34" charset="0"/>
                <a:ea typeface="Calibri" pitchFamily="34" charset="-122"/>
                <a:cs typeface="Calibri" pitchFamily="34" charset="-120"/>
              </a:rPr>
              <a:t>Every ledger's closing balance on one page. Total debits must equal total credits; if they don't, something upstream is wrong and has to be found.</a:t>
            </a:r>
            <a:endParaRPr lang="en-US" sz="1000" dirty="0"/>
          </a:p>
        </p:txBody>
      </p:sp>
      <p:sp>
        <p:nvSpPr>
          <p:cNvPr id="17" name="Text 15"/>
          <p:cNvSpPr/>
          <p:nvPr/>
        </p:nvSpPr>
        <p:spPr>
          <a:xfrm>
            <a:off x="566928" y="4718304"/>
            <a:ext cx="274320" cy="274320"/>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8" name="Text 16"/>
          <p:cNvSpPr/>
          <p:nvPr/>
        </p:nvSpPr>
        <p:spPr>
          <a:xfrm>
            <a:off x="987552" y="4681728"/>
            <a:ext cx="5669280" cy="256032"/>
          </a:xfrm>
          <a:prstGeom prst="rect">
            <a:avLst/>
          </a:prstGeom>
          <a:noFill/>
          <a:ln/>
        </p:spPr>
        <p:txBody>
          <a:bodyPr wrap="square" lIns="0" tIns="0" rIns="0" bIns="0" rtlCol="0" anchor="ctr"/>
          <a:lstStyle/>
          <a:p>
            <a:pPr indent="0" marL="0">
              <a:buNone/>
            </a:pPr>
            <a:r>
              <a:rPr lang="en-US" sz="1200" b="1" dirty="0">
                <a:solidFill>
                  <a:srgbClr val="0F3D3E"/>
                </a:solidFill>
                <a:latin typeface="Calibri" pitchFamily="34" charset="0"/>
                <a:ea typeface="Calibri" pitchFamily="34" charset="-122"/>
                <a:cs typeface="Calibri" pitchFamily="34" charset="-120"/>
              </a:rPr>
              <a:t>P&amp;L and Balance Sheet</a:t>
            </a:r>
            <a:endParaRPr lang="en-US" sz="1200" dirty="0"/>
          </a:p>
        </p:txBody>
      </p:sp>
      <p:sp>
        <p:nvSpPr>
          <p:cNvPr id="19" name="Text 17"/>
          <p:cNvSpPr/>
          <p:nvPr/>
        </p:nvSpPr>
        <p:spPr>
          <a:xfrm>
            <a:off x="987552" y="4937760"/>
            <a:ext cx="5669280" cy="548640"/>
          </a:xfrm>
          <a:prstGeom prst="rect">
            <a:avLst/>
          </a:prstGeom>
          <a:noFill/>
          <a:ln/>
        </p:spPr>
        <p:txBody>
          <a:bodyPr wrap="square" lIns="0" tIns="0" rIns="0" bIns="0" rtlCol="0" anchor="t"/>
          <a:lstStyle/>
          <a:p>
            <a:pPr indent="0" marL="0">
              <a:lnSpc>
                <a:spcPts val="1350"/>
              </a:lnSpc>
              <a:buNone/>
            </a:pPr>
            <a:r>
              <a:rPr lang="en-US" sz="1000" dirty="0">
                <a:solidFill>
                  <a:srgbClr val="5C6B6A"/>
                </a:solidFill>
                <a:latin typeface="Calibri" pitchFamily="34" charset="0"/>
                <a:ea typeface="Calibri" pitchFamily="34" charset="-122"/>
                <a:cs typeface="Calibri" pitchFamily="34" charset="-120"/>
              </a:rPr>
              <a:t>P&amp;L: income minus expenses over a period. Balance sheet: what is owned and owed on a single date. Both are pure arithmetic on the trial balance.</a:t>
            </a:r>
            <a:endParaRPr lang="en-US" sz="1000" dirty="0"/>
          </a:p>
        </p:txBody>
      </p:sp>
      <p:sp>
        <p:nvSpPr>
          <p:cNvPr id="20" name="Shape 18"/>
          <p:cNvSpPr/>
          <p:nvPr/>
        </p:nvSpPr>
        <p:spPr>
          <a:xfrm>
            <a:off x="6967728" y="1700784"/>
            <a:ext cx="4023360" cy="548640"/>
          </a:xfrm>
          <a:prstGeom prst="roundRect">
            <a:avLst>
              <a:gd name="adj" fmla="val 8333"/>
            </a:avLst>
          </a:prstGeom>
          <a:solidFill>
            <a:srgbClr val="EFF4F3"/>
          </a:solidFill>
          <a:ln w="12700">
            <a:solidFill>
              <a:srgbClr val="D5E0DE"/>
            </a:solidFill>
            <a:prstDash val="solid"/>
          </a:ln>
        </p:spPr>
      </p:sp>
      <p:sp>
        <p:nvSpPr>
          <p:cNvPr id="21" name="Text 19"/>
          <p:cNvSpPr/>
          <p:nvPr/>
        </p:nvSpPr>
        <p:spPr>
          <a:xfrm>
            <a:off x="7095744" y="1700784"/>
            <a:ext cx="3767328" cy="548640"/>
          </a:xfrm>
          <a:prstGeom prst="rect">
            <a:avLst/>
          </a:prstGeom>
          <a:noFill/>
          <a:ln/>
        </p:spPr>
        <p:txBody>
          <a:bodyPr wrap="square" lIns="0" tIns="0" rIns="0" bIns="0" rtlCol="0" anchor="ctr"/>
          <a:lstStyle/>
          <a:p>
            <a:pPr indent="0" marL="0">
              <a:buNone/>
            </a:pPr>
            <a:r>
              <a:rPr lang="en-US" sz="1150" b="1" dirty="0">
                <a:solidFill>
                  <a:srgbClr val="0F3D3E"/>
                </a:solidFill>
                <a:latin typeface="Calibri" pitchFamily="34" charset="0"/>
                <a:ea typeface="Calibri" pitchFamily="34" charset="-122"/>
                <a:cs typeface="Calibri" pitchFamily="34" charset="-120"/>
              </a:rPr>
              <a:t>Source documents</a:t>
            </a:r>
            <a:endParaRPr lang="en-US" sz="1150" dirty="0"/>
          </a:p>
        </p:txBody>
      </p:sp>
      <p:sp>
        <p:nvSpPr>
          <p:cNvPr id="22" name="Shape 20"/>
          <p:cNvSpPr/>
          <p:nvPr/>
        </p:nvSpPr>
        <p:spPr>
          <a:xfrm>
            <a:off x="7424928" y="2267712"/>
            <a:ext cx="146304" cy="164592"/>
          </a:xfrm>
          <a:prstGeom prst="line">
            <a:avLst/>
          </a:prstGeom>
          <a:noFill/>
          <a:ln w="15875">
            <a:solidFill>
              <a:srgbClr val="9AB0AE"/>
            </a:solidFill>
            <a:prstDash val="solid"/>
            <a:tailEnd type="triangle"/>
          </a:ln>
        </p:spPr>
      </p:sp>
      <p:sp>
        <p:nvSpPr>
          <p:cNvPr id="23" name="Shape 21"/>
          <p:cNvSpPr/>
          <p:nvPr/>
        </p:nvSpPr>
        <p:spPr>
          <a:xfrm>
            <a:off x="7114032" y="2450592"/>
            <a:ext cx="4023360" cy="548640"/>
          </a:xfrm>
          <a:prstGeom prst="roundRect">
            <a:avLst>
              <a:gd name="adj" fmla="val 8333"/>
            </a:avLst>
          </a:prstGeom>
          <a:solidFill>
            <a:srgbClr val="1B5C5D"/>
          </a:solidFill>
          <a:ln w="12700">
            <a:solidFill>
              <a:srgbClr val="1B5C5D"/>
            </a:solidFill>
            <a:prstDash val="solid"/>
          </a:ln>
        </p:spPr>
      </p:sp>
      <p:sp>
        <p:nvSpPr>
          <p:cNvPr id="24" name="Text 22"/>
          <p:cNvSpPr/>
          <p:nvPr/>
        </p:nvSpPr>
        <p:spPr>
          <a:xfrm>
            <a:off x="7242048" y="2450592"/>
            <a:ext cx="3767328"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Vouchers</a:t>
            </a:r>
            <a:endParaRPr lang="en-US" sz="1150" dirty="0"/>
          </a:p>
        </p:txBody>
      </p:sp>
      <p:sp>
        <p:nvSpPr>
          <p:cNvPr id="25" name="Shape 23"/>
          <p:cNvSpPr/>
          <p:nvPr/>
        </p:nvSpPr>
        <p:spPr>
          <a:xfrm>
            <a:off x="7571232" y="3017520"/>
            <a:ext cx="146304" cy="164592"/>
          </a:xfrm>
          <a:prstGeom prst="line">
            <a:avLst/>
          </a:prstGeom>
          <a:noFill/>
          <a:ln w="15875">
            <a:solidFill>
              <a:srgbClr val="9AB0AE"/>
            </a:solidFill>
            <a:prstDash val="solid"/>
            <a:tailEnd type="triangle"/>
          </a:ln>
        </p:spPr>
      </p:sp>
      <p:sp>
        <p:nvSpPr>
          <p:cNvPr id="26" name="Shape 24"/>
          <p:cNvSpPr/>
          <p:nvPr/>
        </p:nvSpPr>
        <p:spPr>
          <a:xfrm>
            <a:off x="7260336" y="3200400"/>
            <a:ext cx="4023360" cy="548640"/>
          </a:xfrm>
          <a:prstGeom prst="roundRect">
            <a:avLst>
              <a:gd name="adj" fmla="val 8333"/>
            </a:avLst>
          </a:prstGeom>
          <a:solidFill>
            <a:srgbClr val="1B5C5D"/>
          </a:solidFill>
          <a:ln w="12700">
            <a:solidFill>
              <a:srgbClr val="1B5C5D"/>
            </a:solidFill>
            <a:prstDash val="solid"/>
          </a:ln>
        </p:spPr>
      </p:sp>
      <p:sp>
        <p:nvSpPr>
          <p:cNvPr id="27" name="Text 25"/>
          <p:cNvSpPr/>
          <p:nvPr/>
        </p:nvSpPr>
        <p:spPr>
          <a:xfrm>
            <a:off x="7388352" y="3200400"/>
            <a:ext cx="3767328"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Ledgers &amp; registers</a:t>
            </a:r>
            <a:endParaRPr lang="en-US" sz="1150" dirty="0"/>
          </a:p>
        </p:txBody>
      </p:sp>
      <p:sp>
        <p:nvSpPr>
          <p:cNvPr id="28" name="Shape 26"/>
          <p:cNvSpPr/>
          <p:nvPr/>
        </p:nvSpPr>
        <p:spPr>
          <a:xfrm>
            <a:off x="7717536" y="3767328"/>
            <a:ext cx="146304" cy="164592"/>
          </a:xfrm>
          <a:prstGeom prst="line">
            <a:avLst/>
          </a:prstGeom>
          <a:noFill/>
          <a:ln w="15875">
            <a:solidFill>
              <a:srgbClr val="9AB0AE"/>
            </a:solidFill>
            <a:prstDash val="solid"/>
            <a:tailEnd type="triangle"/>
          </a:ln>
        </p:spPr>
      </p:sp>
      <p:sp>
        <p:nvSpPr>
          <p:cNvPr id="29" name="Shape 27"/>
          <p:cNvSpPr/>
          <p:nvPr/>
        </p:nvSpPr>
        <p:spPr>
          <a:xfrm>
            <a:off x="7406640" y="3950208"/>
            <a:ext cx="4023360" cy="548640"/>
          </a:xfrm>
          <a:prstGeom prst="roundRect">
            <a:avLst>
              <a:gd name="adj" fmla="val 8333"/>
            </a:avLst>
          </a:prstGeom>
          <a:solidFill>
            <a:srgbClr val="0F3D3E"/>
          </a:solidFill>
          <a:ln w="12700">
            <a:solidFill>
              <a:srgbClr val="0F3D3E"/>
            </a:solidFill>
            <a:prstDash val="solid"/>
          </a:ln>
        </p:spPr>
      </p:sp>
      <p:sp>
        <p:nvSpPr>
          <p:cNvPr id="30" name="Text 28"/>
          <p:cNvSpPr/>
          <p:nvPr/>
        </p:nvSpPr>
        <p:spPr>
          <a:xfrm>
            <a:off x="7534656" y="3950208"/>
            <a:ext cx="3767328"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Trial balance</a:t>
            </a:r>
            <a:endParaRPr lang="en-US" sz="1150" dirty="0"/>
          </a:p>
        </p:txBody>
      </p:sp>
      <p:sp>
        <p:nvSpPr>
          <p:cNvPr id="31" name="Shape 29"/>
          <p:cNvSpPr/>
          <p:nvPr/>
        </p:nvSpPr>
        <p:spPr>
          <a:xfrm>
            <a:off x="7863840" y="4517136"/>
            <a:ext cx="146304" cy="164592"/>
          </a:xfrm>
          <a:prstGeom prst="line">
            <a:avLst/>
          </a:prstGeom>
          <a:noFill/>
          <a:ln w="15875">
            <a:solidFill>
              <a:srgbClr val="9AB0AE"/>
            </a:solidFill>
            <a:prstDash val="solid"/>
            <a:tailEnd type="triangle"/>
          </a:ln>
        </p:spPr>
      </p:sp>
      <p:sp>
        <p:nvSpPr>
          <p:cNvPr id="32" name="Shape 30"/>
          <p:cNvSpPr/>
          <p:nvPr/>
        </p:nvSpPr>
        <p:spPr>
          <a:xfrm>
            <a:off x="7552944" y="4700016"/>
            <a:ext cx="4023360" cy="548640"/>
          </a:xfrm>
          <a:prstGeom prst="roundRect">
            <a:avLst>
              <a:gd name="adj" fmla="val 8333"/>
            </a:avLst>
          </a:prstGeom>
          <a:solidFill>
            <a:srgbClr val="0F3D3E"/>
          </a:solidFill>
          <a:ln w="12700">
            <a:solidFill>
              <a:srgbClr val="0F3D3E"/>
            </a:solidFill>
            <a:prstDash val="solid"/>
          </a:ln>
        </p:spPr>
      </p:sp>
      <p:sp>
        <p:nvSpPr>
          <p:cNvPr id="33" name="Text 31"/>
          <p:cNvSpPr/>
          <p:nvPr/>
        </p:nvSpPr>
        <p:spPr>
          <a:xfrm>
            <a:off x="7680960" y="4700016"/>
            <a:ext cx="3767328" cy="548640"/>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P&amp;L and Balance Sheet</a:t>
            </a:r>
            <a:endParaRPr lang="en-US" sz="1150" dirty="0"/>
          </a:p>
        </p:txBody>
      </p:sp>
      <p:sp>
        <p:nvSpPr>
          <p:cNvPr id="34" name="Shape 32"/>
          <p:cNvSpPr/>
          <p:nvPr/>
        </p:nvSpPr>
        <p:spPr>
          <a:xfrm>
            <a:off x="566928" y="5541264"/>
            <a:ext cx="11064240" cy="749808"/>
          </a:xfrm>
          <a:prstGeom prst="roundRect">
            <a:avLst>
              <a:gd name="adj" fmla="val 8537"/>
            </a:avLst>
          </a:prstGeom>
          <a:solidFill>
            <a:srgbClr val="F3E7CE"/>
          </a:solidFill>
          <a:ln w="12700">
            <a:solidFill>
              <a:srgbClr val="F3E7CE"/>
            </a:solidFill>
            <a:prstDash val="solid"/>
          </a:ln>
        </p:spPr>
      </p:sp>
      <p:sp>
        <p:nvSpPr>
          <p:cNvPr id="35" name="Text 33"/>
          <p:cNvSpPr/>
          <p:nvPr/>
        </p:nvSpPr>
        <p:spPr>
          <a:xfrm>
            <a:off x="768096" y="5623560"/>
            <a:ext cx="1066190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WHERE THE EFFORT REALLY IS</a:t>
            </a:r>
            <a:endParaRPr lang="en-US" sz="900" dirty="0"/>
          </a:p>
        </p:txBody>
      </p:sp>
      <p:sp>
        <p:nvSpPr>
          <p:cNvPr id="36" name="Text 34"/>
          <p:cNvSpPr/>
          <p:nvPr/>
        </p:nvSpPr>
        <p:spPr>
          <a:xfrm>
            <a:off x="768096" y="5833872"/>
            <a:ext cx="10661904" cy="347472"/>
          </a:xfrm>
          <a:prstGeom prst="rect">
            <a:avLst/>
          </a:prstGeom>
          <a:noFill/>
          <a:ln/>
        </p:spPr>
        <p:txBody>
          <a:bodyPr wrap="square" lIns="0" tIns="0" rIns="0" bIns="0" rtlCol="0" anchor="t"/>
          <a:lstStyle/>
          <a:p>
            <a:pPr indent="0" marL="0">
              <a:lnSpc>
                <a:spcPts val="1344"/>
              </a:lnSpc>
              <a:buNone/>
            </a:pPr>
            <a:r>
              <a:rPr lang="en-US" sz="1050" dirty="0">
                <a:solidFill>
                  <a:srgbClr val="0F3D3E"/>
                </a:solidFill>
                <a:latin typeface="Calibri" pitchFamily="34" charset="0"/>
                <a:ea typeface="Calibri" pitchFamily="34" charset="-122"/>
                <a:cs typeface="Calibri" pitchFamily="34" charset="-120"/>
              </a:rPr>
              <a:t>Steps 4 and 5 are almost free once step 2 is clean. A practice doesn't lose time producing a balance sheet — it loses time getting every voucher entered correctly, and then proving the books agree with the tax department's records.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07</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GST — the family of returns</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Two you file, two the government builds for you. Understanding the difference explains the whole reconciliation problem.</a:t>
            </a:r>
            <a:endParaRPr lang="en-US" sz="1300" dirty="0"/>
          </a:p>
        </p:txBody>
      </p:sp>
      <p:sp>
        <p:nvSpPr>
          <p:cNvPr id="5" name="Shape 3"/>
          <p:cNvSpPr/>
          <p:nvPr/>
        </p:nvSpPr>
        <p:spPr>
          <a:xfrm>
            <a:off x="566928" y="1664208"/>
            <a:ext cx="2679192" cy="1572768"/>
          </a:xfrm>
          <a:prstGeom prst="roundRect">
            <a:avLst>
              <a:gd name="adj" fmla="val 4070"/>
            </a:avLst>
          </a:prstGeom>
          <a:solidFill>
            <a:srgbClr val="0F3D3E"/>
          </a:solidFill>
          <a:ln w="12700">
            <a:solidFill>
              <a:srgbClr val="0F3D3E"/>
            </a:solidFill>
            <a:prstDash val="solid"/>
          </a:ln>
        </p:spPr>
      </p:sp>
      <p:sp>
        <p:nvSpPr>
          <p:cNvPr id="6" name="Text 4"/>
          <p:cNvSpPr/>
          <p:nvPr/>
        </p:nvSpPr>
        <p:spPr>
          <a:xfrm>
            <a:off x="786384" y="1792224"/>
            <a:ext cx="224028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GSTR-1</a:t>
            </a:r>
            <a:endParaRPr lang="en-US" sz="1800" dirty="0"/>
          </a:p>
        </p:txBody>
      </p:sp>
      <p:sp>
        <p:nvSpPr>
          <p:cNvPr id="7" name="Text 5"/>
          <p:cNvSpPr/>
          <p:nvPr/>
        </p:nvSpPr>
        <p:spPr>
          <a:xfrm>
            <a:off x="786384" y="2121408"/>
            <a:ext cx="2240280" cy="201168"/>
          </a:xfrm>
          <a:prstGeom prst="rect">
            <a:avLst/>
          </a:prstGeom>
          <a:noFill/>
          <a:ln/>
        </p:spPr>
        <p:txBody>
          <a:bodyPr wrap="square" lIns="0" tIns="0" rIns="0" bIns="0" rtlCol="0" anchor="ctr"/>
          <a:lstStyle/>
          <a:p>
            <a:pPr indent="0" marL="0">
              <a:buNone/>
            </a:pPr>
            <a:r>
              <a:rPr lang="en-US" sz="850" b="1" spc="120" kern="0" dirty="0">
                <a:solidFill>
                  <a:srgbClr val="C08428"/>
                </a:solidFill>
                <a:latin typeface="Calibri" pitchFamily="34" charset="0"/>
                <a:ea typeface="Calibri" pitchFamily="34" charset="-122"/>
                <a:cs typeface="Calibri" pitchFamily="34" charset="-120"/>
              </a:rPr>
              <a:t>YOU FILE IT</a:t>
            </a:r>
            <a:endParaRPr lang="en-US" sz="850" dirty="0"/>
          </a:p>
        </p:txBody>
      </p:sp>
      <p:sp>
        <p:nvSpPr>
          <p:cNvPr id="8" name="Text 6"/>
          <p:cNvSpPr/>
          <p:nvPr/>
        </p:nvSpPr>
        <p:spPr>
          <a:xfrm>
            <a:off x="786384" y="2377440"/>
            <a:ext cx="2240280" cy="749808"/>
          </a:xfrm>
          <a:prstGeom prst="rect">
            <a:avLst/>
          </a:prstGeom>
          <a:noFill/>
          <a:ln/>
        </p:spPr>
        <p:txBody>
          <a:bodyPr wrap="square" lIns="0" tIns="0" rIns="0" bIns="0" rtlCol="0" anchor="t"/>
          <a:lstStyle/>
          <a:p>
            <a:pPr indent="0" marL="0">
              <a:lnSpc>
                <a:spcPts val="1300"/>
              </a:lnSpc>
              <a:buNone/>
            </a:pPr>
            <a:r>
              <a:rPr lang="en-US" sz="1000" dirty="0">
                <a:solidFill>
                  <a:srgbClr val="C3D6D5"/>
                </a:solidFill>
                <a:latin typeface="Calibri" pitchFamily="34" charset="0"/>
                <a:ea typeface="Calibri" pitchFamily="34" charset="-122"/>
                <a:cs typeface="Calibri" pitchFamily="34" charset="-120"/>
              </a:rPr>
              <a:t>Every sale you made this period — invoice by invoice, with the buyer's GSTIN.</a:t>
            </a:r>
            <a:endParaRPr lang="en-US" sz="1000" dirty="0"/>
          </a:p>
        </p:txBody>
      </p:sp>
      <p:sp>
        <p:nvSpPr>
          <p:cNvPr id="9" name="Shape 7"/>
          <p:cNvSpPr/>
          <p:nvPr/>
        </p:nvSpPr>
        <p:spPr>
          <a:xfrm>
            <a:off x="3502152" y="1664208"/>
            <a:ext cx="2679192" cy="1572768"/>
          </a:xfrm>
          <a:prstGeom prst="roundRect">
            <a:avLst>
              <a:gd name="adj" fmla="val 4070"/>
            </a:avLst>
          </a:prstGeom>
          <a:solidFill>
            <a:srgbClr val="0F3D3E"/>
          </a:solidFill>
          <a:ln w="12700">
            <a:solidFill>
              <a:srgbClr val="0F3D3E"/>
            </a:solidFill>
            <a:prstDash val="solid"/>
          </a:ln>
        </p:spPr>
      </p:sp>
      <p:sp>
        <p:nvSpPr>
          <p:cNvPr id="10" name="Text 8"/>
          <p:cNvSpPr/>
          <p:nvPr/>
        </p:nvSpPr>
        <p:spPr>
          <a:xfrm>
            <a:off x="3721608" y="1792224"/>
            <a:ext cx="224028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GSTR-3B</a:t>
            </a:r>
            <a:endParaRPr lang="en-US" sz="1800" dirty="0"/>
          </a:p>
        </p:txBody>
      </p:sp>
      <p:sp>
        <p:nvSpPr>
          <p:cNvPr id="11" name="Text 9"/>
          <p:cNvSpPr/>
          <p:nvPr/>
        </p:nvSpPr>
        <p:spPr>
          <a:xfrm>
            <a:off x="3721608" y="2121408"/>
            <a:ext cx="2240280" cy="201168"/>
          </a:xfrm>
          <a:prstGeom prst="rect">
            <a:avLst/>
          </a:prstGeom>
          <a:noFill/>
          <a:ln/>
        </p:spPr>
        <p:txBody>
          <a:bodyPr wrap="square" lIns="0" tIns="0" rIns="0" bIns="0" rtlCol="0" anchor="ctr"/>
          <a:lstStyle/>
          <a:p>
            <a:pPr indent="0" marL="0">
              <a:buNone/>
            </a:pPr>
            <a:r>
              <a:rPr lang="en-US" sz="850" b="1" spc="120" kern="0" dirty="0">
                <a:solidFill>
                  <a:srgbClr val="C08428"/>
                </a:solidFill>
                <a:latin typeface="Calibri" pitchFamily="34" charset="0"/>
                <a:ea typeface="Calibri" pitchFamily="34" charset="-122"/>
                <a:cs typeface="Calibri" pitchFamily="34" charset="-120"/>
              </a:rPr>
              <a:t>YOU FILE IT</a:t>
            </a:r>
            <a:endParaRPr lang="en-US" sz="850" dirty="0"/>
          </a:p>
        </p:txBody>
      </p:sp>
      <p:sp>
        <p:nvSpPr>
          <p:cNvPr id="12" name="Text 10"/>
          <p:cNvSpPr/>
          <p:nvPr/>
        </p:nvSpPr>
        <p:spPr>
          <a:xfrm>
            <a:off x="3721608" y="2377440"/>
            <a:ext cx="2240280" cy="749808"/>
          </a:xfrm>
          <a:prstGeom prst="rect">
            <a:avLst/>
          </a:prstGeom>
          <a:noFill/>
          <a:ln/>
        </p:spPr>
        <p:txBody>
          <a:bodyPr wrap="square" lIns="0" tIns="0" rIns="0" bIns="0" rtlCol="0" anchor="t"/>
          <a:lstStyle/>
          <a:p>
            <a:pPr indent="0" marL="0">
              <a:lnSpc>
                <a:spcPts val="1300"/>
              </a:lnSpc>
              <a:buNone/>
            </a:pPr>
            <a:r>
              <a:rPr lang="en-US" sz="1000" dirty="0">
                <a:solidFill>
                  <a:srgbClr val="C3D6D5"/>
                </a:solidFill>
                <a:latin typeface="Calibri" pitchFamily="34" charset="0"/>
                <a:ea typeface="Calibri" pitchFamily="34" charset="-122"/>
                <a:cs typeface="Calibri" pitchFamily="34" charset="-120"/>
              </a:rPr>
              <a:t>The summary return where tax is actually paid, and where input tax credit is claimed.</a:t>
            </a:r>
            <a:endParaRPr lang="en-US" sz="1000" dirty="0"/>
          </a:p>
        </p:txBody>
      </p:sp>
      <p:sp>
        <p:nvSpPr>
          <p:cNvPr id="13" name="Shape 11"/>
          <p:cNvSpPr/>
          <p:nvPr/>
        </p:nvSpPr>
        <p:spPr>
          <a:xfrm>
            <a:off x="6437376" y="1664208"/>
            <a:ext cx="2679192" cy="1572768"/>
          </a:xfrm>
          <a:prstGeom prst="roundRect">
            <a:avLst>
              <a:gd name="adj" fmla="val 4070"/>
            </a:avLst>
          </a:prstGeom>
          <a:solidFill>
            <a:srgbClr val="1B5C5D"/>
          </a:solidFill>
          <a:ln w="12700">
            <a:solidFill>
              <a:srgbClr val="1B5C5D"/>
            </a:solidFill>
            <a:prstDash val="solid"/>
          </a:ln>
        </p:spPr>
      </p:sp>
      <p:sp>
        <p:nvSpPr>
          <p:cNvPr id="14" name="Text 12"/>
          <p:cNvSpPr/>
          <p:nvPr/>
        </p:nvSpPr>
        <p:spPr>
          <a:xfrm>
            <a:off x="6656832" y="1792224"/>
            <a:ext cx="224028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GSTR-2A</a:t>
            </a:r>
            <a:endParaRPr lang="en-US" sz="1800" dirty="0"/>
          </a:p>
        </p:txBody>
      </p:sp>
      <p:sp>
        <p:nvSpPr>
          <p:cNvPr id="15" name="Text 13"/>
          <p:cNvSpPr/>
          <p:nvPr/>
        </p:nvSpPr>
        <p:spPr>
          <a:xfrm>
            <a:off x="6656832" y="2121408"/>
            <a:ext cx="2240280" cy="201168"/>
          </a:xfrm>
          <a:prstGeom prst="rect">
            <a:avLst/>
          </a:prstGeom>
          <a:noFill/>
          <a:ln/>
        </p:spPr>
        <p:txBody>
          <a:bodyPr wrap="square" lIns="0" tIns="0" rIns="0" bIns="0" rtlCol="0" anchor="ctr"/>
          <a:lstStyle/>
          <a:p>
            <a:pPr indent="0" marL="0">
              <a:buNone/>
            </a:pPr>
            <a:r>
              <a:rPr lang="en-US" sz="850" b="1" spc="120" kern="0" dirty="0">
                <a:solidFill>
                  <a:srgbClr val="C08428"/>
                </a:solidFill>
                <a:latin typeface="Calibri" pitchFamily="34" charset="0"/>
                <a:ea typeface="Calibri" pitchFamily="34" charset="-122"/>
                <a:cs typeface="Calibri" pitchFamily="34" charset="-120"/>
              </a:rPr>
              <a:t>AUTO-GENERATED</a:t>
            </a:r>
            <a:endParaRPr lang="en-US" sz="850" dirty="0"/>
          </a:p>
        </p:txBody>
      </p:sp>
      <p:sp>
        <p:nvSpPr>
          <p:cNvPr id="16" name="Text 14"/>
          <p:cNvSpPr/>
          <p:nvPr/>
        </p:nvSpPr>
        <p:spPr>
          <a:xfrm>
            <a:off x="6656832" y="2377440"/>
            <a:ext cx="2240280" cy="749808"/>
          </a:xfrm>
          <a:prstGeom prst="rect">
            <a:avLst/>
          </a:prstGeom>
          <a:noFill/>
          <a:ln/>
        </p:spPr>
        <p:txBody>
          <a:bodyPr wrap="square" lIns="0" tIns="0" rIns="0" bIns="0" rtlCol="0" anchor="t"/>
          <a:lstStyle/>
          <a:p>
            <a:pPr indent="0" marL="0">
              <a:lnSpc>
                <a:spcPts val="1300"/>
              </a:lnSpc>
              <a:buNone/>
            </a:pPr>
            <a:r>
              <a:rPr lang="en-US" sz="1000" dirty="0">
                <a:solidFill>
                  <a:srgbClr val="C3D6D5"/>
                </a:solidFill>
                <a:latin typeface="Calibri" pitchFamily="34" charset="0"/>
                <a:ea typeface="Calibri" pitchFamily="34" charset="-122"/>
                <a:cs typeface="Calibri" pitchFamily="34" charset="-120"/>
              </a:rPr>
              <a:t>A live view of what your suppliers have reported selling to you. It keeps changing as they file.</a:t>
            </a:r>
            <a:endParaRPr lang="en-US" sz="1000" dirty="0"/>
          </a:p>
        </p:txBody>
      </p:sp>
      <p:sp>
        <p:nvSpPr>
          <p:cNvPr id="17" name="Shape 15"/>
          <p:cNvSpPr/>
          <p:nvPr/>
        </p:nvSpPr>
        <p:spPr>
          <a:xfrm>
            <a:off x="9372600" y="1664208"/>
            <a:ext cx="2679192" cy="1572768"/>
          </a:xfrm>
          <a:prstGeom prst="roundRect">
            <a:avLst>
              <a:gd name="adj" fmla="val 4070"/>
            </a:avLst>
          </a:prstGeom>
          <a:solidFill>
            <a:srgbClr val="1B5C5D"/>
          </a:solidFill>
          <a:ln w="12700">
            <a:solidFill>
              <a:srgbClr val="1B5C5D"/>
            </a:solidFill>
            <a:prstDash val="solid"/>
          </a:ln>
        </p:spPr>
      </p:sp>
      <p:sp>
        <p:nvSpPr>
          <p:cNvPr id="18" name="Text 16"/>
          <p:cNvSpPr/>
          <p:nvPr/>
        </p:nvSpPr>
        <p:spPr>
          <a:xfrm>
            <a:off x="9592056" y="1792224"/>
            <a:ext cx="2240280" cy="329184"/>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GSTR-2B</a:t>
            </a:r>
            <a:endParaRPr lang="en-US" sz="1800" dirty="0"/>
          </a:p>
        </p:txBody>
      </p:sp>
      <p:sp>
        <p:nvSpPr>
          <p:cNvPr id="19" name="Text 17"/>
          <p:cNvSpPr/>
          <p:nvPr/>
        </p:nvSpPr>
        <p:spPr>
          <a:xfrm>
            <a:off x="9592056" y="2121408"/>
            <a:ext cx="2240280" cy="201168"/>
          </a:xfrm>
          <a:prstGeom prst="rect">
            <a:avLst/>
          </a:prstGeom>
          <a:noFill/>
          <a:ln/>
        </p:spPr>
        <p:txBody>
          <a:bodyPr wrap="square" lIns="0" tIns="0" rIns="0" bIns="0" rtlCol="0" anchor="ctr"/>
          <a:lstStyle/>
          <a:p>
            <a:pPr indent="0" marL="0">
              <a:buNone/>
            </a:pPr>
            <a:r>
              <a:rPr lang="en-US" sz="850" b="1" spc="120" kern="0" dirty="0">
                <a:solidFill>
                  <a:srgbClr val="C08428"/>
                </a:solidFill>
                <a:latin typeface="Calibri" pitchFamily="34" charset="0"/>
                <a:ea typeface="Calibri" pitchFamily="34" charset="-122"/>
                <a:cs typeface="Calibri" pitchFamily="34" charset="-120"/>
              </a:rPr>
              <a:t>AUTO-GENERATED</a:t>
            </a:r>
            <a:endParaRPr lang="en-US" sz="850" dirty="0"/>
          </a:p>
        </p:txBody>
      </p:sp>
      <p:sp>
        <p:nvSpPr>
          <p:cNvPr id="20" name="Text 18"/>
          <p:cNvSpPr/>
          <p:nvPr/>
        </p:nvSpPr>
        <p:spPr>
          <a:xfrm>
            <a:off x="9592056" y="2377440"/>
            <a:ext cx="2240280" cy="749808"/>
          </a:xfrm>
          <a:prstGeom prst="rect">
            <a:avLst/>
          </a:prstGeom>
          <a:noFill/>
          <a:ln/>
        </p:spPr>
        <p:txBody>
          <a:bodyPr wrap="square" lIns="0" tIns="0" rIns="0" bIns="0" rtlCol="0" anchor="t"/>
          <a:lstStyle/>
          <a:p>
            <a:pPr indent="0" marL="0">
              <a:lnSpc>
                <a:spcPts val="1300"/>
              </a:lnSpc>
              <a:buNone/>
            </a:pPr>
            <a:r>
              <a:rPr lang="en-US" sz="1000" dirty="0">
                <a:solidFill>
                  <a:srgbClr val="C3D6D5"/>
                </a:solidFill>
                <a:latin typeface="Calibri" pitchFamily="34" charset="0"/>
                <a:ea typeface="Calibri" pitchFamily="34" charset="-122"/>
                <a:cs typeface="Calibri" pitchFamily="34" charset="-120"/>
              </a:rPr>
              <a:t>A frozen monthly snapshot of the same thing. This is the one credit claims are tested against.</a:t>
            </a:r>
            <a:endParaRPr lang="en-US" sz="1000" dirty="0"/>
          </a:p>
        </p:txBody>
      </p:sp>
      <p:sp>
        <p:nvSpPr>
          <p:cNvPr id="21" name="Text 19"/>
          <p:cNvSpPr/>
          <p:nvPr/>
        </p:nvSpPr>
        <p:spPr>
          <a:xfrm>
            <a:off x="566928" y="3493008"/>
            <a:ext cx="11064240" cy="219456"/>
          </a:xfrm>
          <a:prstGeom prst="rect">
            <a:avLst/>
          </a:prstGeom>
          <a:noFill/>
          <a:ln/>
        </p:spPr>
        <p:txBody>
          <a:bodyPr wrap="square" lIns="0" tIns="0" rIns="0" bIns="0" rtlCol="0" anchor="ctr"/>
          <a:lstStyle/>
          <a:p>
            <a:pPr indent="0" marL="0">
              <a:buNone/>
            </a:pPr>
            <a:r>
              <a:rPr lang="en-US" sz="900" b="1" spc="140" kern="0" dirty="0">
                <a:solidFill>
                  <a:srgbClr val="C08428"/>
                </a:solidFill>
                <a:latin typeface="Calibri" pitchFamily="34" charset="0"/>
                <a:ea typeface="Calibri" pitchFamily="34" charset="-122"/>
                <a:cs typeface="Calibri" pitchFamily="34" charset="-120"/>
              </a:rPr>
              <a:t>HOW INPUT TAX CREDIT ACTUALLY FLOWS</a:t>
            </a:r>
            <a:endParaRPr lang="en-US" sz="900" dirty="0"/>
          </a:p>
        </p:txBody>
      </p:sp>
      <p:sp>
        <p:nvSpPr>
          <p:cNvPr id="22" name="Text 20"/>
          <p:cNvSpPr/>
          <p:nvPr/>
        </p:nvSpPr>
        <p:spPr>
          <a:xfrm>
            <a:off x="566928" y="3803904"/>
            <a:ext cx="2048256" cy="786384"/>
          </a:xfrm>
          <a:prstGeom prst="roundRect">
            <a:avLst>
              <a:gd name="adj" fmla="val 5814"/>
            </a:avLst>
          </a:prstGeom>
          <a:solidFill>
            <a:srgbClr val="EFF4F3"/>
          </a:solidFill>
          <a:ln w="12700">
            <a:solidFill>
              <a:srgbClr val="D5E0DE"/>
            </a:solidFill>
            <a:prstDash val="solid"/>
          </a:ln>
        </p:spPr>
        <p:txBody>
          <a:bodyPr wrap="square" lIns="0" tIns="0" rIns="0" bIns="0" rtlCol="0" anchor="ctr"/>
          <a:lstStyle/>
          <a:p>
            <a:pPr algn="ctr" indent="0" marL="0">
              <a:lnSpc>
                <a:spcPts val="1121"/>
              </a:lnSpc>
              <a:buNone/>
            </a:pPr>
            <a:r>
              <a:rPr lang="en-US" sz="950" b="1" dirty="0">
                <a:solidFill>
                  <a:srgbClr val="0F3D3E"/>
                </a:solidFill>
                <a:latin typeface="Calibri" pitchFamily="34" charset="0"/>
                <a:ea typeface="Calibri" pitchFamily="34" charset="-122"/>
                <a:cs typeface="Calibri" pitchFamily="34" charset="-120"/>
              </a:rPr>
              <a:t>Your supplier</a:t>
            </a:r>
            <a:endParaRPr lang="en-US" sz="950" dirty="0"/>
          </a:p>
          <a:p>
            <a:pPr algn="ctr" indent="0" marL="0">
              <a:lnSpc>
                <a:spcPts val="1121"/>
              </a:lnSpc>
              <a:buNone/>
            </a:pPr>
            <a:r>
              <a:rPr lang="en-US" sz="950" b="1" dirty="0">
                <a:solidFill>
                  <a:srgbClr val="0F3D3E"/>
                </a:solidFill>
                <a:latin typeface="Calibri" pitchFamily="34" charset="0"/>
                <a:ea typeface="Calibri" pitchFamily="34" charset="-122"/>
                <a:cs typeface="Calibri" pitchFamily="34" charset="-120"/>
              </a:rPr>
              <a:t>files their GSTR-1</a:t>
            </a:r>
            <a:endParaRPr lang="en-US" sz="950" dirty="0"/>
          </a:p>
        </p:txBody>
      </p:sp>
      <p:sp>
        <p:nvSpPr>
          <p:cNvPr id="23" name="Shape 21"/>
          <p:cNvSpPr/>
          <p:nvPr/>
        </p:nvSpPr>
        <p:spPr>
          <a:xfrm>
            <a:off x="2633472" y="4197096"/>
            <a:ext cx="182880" cy="0"/>
          </a:xfrm>
          <a:prstGeom prst="line">
            <a:avLst/>
          </a:prstGeom>
          <a:noFill/>
          <a:ln w="15875">
            <a:solidFill>
              <a:srgbClr val="9AB0AE"/>
            </a:solidFill>
            <a:prstDash val="solid"/>
            <a:tailEnd type="triangle"/>
          </a:ln>
        </p:spPr>
      </p:sp>
      <p:sp>
        <p:nvSpPr>
          <p:cNvPr id="24" name="Text 22"/>
          <p:cNvSpPr/>
          <p:nvPr/>
        </p:nvSpPr>
        <p:spPr>
          <a:xfrm>
            <a:off x="2834640" y="3803904"/>
            <a:ext cx="2048256" cy="786384"/>
          </a:xfrm>
          <a:prstGeom prst="roundRect">
            <a:avLst>
              <a:gd name="adj" fmla="val 5814"/>
            </a:avLst>
          </a:prstGeom>
          <a:solidFill>
            <a:srgbClr val="EFF4F3"/>
          </a:solidFill>
          <a:ln w="12700">
            <a:solidFill>
              <a:srgbClr val="D5E0DE"/>
            </a:solidFill>
            <a:prstDash val="solid"/>
          </a:ln>
        </p:spPr>
        <p:txBody>
          <a:bodyPr wrap="square" lIns="0" tIns="0" rIns="0" bIns="0" rtlCol="0" anchor="ctr"/>
          <a:lstStyle/>
          <a:p>
            <a:pPr algn="ctr" indent="0" marL="0">
              <a:lnSpc>
                <a:spcPts val="1121"/>
              </a:lnSpc>
              <a:buNone/>
            </a:pPr>
            <a:r>
              <a:rPr lang="en-US" sz="950" b="1" dirty="0">
                <a:solidFill>
                  <a:srgbClr val="0F3D3E"/>
                </a:solidFill>
                <a:latin typeface="Calibri" pitchFamily="34" charset="0"/>
                <a:ea typeface="Calibri" pitchFamily="34" charset="-122"/>
                <a:cs typeface="Calibri" pitchFamily="34" charset="-120"/>
              </a:rPr>
              <a:t>It appears in</a:t>
            </a:r>
            <a:endParaRPr lang="en-US" sz="950" dirty="0"/>
          </a:p>
          <a:p>
            <a:pPr algn="ctr" indent="0" marL="0">
              <a:lnSpc>
                <a:spcPts val="1121"/>
              </a:lnSpc>
              <a:buNone/>
            </a:pPr>
            <a:r>
              <a:rPr lang="en-US" sz="950" b="1" dirty="0">
                <a:solidFill>
                  <a:srgbClr val="0F3D3E"/>
                </a:solidFill>
                <a:latin typeface="Calibri" pitchFamily="34" charset="0"/>
                <a:ea typeface="Calibri" pitchFamily="34" charset="-122"/>
                <a:cs typeface="Calibri" pitchFamily="34" charset="-120"/>
              </a:rPr>
              <a:t>your GSTR-2A / 2B</a:t>
            </a:r>
            <a:endParaRPr lang="en-US" sz="950" dirty="0"/>
          </a:p>
        </p:txBody>
      </p:sp>
      <p:sp>
        <p:nvSpPr>
          <p:cNvPr id="25" name="Shape 23"/>
          <p:cNvSpPr/>
          <p:nvPr/>
        </p:nvSpPr>
        <p:spPr>
          <a:xfrm>
            <a:off x="4901184" y="4197096"/>
            <a:ext cx="182880" cy="0"/>
          </a:xfrm>
          <a:prstGeom prst="line">
            <a:avLst/>
          </a:prstGeom>
          <a:noFill/>
          <a:ln w="15875">
            <a:solidFill>
              <a:srgbClr val="9AB0AE"/>
            </a:solidFill>
            <a:prstDash val="solid"/>
            <a:tailEnd type="triangle"/>
          </a:ln>
        </p:spPr>
      </p:sp>
      <p:sp>
        <p:nvSpPr>
          <p:cNvPr id="26" name="Text 24"/>
          <p:cNvSpPr/>
          <p:nvPr/>
        </p:nvSpPr>
        <p:spPr>
          <a:xfrm>
            <a:off x="5102352" y="3803904"/>
            <a:ext cx="2048256" cy="786384"/>
          </a:xfrm>
          <a:prstGeom prst="roundRect">
            <a:avLst>
              <a:gd name="adj" fmla="val 5814"/>
            </a:avLst>
          </a:prstGeom>
          <a:solidFill>
            <a:srgbClr val="EFF4F3"/>
          </a:solidFill>
          <a:ln w="12700">
            <a:solidFill>
              <a:srgbClr val="D5E0DE"/>
            </a:solidFill>
            <a:prstDash val="solid"/>
          </a:ln>
        </p:spPr>
        <p:txBody>
          <a:bodyPr wrap="square" lIns="0" tIns="0" rIns="0" bIns="0" rtlCol="0" anchor="ctr"/>
          <a:lstStyle/>
          <a:p>
            <a:pPr algn="ctr" indent="0" marL="0">
              <a:lnSpc>
                <a:spcPts val="1121"/>
              </a:lnSpc>
              <a:buNone/>
            </a:pPr>
            <a:r>
              <a:rPr lang="en-US" sz="950" b="1" dirty="0">
                <a:solidFill>
                  <a:srgbClr val="0F3D3E"/>
                </a:solidFill>
                <a:latin typeface="Calibri" pitchFamily="34" charset="0"/>
                <a:ea typeface="Calibri" pitchFamily="34" charset="-122"/>
                <a:cs typeface="Calibri" pitchFamily="34" charset="-120"/>
              </a:rPr>
              <a:t>You match it against</a:t>
            </a:r>
            <a:endParaRPr lang="en-US" sz="950" dirty="0"/>
          </a:p>
          <a:p>
            <a:pPr algn="ctr" indent="0" marL="0">
              <a:lnSpc>
                <a:spcPts val="1121"/>
              </a:lnSpc>
              <a:buNone/>
            </a:pPr>
            <a:r>
              <a:rPr lang="en-US" sz="950" b="1" dirty="0">
                <a:solidFill>
                  <a:srgbClr val="0F3D3E"/>
                </a:solidFill>
                <a:latin typeface="Calibri" pitchFamily="34" charset="0"/>
                <a:ea typeface="Calibri" pitchFamily="34" charset="-122"/>
                <a:cs typeface="Calibri" pitchFamily="34" charset="-120"/>
              </a:rPr>
              <a:t>your purchase register</a:t>
            </a:r>
            <a:endParaRPr lang="en-US" sz="950" dirty="0"/>
          </a:p>
        </p:txBody>
      </p:sp>
      <p:sp>
        <p:nvSpPr>
          <p:cNvPr id="27" name="Shape 25"/>
          <p:cNvSpPr/>
          <p:nvPr/>
        </p:nvSpPr>
        <p:spPr>
          <a:xfrm>
            <a:off x="7168896" y="4197096"/>
            <a:ext cx="182880" cy="0"/>
          </a:xfrm>
          <a:prstGeom prst="line">
            <a:avLst/>
          </a:prstGeom>
          <a:noFill/>
          <a:ln w="15875">
            <a:solidFill>
              <a:srgbClr val="9AB0AE"/>
            </a:solidFill>
            <a:prstDash val="solid"/>
            <a:tailEnd type="triangle"/>
          </a:ln>
        </p:spPr>
      </p:sp>
      <p:sp>
        <p:nvSpPr>
          <p:cNvPr id="28" name="Text 26"/>
          <p:cNvSpPr/>
          <p:nvPr/>
        </p:nvSpPr>
        <p:spPr>
          <a:xfrm>
            <a:off x="7370064" y="3803904"/>
            <a:ext cx="2048256" cy="786384"/>
          </a:xfrm>
          <a:prstGeom prst="roundRect">
            <a:avLst>
              <a:gd name="adj" fmla="val 5814"/>
            </a:avLst>
          </a:prstGeom>
          <a:solidFill>
            <a:srgbClr val="2E7D5B"/>
          </a:solidFill>
          <a:ln w="12700">
            <a:solidFill>
              <a:srgbClr val="2E7D5B"/>
            </a:solidFill>
            <a:prstDash val="solid"/>
          </a:ln>
        </p:spPr>
        <p:txBody>
          <a:bodyPr wrap="square" lIns="0" tIns="0" rIns="0" bIns="0" rtlCol="0" anchor="ctr"/>
          <a:lstStyle/>
          <a:p>
            <a:pPr algn="ctr" indent="0" marL="0">
              <a:lnSpc>
                <a:spcPts val="1121"/>
              </a:lnSpc>
              <a:buNone/>
            </a:pPr>
            <a:r>
              <a:rPr lang="en-US" sz="950" b="1" dirty="0">
                <a:solidFill>
                  <a:srgbClr val="FFFFFF"/>
                </a:solidFill>
                <a:latin typeface="Calibri" pitchFamily="34" charset="0"/>
                <a:ea typeface="Calibri" pitchFamily="34" charset="-122"/>
                <a:cs typeface="Calibri" pitchFamily="34" charset="-120"/>
              </a:rPr>
              <a:t>Only matched credit</a:t>
            </a:r>
            <a:endParaRPr lang="en-US" sz="950" dirty="0"/>
          </a:p>
          <a:p>
            <a:pPr algn="ctr" indent="0" marL="0">
              <a:lnSpc>
                <a:spcPts val="1121"/>
              </a:lnSpc>
              <a:buNone/>
            </a:pPr>
            <a:r>
              <a:rPr lang="en-US" sz="950" b="1" dirty="0">
                <a:solidFill>
                  <a:srgbClr val="FFFFFF"/>
                </a:solidFill>
                <a:latin typeface="Calibri" pitchFamily="34" charset="0"/>
                <a:ea typeface="Calibri" pitchFamily="34" charset="-122"/>
                <a:cs typeface="Calibri" pitchFamily="34" charset="-120"/>
              </a:rPr>
              <a:t>is claimed in GSTR-3B</a:t>
            </a:r>
            <a:endParaRPr lang="en-US" sz="950" dirty="0"/>
          </a:p>
        </p:txBody>
      </p:sp>
      <p:sp>
        <p:nvSpPr>
          <p:cNvPr id="29" name="Shape 27"/>
          <p:cNvSpPr/>
          <p:nvPr/>
        </p:nvSpPr>
        <p:spPr>
          <a:xfrm>
            <a:off x="9436608" y="4197096"/>
            <a:ext cx="182880" cy="0"/>
          </a:xfrm>
          <a:prstGeom prst="line">
            <a:avLst/>
          </a:prstGeom>
          <a:noFill/>
          <a:ln w="15875">
            <a:solidFill>
              <a:srgbClr val="9AB0AE"/>
            </a:solidFill>
            <a:prstDash val="solid"/>
            <a:tailEnd type="triangle"/>
          </a:ln>
        </p:spPr>
      </p:sp>
      <p:sp>
        <p:nvSpPr>
          <p:cNvPr id="30" name="Text 28"/>
          <p:cNvSpPr/>
          <p:nvPr/>
        </p:nvSpPr>
        <p:spPr>
          <a:xfrm>
            <a:off x="9637776" y="3803904"/>
            <a:ext cx="2048256" cy="786384"/>
          </a:xfrm>
          <a:prstGeom prst="roundRect">
            <a:avLst>
              <a:gd name="adj" fmla="val 5814"/>
            </a:avLst>
          </a:prstGeom>
          <a:solidFill>
            <a:srgbClr val="B5563F"/>
          </a:solidFill>
          <a:ln w="12700">
            <a:solidFill>
              <a:srgbClr val="B5563F"/>
            </a:solidFill>
            <a:prstDash val="solid"/>
          </a:ln>
        </p:spPr>
        <p:txBody>
          <a:bodyPr wrap="square" lIns="0" tIns="0" rIns="0" bIns="0" rtlCol="0" anchor="ctr"/>
          <a:lstStyle/>
          <a:p>
            <a:pPr algn="ctr" indent="0" marL="0">
              <a:lnSpc>
                <a:spcPts val="1121"/>
              </a:lnSpc>
              <a:buNone/>
            </a:pPr>
            <a:r>
              <a:rPr lang="en-US" sz="950" b="1" dirty="0">
                <a:solidFill>
                  <a:srgbClr val="FFFFFF"/>
                </a:solidFill>
                <a:latin typeface="Calibri" pitchFamily="34" charset="0"/>
                <a:ea typeface="Calibri" pitchFamily="34" charset="-122"/>
                <a:cs typeface="Calibri" pitchFamily="34" charset="-120"/>
              </a:rPr>
              <a:t>Unmatched credit =</a:t>
            </a:r>
            <a:endParaRPr lang="en-US" sz="950" dirty="0"/>
          </a:p>
          <a:p>
            <a:pPr algn="ctr" indent="0" marL="0">
              <a:lnSpc>
                <a:spcPts val="1121"/>
              </a:lnSpc>
              <a:buNone/>
            </a:pPr>
            <a:r>
              <a:rPr lang="en-US" sz="950" b="1" dirty="0">
                <a:solidFill>
                  <a:srgbClr val="FFFFFF"/>
                </a:solidFill>
                <a:latin typeface="Calibri" pitchFamily="34" charset="0"/>
                <a:ea typeface="Calibri" pitchFamily="34" charset="-122"/>
                <a:cs typeface="Calibri" pitchFamily="34" charset="-120"/>
              </a:rPr>
              <a:t>cash you cannot claim</a:t>
            </a:r>
            <a:endParaRPr lang="en-US" sz="950" dirty="0"/>
          </a:p>
        </p:txBody>
      </p:sp>
      <p:sp>
        <p:nvSpPr>
          <p:cNvPr id="31" name="Shape 29"/>
          <p:cNvSpPr/>
          <p:nvPr/>
        </p:nvSpPr>
        <p:spPr>
          <a:xfrm>
            <a:off x="566928" y="4828032"/>
            <a:ext cx="5394960" cy="1170432"/>
          </a:xfrm>
          <a:prstGeom prst="roundRect">
            <a:avLst>
              <a:gd name="adj" fmla="val 5469"/>
            </a:avLst>
          </a:prstGeom>
          <a:solidFill>
            <a:srgbClr val="F6E5E0"/>
          </a:solidFill>
          <a:ln w="12700">
            <a:solidFill>
              <a:srgbClr val="F6E5E0"/>
            </a:solidFill>
            <a:prstDash val="solid"/>
          </a:ln>
        </p:spPr>
      </p:sp>
      <p:sp>
        <p:nvSpPr>
          <p:cNvPr id="32" name="Text 30"/>
          <p:cNvSpPr/>
          <p:nvPr/>
        </p:nvSpPr>
        <p:spPr>
          <a:xfrm>
            <a:off x="768096" y="4910328"/>
            <a:ext cx="4992624" cy="201168"/>
          </a:xfrm>
          <a:prstGeom prst="rect">
            <a:avLst/>
          </a:prstGeom>
          <a:noFill/>
          <a:ln/>
        </p:spPr>
        <p:txBody>
          <a:bodyPr wrap="square" lIns="0" tIns="0" rIns="0" bIns="0" rtlCol="0" anchor="ctr"/>
          <a:lstStyle/>
          <a:p>
            <a:pPr indent="0" marL="0">
              <a:buNone/>
            </a:pPr>
            <a:r>
              <a:rPr lang="en-US" sz="900" b="1" spc="120" kern="0" dirty="0">
                <a:solidFill>
                  <a:srgbClr val="B5563F"/>
                </a:solidFill>
                <a:latin typeface="Calibri" pitchFamily="34" charset="0"/>
                <a:ea typeface="Calibri" pitchFamily="34" charset="-122"/>
                <a:cs typeface="Calibri" pitchFamily="34" charset="-120"/>
              </a:rPr>
              <a:t>WHY MISMATCHES HAPPEN</a:t>
            </a:r>
            <a:endParaRPr lang="en-US" sz="900" dirty="0"/>
          </a:p>
        </p:txBody>
      </p:sp>
      <p:sp>
        <p:nvSpPr>
          <p:cNvPr id="33" name="Text 31"/>
          <p:cNvSpPr/>
          <p:nvPr/>
        </p:nvSpPr>
        <p:spPr>
          <a:xfrm>
            <a:off x="768096" y="5120640"/>
            <a:ext cx="4992624" cy="768096"/>
          </a:xfrm>
          <a:prstGeom prst="rect">
            <a:avLst/>
          </a:prstGeom>
          <a:noFill/>
          <a:ln/>
        </p:spPr>
        <p:txBody>
          <a:bodyPr wrap="square" lIns="0" tIns="0" rIns="0" bIns="0" rtlCol="0" anchor="t"/>
          <a:lstStyle/>
          <a:p>
            <a:pPr indent="0" marL="0">
              <a:lnSpc>
                <a:spcPts val="1280"/>
              </a:lnSpc>
              <a:buNone/>
            </a:pPr>
            <a:r>
              <a:rPr lang="en-US" sz="1000" dirty="0">
                <a:solidFill>
                  <a:srgbClr val="0F3D3E"/>
                </a:solidFill>
                <a:latin typeface="Calibri" pitchFamily="34" charset="0"/>
                <a:ea typeface="Calibri" pitchFamily="34" charset="-122"/>
                <a:cs typeface="Calibri" pitchFamily="34" charset="-120"/>
              </a:rPr>
              <a:t>The supplier hasn't filed yet  ·  they filed in a different month  ·  the amount differs  ·  the invoice was entered twice  ·  it was filed against the wrong GSTIN  ·  a credit note wasn't reflected.</a:t>
            </a:r>
            <a:endParaRPr lang="en-US" sz="1000" dirty="0"/>
          </a:p>
        </p:txBody>
      </p:sp>
      <p:sp>
        <p:nvSpPr>
          <p:cNvPr id="34" name="Shape 32"/>
          <p:cNvSpPr/>
          <p:nvPr/>
        </p:nvSpPr>
        <p:spPr>
          <a:xfrm>
            <a:off x="6236208" y="4828032"/>
            <a:ext cx="5394960" cy="1170432"/>
          </a:xfrm>
          <a:prstGeom prst="roundRect">
            <a:avLst>
              <a:gd name="adj" fmla="val 5469"/>
            </a:avLst>
          </a:prstGeom>
          <a:solidFill>
            <a:srgbClr val="E2ECEA"/>
          </a:solidFill>
          <a:ln w="12700">
            <a:solidFill>
              <a:srgbClr val="E2ECEA"/>
            </a:solidFill>
            <a:prstDash val="solid"/>
          </a:ln>
        </p:spPr>
      </p:sp>
      <p:sp>
        <p:nvSpPr>
          <p:cNvPr id="35" name="Text 33"/>
          <p:cNvSpPr/>
          <p:nvPr/>
        </p:nvSpPr>
        <p:spPr>
          <a:xfrm>
            <a:off x="6437376" y="4910328"/>
            <a:ext cx="4992624" cy="201168"/>
          </a:xfrm>
          <a:prstGeom prst="rect">
            <a:avLst/>
          </a:prstGeom>
          <a:noFill/>
          <a:ln/>
        </p:spPr>
        <p:txBody>
          <a:bodyPr wrap="square" lIns="0" tIns="0" rIns="0" bIns="0" rtlCol="0" anchor="ctr"/>
          <a:lstStyle/>
          <a:p>
            <a:pPr indent="0" marL="0">
              <a:buNone/>
            </a:pPr>
            <a:r>
              <a:rPr lang="en-US" sz="900" b="1" spc="120" kern="0" dirty="0">
                <a:solidFill>
                  <a:srgbClr val="0F3D3E"/>
                </a:solidFill>
                <a:latin typeface="Calibri" pitchFamily="34" charset="0"/>
                <a:ea typeface="Calibri" pitchFamily="34" charset="-122"/>
                <a:cs typeface="Calibri" pitchFamily="34" charset="-120"/>
              </a:rPr>
              <a:t>WHY IT COSTS REAL MONEY</a:t>
            </a:r>
            <a:endParaRPr lang="en-US" sz="900" dirty="0"/>
          </a:p>
        </p:txBody>
      </p:sp>
      <p:sp>
        <p:nvSpPr>
          <p:cNvPr id="36" name="Text 34"/>
          <p:cNvSpPr/>
          <p:nvPr/>
        </p:nvSpPr>
        <p:spPr>
          <a:xfrm>
            <a:off x="6437376" y="5120640"/>
            <a:ext cx="4992624" cy="768096"/>
          </a:xfrm>
          <a:prstGeom prst="rect">
            <a:avLst/>
          </a:prstGeom>
          <a:noFill/>
          <a:ln/>
        </p:spPr>
        <p:txBody>
          <a:bodyPr wrap="square" lIns="0" tIns="0" rIns="0" bIns="0" rtlCol="0" anchor="t"/>
          <a:lstStyle/>
          <a:p>
            <a:pPr indent="0" marL="0">
              <a:lnSpc>
                <a:spcPts val="1280"/>
              </a:lnSpc>
              <a:buNone/>
            </a:pPr>
            <a:r>
              <a:rPr lang="en-US" sz="1000" dirty="0">
                <a:solidFill>
                  <a:srgbClr val="0F3D3E"/>
                </a:solidFill>
                <a:latin typeface="Calibri" pitchFamily="34" charset="0"/>
                <a:ea typeface="Calibri" pitchFamily="34" charset="-122"/>
                <a:cs typeface="Calibri" pitchFamily="34" charset="-120"/>
              </a:rPr>
              <a:t>Input tax credit that can't be matched is not a paperwork problem — it is working capital the client cannot recover, or a departmental notice a year later. This is why the practice checks every line.</a:t>
            </a:r>
            <a:endParaRPr lang="en-US" sz="1000" dirty="0"/>
          </a:p>
        </p:txBody>
      </p:sp>
      <p:sp>
        <p:nvSpPr>
          <p:cNvPr id="37" name="Text 35"/>
          <p:cNvSpPr/>
          <p:nvPr/>
        </p:nvSpPr>
        <p:spPr>
          <a:xfrm>
            <a:off x="566928" y="6272784"/>
            <a:ext cx="11064240" cy="274320"/>
          </a:xfrm>
          <a:prstGeom prst="rect">
            <a:avLst/>
          </a:prstGeom>
          <a:noFill/>
          <a:ln/>
        </p:spPr>
        <p:txBody>
          <a:bodyPr wrap="square" lIns="0" tIns="0" rIns="0" bIns="0" rtlCol="0" anchor="ctr"/>
          <a:lstStyle/>
          <a:p>
            <a:pPr indent="0" marL="0">
              <a:buNone/>
            </a:pPr>
            <a:r>
              <a:rPr lang="en-US" sz="1000" b="1" dirty="0">
                <a:solidFill>
                  <a:srgbClr val="C08428"/>
                </a:solidFill>
                <a:latin typeface="Calibri" pitchFamily="34" charset="0"/>
                <a:ea typeface="Calibri" pitchFamily="34" charset="-122"/>
                <a:cs typeface="Calibri" pitchFamily="34" charset="-120"/>
              </a:rPr>
              <a:t>In CAOS  ›  </a:t>
            </a:r>
            <a:pPr indent="0" marL="0">
              <a:buNone/>
            </a:pPr>
            <a:r>
              <a:rPr lang="en-US" sz="1000" dirty="0">
                <a:solidFill>
                  <a:srgbClr val="5C6B6A"/>
                </a:solidFill>
                <a:latin typeface="Calibri" pitchFamily="34" charset="0"/>
                <a:ea typeface="Calibri" pitchFamily="34" charset="-122"/>
                <a:cs typeface="Calibri" pitchFamily="34" charset="-120"/>
              </a:rPr>
              <a:t>Agent 3 — Reconciliation (GSTR-2A/2B vs Purchase Register) automates the matching and surfaces only the exceptions.</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08</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Reconciliation</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Two lists that should agree, compared line by line. The single largest manual workload in GST compliance.</a:t>
            </a:r>
            <a:endParaRPr lang="en-US" sz="1300" dirty="0"/>
          </a:p>
        </p:txBody>
      </p:sp>
      <p:sp>
        <p:nvSpPr>
          <p:cNvPr id="5" name="Text 3"/>
          <p:cNvSpPr/>
          <p:nvPr/>
        </p:nvSpPr>
        <p:spPr>
          <a:xfrm>
            <a:off x="566928" y="1700784"/>
            <a:ext cx="3803904" cy="237744"/>
          </a:xfrm>
          <a:prstGeom prst="rect">
            <a:avLst/>
          </a:prstGeom>
          <a:noFill/>
          <a:ln/>
        </p:spPr>
        <p:txBody>
          <a:bodyPr wrap="square" lIns="0" tIns="0" rIns="0" bIns="0" rtlCol="0" anchor="ctr"/>
          <a:lstStyle/>
          <a:p>
            <a:pPr indent="0" marL="0">
              <a:buNone/>
            </a:pPr>
            <a:r>
              <a:rPr lang="en-US" sz="950" b="1" spc="100" kern="0" dirty="0">
                <a:solidFill>
                  <a:srgbClr val="0F3D3E"/>
                </a:solidFill>
                <a:latin typeface="Calibri" pitchFamily="34" charset="0"/>
                <a:ea typeface="Calibri" pitchFamily="34" charset="-122"/>
                <a:cs typeface="Calibri" pitchFamily="34" charset="-120"/>
              </a:rPr>
              <a:t>YOUR BOOKS  ·  Purchase Register</a:t>
            </a:r>
            <a:endParaRPr lang="en-US" sz="950" dirty="0"/>
          </a:p>
        </p:txBody>
      </p:sp>
      <p:sp>
        <p:nvSpPr>
          <p:cNvPr id="6" name="Text 4"/>
          <p:cNvSpPr/>
          <p:nvPr/>
        </p:nvSpPr>
        <p:spPr>
          <a:xfrm>
            <a:off x="6272784" y="1700784"/>
            <a:ext cx="3803904" cy="237744"/>
          </a:xfrm>
          <a:prstGeom prst="rect">
            <a:avLst/>
          </a:prstGeom>
          <a:noFill/>
          <a:ln/>
        </p:spPr>
        <p:txBody>
          <a:bodyPr wrap="square" lIns="0" tIns="0" rIns="0" bIns="0" rtlCol="0" anchor="ctr"/>
          <a:lstStyle/>
          <a:p>
            <a:pPr indent="0" marL="0">
              <a:buNone/>
            </a:pPr>
            <a:r>
              <a:rPr lang="en-US" sz="950" b="1" spc="100" kern="0" dirty="0">
                <a:solidFill>
                  <a:srgbClr val="0F3D3E"/>
                </a:solidFill>
                <a:latin typeface="Calibri" pitchFamily="34" charset="0"/>
                <a:ea typeface="Calibri" pitchFamily="34" charset="-122"/>
                <a:cs typeface="Calibri" pitchFamily="34" charset="-120"/>
              </a:rPr>
              <a:t>THE GOVERNMENT  ·  GSTR-2B</a:t>
            </a:r>
            <a:endParaRPr lang="en-US" sz="950" dirty="0"/>
          </a:p>
        </p:txBody>
      </p:sp>
      <p:sp>
        <p:nvSpPr>
          <p:cNvPr id="7" name="Shape 5"/>
          <p:cNvSpPr/>
          <p:nvPr/>
        </p:nvSpPr>
        <p:spPr>
          <a:xfrm>
            <a:off x="566928" y="2011680"/>
            <a:ext cx="3803904" cy="420624"/>
          </a:xfrm>
          <a:prstGeom prst="roundRect">
            <a:avLst>
              <a:gd name="adj" fmla="val 15217"/>
            </a:avLst>
          </a:prstGeom>
          <a:solidFill>
            <a:srgbClr val="FFFFFF"/>
          </a:solidFill>
          <a:ln w="12700">
            <a:solidFill>
              <a:srgbClr val="D5E0DE"/>
            </a:solidFill>
            <a:prstDash val="solid"/>
          </a:ln>
        </p:spPr>
      </p:sp>
      <p:sp>
        <p:nvSpPr>
          <p:cNvPr id="8" name="Text 6"/>
          <p:cNvSpPr/>
          <p:nvPr/>
        </p:nvSpPr>
        <p:spPr>
          <a:xfrm>
            <a:off x="694944" y="2011680"/>
            <a:ext cx="3547872" cy="420624"/>
          </a:xfrm>
          <a:prstGeom prst="rect">
            <a:avLst/>
          </a:prstGeom>
          <a:noFill/>
          <a:ln/>
        </p:spPr>
        <p:txBody>
          <a:bodyPr wrap="square" lIns="0" tIns="0" rIns="0" bIns="0" rtlCol="0" anchor="ctr"/>
          <a:lstStyle/>
          <a:p>
            <a:pPr indent="0" marL="0">
              <a:buNone/>
            </a:pPr>
            <a:r>
              <a:rPr lang="en-US" sz="950" dirty="0">
                <a:solidFill>
                  <a:srgbClr val="0F3D3E"/>
                </a:solidFill>
                <a:latin typeface="Calibri" pitchFamily="34" charset="0"/>
                <a:ea typeface="Calibri" pitchFamily="34" charset="-122"/>
                <a:cs typeface="Calibri" pitchFamily="34" charset="-120"/>
              </a:rPr>
              <a:t>Anand Traders · INV-221 · ₹44,000</a:t>
            </a:r>
            <a:endParaRPr lang="en-US" sz="950" dirty="0"/>
          </a:p>
        </p:txBody>
      </p:sp>
      <p:sp>
        <p:nvSpPr>
          <p:cNvPr id="9" name="Shape 7"/>
          <p:cNvSpPr/>
          <p:nvPr/>
        </p:nvSpPr>
        <p:spPr>
          <a:xfrm>
            <a:off x="6272784" y="2011680"/>
            <a:ext cx="3803904" cy="420624"/>
          </a:xfrm>
          <a:prstGeom prst="roundRect">
            <a:avLst>
              <a:gd name="adj" fmla="val 15217"/>
            </a:avLst>
          </a:prstGeom>
          <a:solidFill>
            <a:srgbClr val="FFFFFF"/>
          </a:solidFill>
          <a:ln w="12700">
            <a:solidFill>
              <a:srgbClr val="D5E0DE"/>
            </a:solidFill>
            <a:prstDash val="solid"/>
          </a:ln>
        </p:spPr>
      </p:sp>
      <p:sp>
        <p:nvSpPr>
          <p:cNvPr id="10" name="Text 8"/>
          <p:cNvSpPr/>
          <p:nvPr/>
        </p:nvSpPr>
        <p:spPr>
          <a:xfrm>
            <a:off x="6400800" y="2011680"/>
            <a:ext cx="3547872" cy="420624"/>
          </a:xfrm>
          <a:prstGeom prst="rect">
            <a:avLst/>
          </a:prstGeom>
          <a:noFill/>
          <a:ln/>
        </p:spPr>
        <p:txBody>
          <a:bodyPr wrap="square" lIns="0" tIns="0" rIns="0" bIns="0" rtlCol="0" anchor="ctr"/>
          <a:lstStyle/>
          <a:p>
            <a:pPr indent="0" marL="0">
              <a:buNone/>
            </a:pPr>
            <a:r>
              <a:rPr lang="en-US" sz="950" dirty="0">
                <a:solidFill>
                  <a:srgbClr val="0F3D3E"/>
                </a:solidFill>
                <a:latin typeface="Calibri" pitchFamily="34" charset="0"/>
                <a:ea typeface="Calibri" pitchFamily="34" charset="-122"/>
                <a:cs typeface="Calibri" pitchFamily="34" charset="-120"/>
              </a:rPr>
              <a:t>Anand Traders · INV-221 · ₹44,000</a:t>
            </a:r>
            <a:endParaRPr lang="en-US" sz="950" dirty="0"/>
          </a:p>
        </p:txBody>
      </p:sp>
      <p:sp>
        <p:nvSpPr>
          <p:cNvPr id="11" name="Shape 9"/>
          <p:cNvSpPr/>
          <p:nvPr/>
        </p:nvSpPr>
        <p:spPr>
          <a:xfrm>
            <a:off x="4425696" y="2221992"/>
            <a:ext cx="1792224" cy="0"/>
          </a:xfrm>
          <a:prstGeom prst="line">
            <a:avLst/>
          </a:prstGeom>
          <a:noFill/>
          <a:ln w="15875">
            <a:solidFill>
              <a:srgbClr val="2E7D5B"/>
            </a:solidFill>
            <a:prstDash val="solid"/>
          </a:ln>
        </p:spPr>
      </p:sp>
      <p:sp>
        <p:nvSpPr>
          <p:cNvPr id="12" name="Text 10"/>
          <p:cNvSpPr/>
          <p:nvPr/>
        </p:nvSpPr>
        <p:spPr>
          <a:xfrm>
            <a:off x="4425696" y="1993392"/>
            <a:ext cx="1792224" cy="219456"/>
          </a:xfrm>
          <a:prstGeom prst="rect">
            <a:avLst/>
          </a:prstGeom>
          <a:noFill/>
          <a:ln/>
        </p:spPr>
        <p:txBody>
          <a:bodyPr wrap="square" lIns="0" tIns="0" rIns="0" bIns="0" rtlCol="0" anchor="ctr"/>
          <a:lstStyle/>
          <a:p>
            <a:pPr algn="ctr" indent="0" marL="0">
              <a:buNone/>
            </a:pPr>
            <a:r>
              <a:rPr lang="en-US" sz="800" b="1" dirty="0">
                <a:solidFill>
                  <a:srgbClr val="2E7D5B"/>
                </a:solidFill>
                <a:latin typeface="Calibri" pitchFamily="34" charset="0"/>
                <a:ea typeface="Calibri" pitchFamily="34" charset="-122"/>
                <a:cs typeface="Calibri" pitchFamily="34" charset="-120"/>
              </a:rPr>
              <a:t>✓ matched</a:t>
            </a:r>
            <a:endParaRPr lang="en-US" sz="800" dirty="0"/>
          </a:p>
        </p:txBody>
      </p:sp>
      <p:sp>
        <p:nvSpPr>
          <p:cNvPr id="13" name="Shape 11"/>
          <p:cNvSpPr/>
          <p:nvPr/>
        </p:nvSpPr>
        <p:spPr>
          <a:xfrm>
            <a:off x="566928" y="2542032"/>
            <a:ext cx="3803904" cy="420624"/>
          </a:xfrm>
          <a:prstGeom prst="roundRect">
            <a:avLst>
              <a:gd name="adj" fmla="val 15217"/>
            </a:avLst>
          </a:prstGeom>
          <a:solidFill>
            <a:srgbClr val="FFFFFF"/>
          </a:solidFill>
          <a:ln w="12700">
            <a:solidFill>
              <a:srgbClr val="D5E0DE"/>
            </a:solidFill>
            <a:prstDash val="solid"/>
          </a:ln>
        </p:spPr>
      </p:sp>
      <p:sp>
        <p:nvSpPr>
          <p:cNvPr id="14" name="Text 12"/>
          <p:cNvSpPr/>
          <p:nvPr/>
        </p:nvSpPr>
        <p:spPr>
          <a:xfrm>
            <a:off x="694944" y="2542032"/>
            <a:ext cx="3547872" cy="420624"/>
          </a:xfrm>
          <a:prstGeom prst="rect">
            <a:avLst/>
          </a:prstGeom>
          <a:noFill/>
          <a:ln/>
        </p:spPr>
        <p:txBody>
          <a:bodyPr wrap="square" lIns="0" tIns="0" rIns="0" bIns="0" rtlCol="0" anchor="ctr"/>
          <a:lstStyle/>
          <a:p>
            <a:pPr indent="0" marL="0">
              <a:buNone/>
            </a:pPr>
            <a:r>
              <a:rPr lang="en-US" sz="950" dirty="0">
                <a:solidFill>
                  <a:srgbClr val="0F3D3E"/>
                </a:solidFill>
                <a:latin typeface="Calibri" pitchFamily="34" charset="0"/>
                <a:ea typeface="Calibri" pitchFamily="34" charset="-122"/>
                <a:cs typeface="Calibri" pitchFamily="34" charset="-120"/>
              </a:rPr>
              <a:t>Coastal Components · INV-4417 · ₹1,18,000</a:t>
            </a:r>
            <a:endParaRPr lang="en-US" sz="950" dirty="0"/>
          </a:p>
        </p:txBody>
      </p:sp>
      <p:sp>
        <p:nvSpPr>
          <p:cNvPr id="15" name="Shape 13"/>
          <p:cNvSpPr/>
          <p:nvPr/>
        </p:nvSpPr>
        <p:spPr>
          <a:xfrm>
            <a:off x="6272784" y="2542032"/>
            <a:ext cx="3803904" cy="420624"/>
          </a:xfrm>
          <a:prstGeom prst="roundRect">
            <a:avLst>
              <a:gd name="adj" fmla="val 15217"/>
            </a:avLst>
          </a:prstGeom>
          <a:solidFill>
            <a:srgbClr val="FFFFFF"/>
          </a:solidFill>
          <a:ln w="12700">
            <a:solidFill>
              <a:srgbClr val="D5E0DE"/>
            </a:solidFill>
            <a:prstDash val="solid"/>
          </a:ln>
        </p:spPr>
      </p:sp>
      <p:sp>
        <p:nvSpPr>
          <p:cNvPr id="16" name="Text 14"/>
          <p:cNvSpPr/>
          <p:nvPr/>
        </p:nvSpPr>
        <p:spPr>
          <a:xfrm>
            <a:off x="6400800" y="2542032"/>
            <a:ext cx="3547872" cy="420624"/>
          </a:xfrm>
          <a:prstGeom prst="rect">
            <a:avLst/>
          </a:prstGeom>
          <a:noFill/>
          <a:ln/>
        </p:spPr>
        <p:txBody>
          <a:bodyPr wrap="square" lIns="0" tIns="0" rIns="0" bIns="0" rtlCol="0" anchor="ctr"/>
          <a:lstStyle/>
          <a:p>
            <a:pPr indent="0" marL="0">
              <a:buNone/>
            </a:pPr>
            <a:r>
              <a:rPr lang="en-US" sz="950" dirty="0">
                <a:solidFill>
                  <a:srgbClr val="0F3D3E"/>
                </a:solidFill>
                <a:latin typeface="Calibri" pitchFamily="34" charset="0"/>
                <a:ea typeface="Calibri" pitchFamily="34" charset="-122"/>
                <a:cs typeface="Calibri" pitchFamily="34" charset="-120"/>
              </a:rPr>
              <a:t>Coastal Components · INV-4417 · ₹1,18,000</a:t>
            </a:r>
            <a:endParaRPr lang="en-US" sz="950" dirty="0"/>
          </a:p>
        </p:txBody>
      </p:sp>
      <p:sp>
        <p:nvSpPr>
          <p:cNvPr id="17" name="Shape 15"/>
          <p:cNvSpPr/>
          <p:nvPr/>
        </p:nvSpPr>
        <p:spPr>
          <a:xfrm>
            <a:off x="4425696" y="2752344"/>
            <a:ext cx="1792224" cy="0"/>
          </a:xfrm>
          <a:prstGeom prst="line">
            <a:avLst/>
          </a:prstGeom>
          <a:noFill/>
          <a:ln w="15875">
            <a:solidFill>
              <a:srgbClr val="2E7D5B"/>
            </a:solidFill>
            <a:prstDash val="solid"/>
          </a:ln>
        </p:spPr>
      </p:sp>
      <p:sp>
        <p:nvSpPr>
          <p:cNvPr id="18" name="Text 16"/>
          <p:cNvSpPr/>
          <p:nvPr/>
        </p:nvSpPr>
        <p:spPr>
          <a:xfrm>
            <a:off x="4425696" y="2523744"/>
            <a:ext cx="1792224" cy="219456"/>
          </a:xfrm>
          <a:prstGeom prst="rect">
            <a:avLst/>
          </a:prstGeom>
          <a:noFill/>
          <a:ln/>
        </p:spPr>
        <p:txBody>
          <a:bodyPr wrap="square" lIns="0" tIns="0" rIns="0" bIns="0" rtlCol="0" anchor="ctr"/>
          <a:lstStyle/>
          <a:p>
            <a:pPr algn="ctr" indent="0" marL="0">
              <a:buNone/>
            </a:pPr>
            <a:r>
              <a:rPr lang="en-US" sz="800" b="1" dirty="0">
                <a:solidFill>
                  <a:srgbClr val="2E7D5B"/>
                </a:solidFill>
                <a:latin typeface="Calibri" pitchFamily="34" charset="0"/>
                <a:ea typeface="Calibri" pitchFamily="34" charset="-122"/>
                <a:cs typeface="Calibri" pitchFamily="34" charset="-120"/>
              </a:rPr>
              <a:t>✓ matched</a:t>
            </a:r>
            <a:endParaRPr lang="en-US" sz="800" dirty="0"/>
          </a:p>
        </p:txBody>
      </p:sp>
      <p:sp>
        <p:nvSpPr>
          <p:cNvPr id="19" name="Shape 17"/>
          <p:cNvSpPr/>
          <p:nvPr/>
        </p:nvSpPr>
        <p:spPr>
          <a:xfrm>
            <a:off x="566928" y="3072384"/>
            <a:ext cx="3803904" cy="420624"/>
          </a:xfrm>
          <a:prstGeom prst="roundRect">
            <a:avLst>
              <a:gd name="adj" fmla="val 15217"/>
            </a:avLst>
          </a:prstGeom>
          <a:solidFill>
            <a:srgbClr val="FFFFFF"/>
          </a:solidFill>
          <a:ln w="12700">
            <a:solidFill>
              <a:srgbClr val="B5563F"/>
            </a:solidFill>
            <a:prstDash val="solid"/>
          </a:ln>
        </p:spPr>
      </p:sp>
      <p:sp>
        <p:nvSpPr>
          <p:cNvPr id="20" name="Text 18"/>
          <p:cNvSpPr/>
          <p:nvPr/>
        </p:nvSpPr>
        <p:spPr>
          <a:xfrm>
            <a:off x="694944" y="3072384"/>
            <a:ext cx="3547872" cy="420624"/>
          </a:xfrm>
          <a:prstGeom prst="rect">
            <a:avLst/>
          </a:prstGeom>
          <a:noFill/>
          <a:ln/>
        </p:spPr>
        <p:txBody>
          <a:bodyPr wrap="square" lIns="0" tIns="0" rIns="0" bIns="0" rtlCol="0" anchor="ctr"/>
          <a:lstStyle/>
          <a:p>
            <a:pPr indent="0" marL="0">
              <a:buNone/>
            </a:pPr>
            <a:r>
              <a:rPr lang="en-US" sz="950" dirty="0">
                <a:solidFill>
                  <a:srgbClr val="0F3D3E"/>
                </a:solidFill>
                <a:latin typeface="Calibri" pitchFamily="34" charset="0"/>
                <a:ea typeface="Calibri" pitchFamily="34" charset="-122"/>
                <a:cs typeface="Calibri" pitchFamily="34" charset="-120"/>
              </a:rPr>
              <a:t>Meridian Supplies · INV-88 · ₹9,500</a:t>
            </a:r>
            <a:endParaRPr lang="en-US" sz="950" dirty="0"/>
          </a:p>
        </p:txBody>
      </p:sp>
      <p:sp>
        <p:nvSpPr>
          <p:cNvPr id="21" name="Shape 19"/>
          <p:cNvSpPr/>
          <p:nvPr/>
        </p:nvSpPr>
        <p:spPr>
          <a:xfrm>
            <a:off x="6272784" y="3072384"/>
            <a:ext cx="3803904" cy="420624"/>
          </a:xfrm>
          <a:prstGeom prst="roundRect">
            <a:avLst>
              <a:gd name="adj" fmla="val 15217"/>
            </a:avLst>
          </a:prstGeom>
          <a:solidFill>
            <a:srgbClr val="F6E5E0"/>
          </a:solidFill>
          <a:ln w="12700">
            <a:solidFill>
              <a:srgbClr val="B5563F"/>
            </a:solidFill>
            <a:prstDash val="solid"/>
          </a:ln>
        </p:spPr>
      </p:sp>
      <p:sp>
        <p:nvSpPr>
          <p:cNvPr id="22" name="Text 20"/>
          <p:cNvSpPr/>
          <p:nvPr/>
        </p:nvSpPr>
        <p:spPr>
          <a:xfrm>
            <a:off x="6400800" y="3072384"/>
            <a:ext cx="3547872" cy="420624"/>
          </a:xfrm>
          <a:prstGeom prst="rect">
            <a:avLst/>
          </a:prstGeom>
          <a:noFill/>
          <a:ln/>
        </p:spPr>
        <p:txBody>
          <a:bodyPr wrap="square" lIns="0" tIns="0" rIns="0" bIns="0" rtlCol="0" anchor="ctr"/>
          <a:lstStyle/>
          <a:p>
            <a:pPr indent="0" marL="0">
              <a:buNone/>
            </a:pPr>
            <a:r>
              <a:rPr lang="en-US" sz="950" dirty="0">
                <a:solidFill>
                  <a:srgbClr val="B5563F"/>
                </a:solidFill>
                <a:latin typeface="Calibri" pitchFamily="34" charset="0"/>
                <a:ea typeface="Calibri" pitchFamily="34" charset="-122"/>
                <a:cs typeface="Calibri" pitchFamily="34" charset="-120"/>
              </a:rPr>
              <a:t>— not present —</a:t>
            </a:r>
            <a:endParaRPr lang="en-US" sz="950" dirty="0"/>
          </a:p>
        </p:txBody>
      </p:sp>
      <p:sp>
        <p:nvSpPr>
          <p:cNvPr id="23" name="Shape 21"/>
          <p:cNvSpPr/>
          <p:nvPr/>
        </p:nvSpPr>
        <p:spPr>
          <a:xfrm>
            <a:off x="4425696" y="3282696"/>
            <a:ext cx="1792224" cy="0"/>
          </a:xfrm>
          <a:prstGeom prst="line">
            <a:avLst/>
          </a:prstGeom>
          <a:noFill/>
          <a:ln w="15875">
            <a:solidFill>
              <a:srgbClr val="B5563F"/>
            </a:solidFill>
            <a:prstDash val="dash"/>
          </a:ln>
        </p:spPr>
      </p:sp>
      <p:sp>
        <p:nvSpPr>
          <p:cNvPr id="24" name="Text 22"/>
          <p:cNvSpPr/>
          <p:nvPr/>
        </p:nvSpPr>
        <p:spPr>
          <a:xfrm>
            <a:off x="4425696" y="3054096"/>
            <a:ext cx="1792224" cy="219456"/>
          </a:xfrm>
          <a:prstGeom prst="rect">
            <a:avLst/>
          </a:prstGeom>
          <a:noFill/>
          <a:ln/>
        </p:spPr>
        <p:txBody>
          <a:bodyPr wrap="square" lIns="0" tIns="0" rIns="0" bIns="0" rtlCol="0" anchor="ctr"/>
          <a:lstStyle/>
          <a:p>
            <a:pPr algn="ctr" indent="0" marL="0">
              <a:buNone/>
            </a:pPr>
            <a:r>
              <a:rPr lang="en-US" sz="800" b="1" dirty="0">
                <a:solidFill>
                  <a:srgbClr val="B5563F"/>
                </a:solidFill>
                <a:latin typeface="Calibri" pitchFamily="34" charset="0"/>
                <a:ea typeface="Calibri" pitchFamily="34" charset="-122"/>
                <a:cs typeface="Calibri" pitchFamily="34" charset="-120"/>
              </a:rPr>
              <a:t>flagged</a:t>
            </a:r>
            <a:endParaRPr lang="en-US" sz="800" dirty="0"/>
          </a:p>
        </p:txBody>
      </p:sp>
      <p:sp>
        <p:nvSpPr>
          <p:cNvPr id="25" name="Text 23"/>
          <p:cNvSpPr/>
          <p:nvPr/>
        </p:nvSpPr>
        <p:spPr>
          <a:xfrm>
            <a:off x="10222992" y="3072384"/>
            <a:ext cx="1920240" cy="420624"/>
          </a:xfrm>
          <a:prstGeom prst="rect">
            <a:avLst/>
          </a:prstGeom>
          <a:noFill/>
          <a:ln/>
        </p:spPr>
        <p:txBody>
          <a:bodyPr wrap="square" lIns="0" tIns="0" rIns="0" bIns="0" rtlCol="0" anchor="ctr"/>
          <a:lstStyle/>
          <a:p>
            <a:pPr indent="0" marL="0">
              <a:buNone/>
            </a:pPr>
            <a:r>
              <a:rPr lang="en-US" sz="850" i="1" dirty="0">
                <a:solidFill>
                  <a:srgbClr val="B5563F"/>
                </a:solidFill>
                <a:latin typeface="Calibri" pitchFamily="34" charset="0"/>
                <a:ea typeface="Calibri" pitchFamily="34" charset="-122"/>
                <a:cs typeface="Calibri" pitchFamily="34" charset="-120"/>
              </a:rPr>
              <a:t>Supplier hasn't filed</a:t>
            </a:r>
            <a:endParaRPr lang="en-US" sz="850" dirty="0"/>
          </a:p>
        </p:txBody>
      </p:sp>
      <p:sp>
        <p:nvSpPr>
          <p:cNvPr id="26" name="Shape 24"/>
          <p:cNvSpPr/>
          <p:nvPr/>
        </p:nvSpPr>
        <p:spPr>
          <a:xfrm>
            <a:off x="566928" y="3602736"/>
            <a:ext cx="3803904" cy="420624"/>
          </a:xfrm>
          <a:prstGeom prst="roundRect">
            <a:avLst>
              <a:gd name="adj" fmla="val 15217"/>
            </a:avLst>
          </a:prstGeom>
          <a:solidFill>
            <a:srgbClr val="FFFFFF"/>
          </a:solidFill>
          <a:ln w="12700">
            <a:solidFill>
              <a:srgbClr val="B5563F"/>
            </a:solidFill>
            <a:prstDash val="solid"/>
          </a:ln>
        </p:spPr>
      </p:sp>
      <p:sp>
        <p:nvSpPr>
          <p:cNvPr id="27" name="Text 25"/>
          <p:cNvSpPr/>
          <p:nvPr/>
        </p:nvSpPr>
        <p:spPr>
          <a:xfrm>
            <a:off x="694944" y="3602736"/>
            <a:ext cx="3547872" cy="420624"/>
          </a:xfrm>
          <a:prstGeom prst="rect">
            <a:avLst/>
          </a:prstGeom>
          <a:noFill/>
          <a:ln/>
        </p:spPr>
        <p:txBody>
          <a:bodyPr wrap="square" lIns="0" tIns="0" rIns="0" bIns="0" rtlCol="0" anchor="ctr"/>
          <a:lstStyle/>
          <a:p>
            <a:pPr indent="0" marL="0">
              <a:buNone/>
            </a:pPr>
            <a:r>
              <a:rPr lang="en-US" sz="950" dirty="0">
                <a:solidFill>
                  <a:srgbClr val="0F3D3E"/>
                </a:solidFill>
                <a:latin typeface="Calibri" pitchFamily="34" charset="0"/>
                <a:ea typeface="Calibri" pitchFamily="34" charset="-122"/>
                <a:cs typeface="Calibri" pitchFamily="34" charset="-120"/>
              </a:rPr>
              <a:t>Verity Steel · INV-1002 · ₹61,000</a:t>
            </a:r>
            <a:endParaRPr lang="en-US" sz="950" dirty="0"/>
          </a:p>
        </p:txBody>
      </p:sp>
      <p:sp>
        <p:nvSpPr>
          <p:cNvPr id="28" name="Shape 26"/>
          <p:cNvSpPr/>
          <p:nvPr/>
        </p:nvSpPr>
        <p:spPr>
          <a:xfrm>
            <a:off x="6272784" y="3602736"/>
            <a:ext cx="3803904" cy="420624"/>
          </a:xfrm>
          <a:prstGeom prst="roundRect">
            <a:avLst>
              <a:gd name="adj" fmla="val 15217"/>
            </a:avLst>
          </a:prstGeom>
          <a:solidFill>
            <a:srgbClr val="F6E5E0"/>
          </a:solidFill>
          <a:ln w="12700">
            <a:solidFill>
              <a:srgbClr val="B5563F"/>
            </a:solidFill>
            <a:prstDash val="solid"/>
          </a:ln>
        </p:spPr>
      </p:sp>
      <p:sp>
        <p:nvSpPr>
          <p:cNvPr id="29" name="Text 27"/>
          <p:cNvSpPr/>
          <p:nvPr/>
        </p:nvSpPr>
        <p:spPr>
          <a:xfrm>
            <a:off x="6400800" y="3602736"/>
            <a:ext cx="3547872" cy="420624"/>
          </a:xfrm>
          <a:prstGeom prst="rect">
            <a:avLst/>
          </a:prstGeom>
          <a:noFill/>
          <a:ln/>
        </p:spPr>
        <p:txBody>
          <a:bodyPr wrap="square" lIns="0" tIns="0" rIns="0" bIns="0" rtlCol="0" anchor="ctr"/>
          <a:lstStyle/>
          <a:p>
            <a:pPr indent="0" marL="0">
              <a:buNone/>
            </a:pPr>
            <a:r>
              <a:rPr lang="en-US" sz="950" dirty="0">
                <a:solidFill>
                  <a:srgbClr val="B5563F"/>
                </a:solidFill>
                <a:latin typeface="Calibri" pitchFamily="34" charset="0"/>
                <a:ea typeface="Calibri" pitchFamily="34" charset="-122"/>
                <a:cs typeface="Calibri" pitchFamily="34" charset="-120"/>
              </a:rPr>
              <a:t>Verity Steel · INV-1002 · ₹61,600</a:t>
            </a:r>
            <a:endParaRPr lang="en-US" sz="950" dirty="0"/>
          </a:p>
        </p:txBody>
      </p:sp>
      <p:sp>
        <p:nvSpPr>
          <p:cNvPr id="30" name="Shape 28"/>
          <p:cNvSpPr/>
          <p:nvPr/>
        </p:nvSpPr>
        <p:spPr>
          <a:xfrm>
            <a:off x="4425696" y="3813048"/>
            <a:ext cx="1792224" cy="0"/>
          </a:xfrm>
          <a:prstGeom prst="line">
            <a:avLst/>
          </a:prstGeom>
          <a:noFill/>
          <a:ln w="15875">
            <a:solidFill>
              <a:srgbClr val="B5563F"/>
            </a:solidFill>
            <a:prstDash val="dash"/>
          </a:ln>
        </p:spPr>
      </p:sp>
      <p:sp>
        <p:nvSpPr>
          <p:cNvPr id="31" name="Text 29"/>
          <p:cNvSpPr/>
          <p:nvPr/>
        </p:nvSpPr>
        <p:spPr>
          <a:xfrm>
            <a:off x="4425696" y="3584448"/>
            <a:ext cx="1792224" cy="219456"/>
          </a:xfrm>
          <a:prstGeom prst="rect">
            <a:avLst/>
          </a:prstGeom>
          <a:noFill/>
          <a:ln/>
        </p:spPr>
        <p:txBody>
          <a:bodyPr wrap="square" lIns="0" tIns="0" rIns="0" bIns="0" rtlCol="0" anchor="ctr"/>
          <a:lstStyle/>
          <a:p>
            <a:pPr algn="ctr" indent="0" marL="0">
              <a:buNone/>
            </a:pPr>
            <a:r>
              <a:rPr lang="en-US" sz="800" b="1" dirty="0">
                <a:solidFill>
                  <a:srgbClr val="B5563F"/>
                </a:solidFill>
                <a:latin typeface="Calibri" pitchFamily="34" charset="0"/>
                <a:ea typeface="Calibri" pitchFamily="34" charset="-122"/>
                <a:cs typeface="Calibri" pitchFamily="34" charset="-120"/>
              </a:rPr>
              <a:t>flagged</a:t>
            </a:r>
            <a:endParaRPr lang="en-US" sz="800" dirty="0"/>
          </a:p>
        </p:txBody>
      </p:sp>
      <p:sp>
        <p:nvSpPr>
          <p:cNvPr id="32" name="Text 30"/>
          <p:cNvSpPr/>
          <p:nvPr/>
        </p:nvSpPr>
        <p:spPr>
          <a:xfrm>
            <a:off x="10222992" y="3602736"/>
            <a:ext cx="1920240" cy="420624"/>
          </a:xfrm>
          <a:prstGeom prst="rect">
            <a:avLst/>
          </a:prstGeom>
          <a:noFill/>
          <a:ln/>
        </p:spPr>
        <p:txBody>
          <a:bodyPr wrap="square" lIns="0" tIns="0" rIns="0" bIns="0" rtlCol="0" anchor="ctr"/>
          <a:lstStyle/>
          <a:p>
            <a:pPr indent="0" marL="0">
              <a:buNone/>
            </a:pPr>
            <a:r>
              <a:rPr lang="en-US" sz="850" i="1" dirty="0">
                <a:solidFill>
                  <a:srgbClr val="B5563F"/>
                </a:solidFill>
                <a:latin typeface="Calibri" pitchFamily="34" charset="0"/>
                <a:ea typeface="Calibri" pitchFamily="34" charset="-122"/>
                <a:cs typeface="Calibri" pitchFamily="34" charset="-120"/>
              </a:rPr>
              <a:t>Amount mismatch ₹600</a:t>
            </a:r>
            <a:endParaRPr lang="en-US" sz="850" dirty="0"/>
          </a:p>
        </p:txBody>
      </p:sp>
      <p:sp>
        <p:nvSpPr>
          <p:cNvPr id="33" name="Shape 31"/>
          <p:cNvSpPr/>
          <p:nvPr/>
        </p:nvSpPr>
        <p:spPr>
          <a:xfrm>
            <a:off x="566928" y="4133088"/>
            <a:ext cx="3803904" cy="420624"/>
          </a:xfrm>
          <a:prstGeom prst="roundRect">
            <a:avLst>
              <a:gd name="adj" fmla="val 15217"/>
            </a:avLst>
          </a:prstGeom>
          <a:solidFill>
            <a:srgbClr val="FFFFFF"/>
          </a:solidFill>
          <a:ln w="12700">
            <a:solidFill>
              <a:srgbClr val="B5563F"/>
            </a:solidFill>
            <a:prstDash val="solid"/>
          </a:ln>
        </p:spPr>
      </p:sp>
      <p:sp>
        <p:nvSpPr>
          <p:cNvPr id="34" name="Text 32"/>
          <p:cNvSpPr/>
          <p:nvPr/>
        </p:nvSpPr>
        <p:spPr>
          <a:xfrm>
            <a:off x="694944" y="4133088"/>
            <a:ext cx="3547872" cy="420624"/>
          </a:xfrm>
          <a:prstGeom prst="rect">
            <a:avLst/>
          </a:prstGeom>
          <a:noFill/>
          <a:ln/>
        </p:spPr>
        <p:txBody>
          <a:bodyPr wrap="square" lIns="0" tIns="0" rIns="0" bIns="0" rtlCol="0" anchor="ctr"/>
          <a:lstStyle/>
          <a:p>
            <a:pPr indent="0" marL="0">
              <a:buNone/>
            </a:pPr>
            <a:r>
              <a:rPr lang="en-US" sz="950" dirty="0">
                <a:solidFill>
                  <a:srgbClr val="0F3D3E"/>
                </a:solidFill>
                <a:latin typeface="Calibri" pitchFamily="34" charset="0"/>
                <a:ea typeface="Calibri" pitchFamily="34" charset="-122"/>
                <a:cs typeface="Calibri" pitchFamily="34" charset="-120"/>
              </a:rPr>
              <a:t>Anand Traders · INV-221 · ₹44,000</a:t>
            </a:r>
            <a:endParaRPr lang="en-US" sz="950" dirty="0"/>
          </a:p>
        </p:txBody>
      </p:sp>
      <p:sp>
        <p:nvSpPr>
          <p:cNvPr id="35" name="Shape 33"/>
          <p:cNvSpPr/>
          <p:nvPr/>
        </p:nvSpPr>
        <p:spPr>
          <a:xfrm>
            <a:off x="6272784" y="4133088"/>
            <a:ext cx="3803904" cy="420624"/>
          </a:xfrm>
          <a:prstGeom prst="roundRect">
            <a:avLst>
              <a:gd name="adj" fmla="val 15217"/>
            </a:avLst>
          </a:prstGeom>
          <a:solidFill>
            <a:srgbClr val="F6E5E0"/>
          </a:solidFill>
          <a:ln w="12700">
            <a:solidFill>
              <a:srgbClr val="B5563F"/>
            </a:solidFill>
            <a:prstDash val="solid"/>
          </a:ln>
        </p:spPr>
      </p:sp>
      <p:sp>
        <p:nvSpPr>
          <p:cNvPr id="36" name="Text 34"/>
          <p:cNvSpPr/>
          <p:nvPr/>
        </p:nvSpPr>
        <p:spPr>
          <a:xfrm>
            <a:off x="6400800" y="4133088"/>
            <a:ext cx="3547872" cy="420624"/>
          </a:xfrm>
          <a:prstGeom prst="rect">
            <a:avLst/>
          </a:prstGeom>
          <a:noFill/>
          <a:ln/>
        </p:spPr>
        <p:txBody>
          <a:bodyPr wrap="square" lIns="0" tIns="0" rIns="0" bIns="0" rtlCol="0" anchor="ctr"/>
          <a:lstStyle/>
          <a:p>
            <a:pPr indent="0" marL="0">
              <a:buNone/>
            </a:pPr>
            <a:r>
              <a:rPr lang="en-US" sz="950" dirty="0">
                <a:solidFill>
                  <a:srgbClr val="B5563F"/>
                </a:solidFill>
                <a:latin typeface="Calibri" pitchFamily="34" charset="0"/>
                <a:ea typeface="Calibri" pitchFamily="34" charset="-122"/>
                <a:cs typeface="Calibri" pitchFamily="34" charset="-120"/>
              </a:rPr>
              <a:t>— already matched —</a:t>
            </a:r>
            <a:endParaRPr lang="en-US" sz="950" dirty="0"/>
          </a:p>
        </p:txBody>
      </p:sp>
      <p:sp>
        <p:nvSpPr>
          <p:cNvPr id="37" name="Shape 35"/>
          <p:cNvSpPr/>
          <p:nvPr/>
        </p:nvSpPr>
        <p:spPr>
          <a:xfrm>
            <a:off x="4425696" y="4343400"/>
            <a:ext cx="1792224" cy="0"/>
          </a:xfrm>
          <a:prstGeom prst="line">
            <a:avLst/>
          </a:prstGeom>
          <a:noFill/>
          <a:ln w="15875">
            <a:solidFill>
              <a:srgbClr val="B5563F"/>
            </a:solidFill>
            <a:prstDash val="dash"/>
          </a:ln>
        </p:spPr>
      </p:sp>
      <p:sp>
        <p:nvSpPr>
          <p:cNvPr id="38" name="Text 36"/>
          <p:cNvSpPr/>
          <p:nvPr/>
        </p:nvSpPr>
        <p:spPr>
          <a:xfrm>
            <a:off x="4425696" y="4114800"/>
            <a:ext cx="1792224" cy="219456"/>
          </a:xfrm>
          <a:prstGeom prst="rect">
            <a:avLst/>
          </a:prstGeom>
          <a:noFill/>
          <a:ln/>
        </p:spPr>
        <p:txBody>
          <a:bodyPr wrap="square" lIns="0" tIns="0" rIns="0" bIns="0" rtlCol="0" anchor="ctr"/>
          <a:lstStyle/>
          <a:p>
            <a:pPr algn="ctr" indent="0" marL="0">
              <a:buNone/>
            </a:pPr>
            <a:r>
              <a:rPr lang="en-US" sz="800" b="1" dirty="0">
                <a:solidFill>
                  <a:srgbClr val="B5563F"/>
                </a:solidFill>
                <a:latin typeface="Calibri" pitchFamily="34" charset="0"/>
                <a:ea typeface="Calibri" pitchFamily="34" charset="-122"/>
                <a:cs typeface="Calibri" pitchFamily="34" charset="-120"/>
              </a:rPr>
              <a:t>flagged</a:t>
            </a:r>
            <a:endParaRPr lang="en-US" sz="800" dirty="0"/>
          </a:p>
        </p:txBody>
      </p:sp>
      <p:sp>
        <p:nvSpPr>
          <p:cNvPr id="39" name="Text 37"/>
          <p:cNvSpPr/>
          <p:nvPr/>
        </p:nvSpPr>
        <p:spPr>
          <a:xfrm>
            <a:off x="10222992" y="4133088"/>
            <a:ext cx="1920240" cy="420624"/>
          </a:xfrm>
          <a:prstGeom prst="rect">
            <a:avLst/>
          </a:prstGeom>
          <a:noFill/>
          <a:ln/>
        </p:spPr>
        <p:txBody>
          <a:bodyPr wrap="square" lIns="0" tIns="0" rIns="0" bIns="0" rtlCol="0" anchor="ctr"/>
          <a:lstStyle/>
          <a:p>
            <a:pPr indent="0" marL="0">
              <a:buNone/>
            </a:pPr>
            <a:r>
              <a:rPr lang="en-US" sz="850" i="1" dirty="0">
                <a:solidFill>
                  <a:srgbClr val="B5563F"/>
                </a:solidFill>
                <a:latin typeface="Calibri" pitchFamily="34" charset="0"/>
                <a:ea typeface="Calibri" pitchFamily="34" charset="-122"/>
                <a:cs typeface="Calibri" pitchFamily="34" charset="-120"/>
              </a:rPr>
              <a:t>Duplicate entry in books</a:t>
            </a:r>
            <a:endParaRPr lang="en-US" sz="850" dirty="0"/>
          </a:p>
        </p:txBody>
      </p:sp>
      <p:sp>
        <p:nvSpPr>
          <p:cNvPr id="40" name="Shape 38"/>
          <p:cNvSpPr/>
          <p:nvPr/>
        </p:nvSpPr>
        <p:spPr>
          <a:xfrm>
            <a:off x="566928" y="4882896"/>
            <a:ext cx="11064240" cy="841248"/>
          </a:xfrm>
          <a:prstGeom prst="roundRect">
            <a:avLst>
              <a:gd name="adj" fmla="val 7609"/>
            </a:avLst>
          </a:prstGeom>
          <a:solidFill>
            <a:srgbClr val="E2ECEA"/>
          </a:solidFill>
          <a:ln w="12700">
            <a:solidFill>
              <a:srgbClr val="E2ECEA"/>
            </a:solidFill>
            <a:prstDash val="solid"/>
          </a:ln>
        </p:spPr>
      </p:sp>
      <p:sp>
        <p:nvSpPr>
          <p:cNvPr id="41" name="Text 39"/>
          <p:cNvSpPr/>
          <p:nvPr/>
        </p:nvSpPr>
        <p:spPr>
          <a:xfrm>
            <a:off x="768096" y="4965192"/>
            <a:ext cx="10661904" cy="201168"/>
          </a:xfrm>
          <a:prstGeom prst="rect">
            <a:avLst/>
          </a:prstGeom>
          <a:noFill/>
          <a:ln/>
        </p:spPr>
        <p:txBody>
          <a:bodyPr wrap="square" lIns="0" tIns="0" rIns="0" bIns="0" rtlCol="0" anchor="ctr"/>
          <a:lstStyle/>
          <a:p>
            <a:pPr indent="0" marL="0">
              <a:buNone/>
            </a:pPr>
            <a:r>
              <a:rPr lang="en-US" sz="900" b="1" spc="120" kern="0" dirty="0">
                <a:solidFill>
                  <a:srgbClr val="0F3D3E"/>
                </a:solidFill>
                <a:latin typeface="Calibri" pitchFamily="34" charset="0"/>
                <a:ea typeface="Calibri" pitchFamily="34" charset="-122"/>
                <a:cs typeface="Calibri" pitchFamily="34" charset="-120"/>
              </a:rPr>
              <a:t>THE SCALE PROBLEM</a:t>
            </a:r>
            <a:endParaRPr lang="en-US" sz="900" dirty="0"/>
          </a:p>
        </p:txBody>
      </p:sp>
      <p:sp>
        <p:nvSpPr>
          <p:cNvPr id="42" name="Text 40"/>
          <p:cNvSpPr/>
          <p:nvPr/>
        </p:nvSpPr>
        <p:spPr>
          <a:xfrm>
            <a:off x="768096" y="5175504"/>
            <a:ext cx="10661904" cy="438912"/>
          </a:xfrm>
          <a:prstGeom prst="rect">
            <a:avLst/>
          </a:prstGeom>
          <a:noFill/>
          <a:ln/>
        </p:spPr>
        <p:txBody>
          <a:bodyPr wrap="square" lIns="0" tIns="0" rIns="0" bIns="0" rtlCol="0" anchor="t"/>
          <a:lstStyle/>
          <a:p>
            <a:pPr indent="0" marL="0">
              <a:lnSpc>
                <a:spcPts val="1344"/>
              </a:lnSpc>
              <a:buNone/>
            </a:pPr>
            <a:r>
              <a:rPr lang="en-US" sz="1050" dirty="0">
                <a:solidFill>
                  <a:srgbClr val="0F3D3E"/>
                </a:solidFill>
                <a:latin typeface="Calibri" pitchFamily="34" charset="0"/>
                <a:ea typeface="Calibri" pitchFamily="34" charset="-122"/>
                <a:cs typeface="Calibri" pitchFamily="34" charset="-120"/>
              </a:rPr>
              <a:t>A mid-size client can run 300–500 purchase lines in a month. Typically 95% match cleanly and need no thought at all; the remaining 5% each need a different decision — chase the supplier, book the difference, drop the duplicate, or defer the credit. Today a person reads all 500 lines to find those 25. The work worth paying a CA for is the 25.</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09</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TDS and Form 26AS</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Tax collected in advance, by the payer, on the payee's behalf — and the government's public record of it.</a:t>
            </a:r>
            <a:endParaRPr lang="en-US" sz="1300" dirty="0"/>
          </a:p>
        </p:txBody>
      </p:sp>
      <p:sp>
        <p:nvSpPr>
          <p:cNvPr id="5" name="Text 3"/>
          <p:cNvSpPr/>
          <p:nvPr/>
        </p:nvSpPr>
        <p:spPr>
          <a:xfrm>
            <a:off x="566928" y="1737360"/>
            <a:ext cx="1755648" cy="822960"/>
          </a:xfrm>
          <a:prstGeom prst="roundRect">
            <a:avLst>
              <a:gd name="adj" fmla="val 5556"/>
            </a:avLst>
          </a:prstGeom>
          <a:solidFill>
            <a:srgbClr val="EFF4F3"/>
          </a:solidFill>
          <a:ln w="12700">
            <a:solidFill>
              <a:srgbClr val="D5E0DE"/>
            </a:solidFill>
            <a:prstDash val="solid"/>
          </a:ln>
        </p:spPr>
        <p:txBody>
          <a:bodyPr wrap="square" lIns="0" tIns="0" rIns="0" bIns="0" rtlCol="0" anchor="ctr"/>
          <a:lstStyle/>
          <a:p>
            <a:pPr algn="ctr" indent="0" marL="0">
              <a:lnSpc>
                <a:spcPts val="1062"/>
              </a:lnSpc>
              <a:buNone/>
            </a:pPr>
            <a:r>
              <a:rPr lang="en-US" sz="900" b="1" dirty="0">
                <a:solidFill>
                  <a:srgbClr val="0F3D3E"/>
                </a:solidFill>
                <a:latin typeface="Calibri" pitchFamily="34" charset="0"/>
                <a:ea typeface="Calibri" pitchFamily="34" charset="-122"/>
                <a:cs typeface="Calibri" pitchFamily="34" charset="-120"/>
              </a:rPr>
              <a:t>You owe a</a:t>
            </a:r>
            <a:endParaRPr lang="en-US" sz="900" dirty="0"/>
          </a:p>
          <a:p>
            <a:pPr algn="ctr" indent="0" marL="0">
              <a:lnSpc>
                <a:spcPts val="1062"/>
              </a:lnSpc>
              <a:buNone/>
            </a:pPr>
            <a:r>
              <a:rPr lang="en-US" sz="900" b="1" dirty="0">
                <a:solidFill>
                  <a:srgbClr val="0F3D3E"/>
                </a:solidFill>
                <a:latin typeface="Calibri" pitchFamily="34" charset="0"/>
                <a:ea typeface="Calibri" pitchFamily="34" charset="-122"/>
                <a:cs typeface="Calibri" pitchFamily="34" charset="-120"/>
              </a:rPr>
              <a:t>contractor ₹1,00,000</a:t>
            </a:r>
            <a:endParaRPr lang="en-US" sz="900" dirty="0"/>
          </a:p>
        </p:txBody>
      </p:sp>
      <p:sp>
        <p:nvSpPr>
          <p:cNvPr id="6" name="Shape 4"/>
          <p:cNvSpPr/>
          <p:nvPr/>
        </p:nvSpPr>
        <p:spPr>
          <a:xfrm>
            <a:off x="2331720" y="2148840"/>
            <a:ext cx="100584" cy="0"/>
          </a:xfrm>
          <a:prstGeom prst="line">
            <a:avLst/>
          </a:prstGeom>
          <a:noFill/>
          <a:ln w="15875">
            <a:solidFill>
              <a:srgbClr val="9AB0AE"/>
            </a:solidFill>
            <a:prstDash val="solid"/>
            <a:tailEnd type="triangle"/>
          </a:ln>
        </p:spPr>
      </p:sp>
      <p:sp>
        <p:nvSpPr>
          <p:cNvPr id="7" name="Text 5"/>
          <p:cNvSpPr/>
          <p:nvPr/>
        </p:nvSpPr>
        <p:spPr>
          <a:xfrm>
            <a:off x="2441448" y="1737360"/>
            <a:ext cx="1755648" cy="822960"/>
          </a:xfrm>
          <a:prstGeom prst="roundRect">
            <a:avLst>
              <a:gd name="adj" fmla="val 5556"/>
            </a:avLst>
          </a:prstGeom>
          <a:solidFill>
            <a:srgbClr val="1B5C5D"/>
          </a:solidFill>
          <a:ln w="12700">
            <a:solidFill>
              <a:srgbClr val="1B5C5D"/>
            </a:solidFill>
            <a:prstDash val="solid"/>
          </a:ln>
        </p:spPr>
        <p:txBody>
          <a:bodyPr wrap="square" lIns="0" tIns="0" rIns="0" bIns="0" rtlCol="0" anchor="ctr"/>
          <a:lstStyle/>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Deduct TDS at 2%</a:t>
            </a:r>
            <a:endParaRPr lang="en-US" sz="900" dirty="0"/>
          </a:p>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 ₹2,000</a:t>
            </a:r>
            <a:endParaRPr lang="en-US" sz="900" dirty="0"/>
          </a:p>
        </p:txBody>
      </p:sp>
      <p:sp>
        <p:nvSpPr>
          <p:cNvPr id="8" name="Shape 6"/>
          <p:cNvSpPr/>
          <p:nvPr/>
        </p:nvSpPr>
        <p:spPr>
          <a:xfrm>
            <a:off x="4206240" y="2148840"/>
            <a:ext cx="100584" cy="0"/>
          </a:xfrm>
          <a:prstGeom prst="line">
            <a:avLst/>
          </a:prstGeom>
          <a:noFill/>
          <a:ln w="15875">
            <a:solidFill>
              <a:srgbClr val="9AB0AE"/>
            </a:solidFill>
            <a:prstDash val="solid"/>
            <a:tailEnd type="triangle"/>
          </a:ln>
        </p:spPr>
      </p:sp>
      <p:sp>
        <p:nvSpPr>
          <p:cNvPr id="9" name="Text 7"/>
          <p:cNvSpPr/>
          <p:nvPr/>
        </p:nvSpPr>
        <p:spPr>
          <a:xfrm>
            <a:off x="4315968" y="1737360"/>
            <a:ext cx="1755648" cy="822960"/>
          </a:xfrm>
          <a:prstGeom prst="roundRect">
            <a:avLst>
              <a:gd name="adj" fmla="val 5556"/>
            </a:avLst>
          </a:prstGeom>
          <a:solidFill>
            <a:srgbClr val="0F3D3E"/>
          </a:solidFill>
          <a:ln w="12700">
            <a:solidFill>
              <a:srgbClr val="0F3D3E"/>
            </a:solidFill>
            <a:prstDash val="solid"/>
          </a:ln>
        </p:spPr>
        <p:txBody>
          <a:bodyPr wrap="square" lIns="0" tIns="0" rIns="0" bIns="0" rtlCol="0" anchor="ctr"/>
          <a:lstStyle/>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Pay the contractor</a:t>
            </a:r>
            <a:endParaRPr lang="en-US" sz="900" dirty="0"/>
          </a:p>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₹98,000</a:t>
            </a:r>
            <a:endParaRPr lang="en-US" sz="900" dirty="0"/>
          </a:p>
        </p:txBody>
      </p:sp>
      <p:sp>
        <p:nvSpPr>
          <p:cNvPr id="10" name="Shape 8"/>
          <p:cNvSpPr/>
          <p:nvPr/>
        </p:nvSpPr>
        <p:spPr>
          <a:xfrm>
            <a:off x="6080760" y="2148840"/>
            <a:ext cx="100584" cy="0"/>
          </a:xfrm>
          <a:prstGeom prst="line">
            <a:avLst/>
          </a:prstGeom>
          <a:noFill/>
          <a:ln w="15875">
            <a:solidFill>
              <a:srgbClr val="9AB0AE"/>
            </a:solidFill>
            <a:prstDash val="solid"/>
            <a:tailEnd type="triangle"/>
          </a:ln>
        </p:spPr>
      </p:sp>
      <p:sp>
        <p:nvSpPr>
          <p:cNvPr id="11" name="Text 9"/>
          <p:cNvSpPr/>
          <p:nvPr/>
        </p:nvSpPr>
        <p:spPr>
          <a:xfrm>
            <a:off x="6190488" y="1737360"/>
            <a:ext cx="1755648" cy="822960"/>
          </a:xfrm>
          <a:prstGeom prst="roundRect">
            <a:avLst>
              <a:gd name="adj" fmla="val 5556"/>
            </a:avLst>
          </a:prstGeom>
          <a:solidFill>
            <a:srgbClr val="0F3D3E"/>
          </a:solidFill>
          <a:ln w="12700">
            <a:solidFill>
              <a:srgbClr val="0F3D3E"/>
            </a:solidFill>
            <a:prstDash val="solid"/>
          </a:ln>
        </p:spPr>
        <p:txBody>
          <a:bodyPr wrap="square" lIns="0" tIns="0" rIns="0" bIns="0" rtlCol="0" anchor="ctr"/>
          <a:lstStyle/>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Deposit ₹2,000 with</a:t>
            </a:r>
            <a:endParaRPr lang="en-US" sz="900" dirty="0"/>
          </a:p>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the government by the 7th</a:t>
            </a:r>
            <a:endParaRPr lang="en-US" sz="900" dirty="0"/>
          </a:p>
        </p:txBody>
      </p:sp>
      <p:sp>
        <p:nvSpPr>
          <p:cNvPr id="12" name="Shape 10"/>
          <p:cNvSpPr/>
          <p:nvPr/>
        </p:nvSpPr>
        <p:spPr>
          <a:xfrm>
            <a:off x="7955280" y="2148840"/>
            <a:ext cx="100584" cy="0"/>
          </a:xfrm>
          <a:prstGeom prst="line">
            <a:avLst/>
          </a:prstGeom>
          <a:noFill/>
          <a:ln w="15875">
            <a:solidFill>
              <a:srgbClr val="9AB0AE"/>
            </a:solidFill>
            <a:prstDash val="solid"/>
            <a:tailEnd type="triangle"/>
          </a:ln>
        </p:spPr>
      </p:sp>
      <p:sp>
        <p:nvSpPr>
          <p:cNvPr id="13" name="Text 11"/>
          <p:cNvSpPr/>
          <p:nvPr/>
        </p:nvSpPr>
        <p:spPr>
          <a:xfrm>
            <a:off x="8065008" y="1737360"/>
            <a:ext cx="1755648" cy="822960"/>
          </a:xfrm>
          <a:prstGeom prst="roundRect">
            <a:avLst>
              <a:gd name="adj" fmla="val 5556"/>
            </a:avLst>
          </a:prstGeom>
          <a:solidFill>
            <a:srgbClr val="0F3D3E"/>
          </a:solidFill>
          <a:ln w="12700">
            <a:solidFill>
              <a:srgbClr val="0F3D3E"/>
            </a:solidFill>
            <a:prstDash val="solid"/>
          </a:ln>
        </p:spPr>
        <p:txBody>
          <a:bodyPr wrap="square" lIns="0" tIns="0" rIns="0" bIns="0" rtlCol="0" anchor="ctr"/>
          <a:lstStyle/>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File the quarterly return</a:t>
            </a:r>
            <a:endParaRPr lang="en-US" sz="900" dirty="0"/>
          </a:p>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(24Q / 26Q / 27EQ)</a:t>
            </a:r>
            <a:endParaRPr lang="en-US" sz="900" dirty="0"/>
          </a:p>
        </p:txBody>
      </p:sp>
      <p:sp>
        <p:nvSpPr>
          <p:cNvPr id="14" name="Shape 12"/>
          <p:cNvSpPr/>
          <p:nvPr/>
        </p:nvSpPr>
        <p:spPr>
          <a:xfrm>
            <a:off x="9829800" y="2148840"/>
            <a:ext cx="100584" cy="0"/>
          </a:xfrm>
          <a:prstGeom prst="line">
            <a:avLst/>
          </a:prstGeom>
          <a:noFill/>
          <a:ln w="15875">
            <a:solidFill>
              <a:srgbClr val="9AB0AE"/>
            </a:solidFill>
            <a:prstDash val="solid"/>
            <a:tailEnd type="triangle"/>
          </a:ln>
        </p:spPr>
      </p:sp>
      <p:sp>
        <p:nvSpPr>
          <p:cNvPr id="15" name="Text 13"/>
          <p:cNvSpPr/>
          <p:nvPr/>
        </p:nvSpPr>
        <p:spPr>
          <a:xfrm>
            <a:off x="9939528" y="1737360"/>
            <a:ext cx="1755648" cy="822960"/>
          </a:xfrm>
          <a:prstGeom prst="roundRect">
            <a:avLst>
              <a:gd name="adj" fmla="val 5556"/>
            </a:avLst>
          </a:prstGeom>
          <a:solidFill>
            <a:srgbClr val="2E7D5B"/>
          </a:solidFill>
          <a:ln w="12700">
            <a:solidFill>
              <a:srgbClr val="2E7D5B"/>
            </a:solidFill>
            <a:prstDash val="solid"/>
          </a:ln>
        </p:spPr>
        <p:txBody>
          <a:bodyPr wrap="square" lIns="0" tIns="0" rIns="0" bIns="0" rtlCol="0" anchor="ctr"/>
          <a:lstStyle/>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It appears in the</a:t>
            </a:r>
            <a:endParaRPr lang="en-US" sz="900" dirty="0"/>
          </a:p>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contractor's Form 26AS</a:t>
            </a:r>
            <a:endParaRPr lang="en-US" sz="900" dirty="0"/>
          </a:p>
        </p:txBody>
      </p:sp>
      <p:sp>
        <p:nvSpPr>
          <p:cNvPr id="16" name="Text 14"/>
          <p:cNvSpPr/>
          <p:nvPr/>
        </p:nvSpPr>
        <p:spPr>
          <a:xfrm>
            <a:off x="566928" y="2798064"/>
            <a:ext cx="11064240" cy="548640"/>
          </a:xfrm>
          <a:prstGeom prst="rect">
            <a:avLst/>
          </a:prstGeom>
          <a:noFill/>
          <a:ln/>
        </p:spPr>
        <p:txBody>
          <a:bodyPr wrap="square" lIns="0" tIns="0" rIns="0" bIns="0" rtlCol="0" anchor="t"/>
          <a:lstStyle/>
          <a:p>
            <a:pPr indent="0" marL="0">
              <a:lnSpc>
                <a:spcPts val="1600"/>
              </a:lnSpc>
              <a:buNone/>
            </a:pPr>
            <a:r>
              <a:rPr lang="en-US" sz="1150" dirty="0">
                <a:solidFill>
                  <a:srgbClr val="0F3D3E"/>
                </a:solidFill>
                <a:latin typeface="Calibri" pitchFamily="34" charset="0"/>
                <a:ea typeface="Calibri" pitchFamily="34" charset="-122"/>
                <a:cs typeface="Calibri" pitchFamily="34" charset="-120"/>
              </a:rPr>
              <a:t>Form 26AS / TRACES is the tax department's consolidated statement against a PAN: every rupee anyone deducted, and whether it was actually deposited. It is the outside-world record the books must agree with — exactly the role GSTR-2B plays for GST.</a:t>
            </a:r>
            <a:endParaRPr lang="en-US" sz="1150" dirty="0"/>
          </a:p>
        </p:txBody>
      </p:sp>
      <p:sp>
        <p:nvSpPr>
          <p:cNvPr id="17" name="Shape 15"/>
          <p:cNvSpPr/>
          <p:nvPr/>
        </p:nvSpPr>
        <p:spPr>
          <a:xfrm>
            <a:off x="566928" y="3529584"/>
            <a:ext cx="3566160" cy="1810512"/>
          </a:xfrm>
          <a:prstGeom prst="roundRect">
            <a:avLst>
              <a:gd name="adj" fmla="val 3535"/>
            </a:avLst>
          </a:prstGeom>
          <a:solidFill>
            <a:srgbClr val="EFF4F3"/>
          </a:solidFill>
          <a:ln w="12700">
            <a:solidFill>
              <a:srgbClr val="EFF4F3"/>
            </a:solidFill>
            <a:prstDash val="solid"/>
          </a:ln>
        </p:spPr>
      </p:sp>
      <p:sp>
        <p:nvSpPr>
          <p:cNvPr id="18" name="Text 16"/>
          <p:cNvSpPr/>
          <p:nvPr/>
        </p:nvSpPr>
        <p:spPr>
          <a:xfrm>
            <a:off x="804672" y="3657600"/>
            <a:ext cx="3090672" cy="274320"/>
          </a:xfrm>
          <a:prstGeom prst="rect">
            <a:avLst/>
          </a:prstGeom>
          <a:noFill/>
          <a:ln/>
        </p:spPr>
        <p:txBody>
          <a:bodyPr wrap="square" lIns="0" tIns="0" rIns="0" bIns="0" rtlCol="0" anchor="ctr"/>
          <a:lstStyle/>
          <a:p>
            <a:pPr indent="0" marL="0">
              <a:buNone/>
            </a:pPr>
            <a:r>
              <a:rPr lang="en-US" sz="1300" b="1" dirty="0">
                <a:solidFill>
                  <a:srgbClr val="0F3D3E"/>
                </a:solidFill>
                <a:latin typeface="Cambria" pitchFamily="34" charset="0"/>
                <a:ea typeface="Cambria" pitchFamily="34" charset="-122"/>
                <a:cs typeface="Cambria" pitchFamily="34" charset="-120"/>
              </a:rPr>
              <a:t>The three quarterly returns</a:t>
            </a:r>
            <a:endParaRPr lang="en-US" sz="1300" dirty="0"/>
          </a:p>
        </p:txBody>
      </p:sp>
      <p:sp>
        <p:nvSpPr>
          <p:cNvPr id="19" name="Text 17"/>
          <p:cNvSpPr/>
          <p:nvPr/>
        </p:nvSpPr>
        <p:spPr>
          <a:xfrm>
            <a:off x="804672" y="3986784"/>
            <a:ext cx="3090672" cy="1572768"/>
          </a:xfrm>
          <a:prstGeom prst="rect">
            <a:avLst/>
          </a:prstGeom>
          <a:noFill/>
          <a:ln/>
        </p:spPr>
        <p:txBody>
          <a:bodyPr wrap="square" lIns="0" tIns="0" rIns="0" bIns="0" rtlCol="0" anchor="t"/>
          <a:lstStyle/>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24Q — TDS on salaries</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26Q — TDS on payments to residents</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27EQ — tax collected at source (TCS)</a:t>
            </a:r>
            <a:endParaRPr lang="en-US" sz="1000" dirty="0"/>
          </a:p>
        </p:txBody>
      </p:sp>
      <p:sp>
        <p:nvSpPr>
          <p:cNvPr id="20" name="Shape 18"/>
          <p:cNvSpPr/>
          <p:nvPr/>
        </p:nvSpPr>
        <p:spPr>
          <a:xfrm>
            <a:off x="4407408" y="3529584"/>
            <a:ext cx="3566160" cy="1810512"/>
          </a:xfrm>
          <a:prstGeom prst="roundRect">
            <a:avLst>
              <a:gd name="adj" fmla="val 3535"/>
            </a:avLst>
          </a:prstGeom>
          <a:solidFill>
            <a:srgbClr val="F6E5E0"/>
          </a:solidFill>
          <a:ln w="12700">
            <a:solidFill>
              <a:srgbClr val="F6E5E0"/>
            </a:solidFill>
            <a:prstDash val="solid"/>
          </a:ln>
        </p:spPr>
      </p:sp>
      <p:sp>
        <p:nvSpPr>
          <p:cNvPr id="21" name="Text 19"/>
          <p:cNvSpPr/>
          <p:nvPr/>
        </p:nvSpPr>
        <p:spPr>
          <a:xfrm>
            <a:off x="4645152" y="3657600"/>
            <a:ext cx="3090672" cy="274320"/>
          </a:xfrm>
          <a:prstGeom prst="rect">
            <a:avLst/>
          </a:prstGeom>
          <a:noFill/>
          <a:ln/>
        </p:spPr>
        <p:txBody>
          <a:bodyPr wrap="square" lIns="0" tIns="0" rIns="0" bIns="0" rtlCol="0" anchor="ctr"/>
          <a:lstStyle/>
          <a:p>
            <a:pPr indent="0" marL="0">
              <a:buNone/>
            </a:pPr>
            <a:r>
              <a:rPr lang="en-US" sz="1300" b="1" dirty="0">
                <a:solidFill>
                  <a:srgbClr val="0F3D3E"/>
                </a:solidFill>
                <a:latin typeface="Cambria" pitchFamily="34" charset="0"/>
                <a:ea typeface="Cambria" pitchFamily="34" charset="-122"/>
                <a:cs typeface="Cambria" pitchFamily="34" charset="-120"/>
              </a:rPr>
              <a:t>What goes wrong</a:t>
            </a:r>
            <a:endParaRPr lang="en-US" sz="1300" dirty="0"/>
          </a:p>
        </p:txBody>
      </p:sp>
      <p:sp>
        <p:nvSpPr>
          <p:cNvPr id="22" name="Text 20"/>
          <p:cNvSpPr/>
          <p:nvPr/>
        </p:nvSpPr>
        <p:spPr>
          <a:xfrm>
            <a:off x="4645152" y="3986784"/>
            <a:ext cx="3090672" cy="1572768"/>
          </a:xfrm>
          <a:prstGeom prst="rect">
            <a:avLst/>
          </a:prstGeom>
          <a:noFill/>
          <a:ln/>
        </p:spPr>
        <p:txBody>
          <a:bodyPr wrap="square" lIns="0" tIns="0" rIns="0" bIns="0" rtlCol="0" anchor="t"/>
          <a:lstStyle/>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Short deduction — the wrong rate applied</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Late deposit — interest and penalty follow</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Books vs 26AS mismatch — credit denied</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Wrong PAN — the deduction lands on nobody</a:t>
            </a:r>
            <a:endParaRPr lang="en-US" sz="1000" dirty="0"/>
          </a:p>
        </p:txBody>
      </p:sp>
      <p:sp>
        <p:nvSpPr>
          <p:cNvPr id="23" name="Shape 21"/>
          <p:cNvSpPr/>
          <p:nvPr/>
        </p:nvSpPr>
        <p:spPr>
          <a:xfrm>
            <a:off x="8247888" y="3529584"/>
            <a:ext cx="3566160" cy="1810512"/>
          </a:xfrm>
          <a:prstGeom prst="roundRect">
            <a:avLst>
              <a:gd name="adj" fmla="val 3535"/>
            </a:avLst>
          </a:prstGeom>
          <a:solidFill>
            <a:srgbClr val="E2ECEA"/>
          </a:solidFill>
          <a:ln w="12700">
            <a:solidFill>
              <a:srgbClr val="E2ECEA"/>
            </a:solidFill>
            <a:prstDash val="solid"/>
          </a:ln>
        </p:spPr>
      </p:sp>
      <p:sp>
        <p:nvSpPr>
          <p:cNvPr id="24" name="Text 22"/>
          <p:cNvSpPr/>
          <p:nvPr/>
        </p:nvSpPr>
        <p:spPr>
          <a:xfrm>
            <a:off x="8485632" y="3657600"/>
            <a:ext cx="3090672" cy="274320"/>
          </a:xfrm>
          <a:prstGeom prst="rect">
            <a:avLst/>
          </a:prstGeom>
          <a:noFill/>
          <a:ln/>
        </p:spPr>
        <p:txBody>
          <a:bodyPr wrap="square" lIns="0" tIns="0" rIns="0" bIns="0" rtlCol="0" anchor="ctr"/>
          <a:lstStyle/>
          <a:p>
            <a:pPr indent="0" marL="0">
              <a:buNone/>
            </a:pPr>
            <a:r>
              <a:rPr lang="en-US" sz="1300" b="1" dirty="0">
                <a:solidFill>
                  <a:srgbClr val="0F3D3E"/>
                </a:solidFill>
                <a:latin typeface="Cambria" pitchFamily="34" charset="0"/>
                <a:ea typeface="Cambria" pitchFamily="34" charset="-122"/>
                <a:cs typeface="Cambria" pitchFamily="34" charset="-120"/>
              </a:rPr>
              <a:t>Why the practice cares</a:t>
            </a:r>
            <a:endParaRPr lang="en-US" sz="1300" dirty="0"/>
          </a:p>
        </p:txBody>
      </p:sp>
      <p:sp>
        <p:nvSpPr>
          <p:cNvPr id="25" name="Text 23"/>
          <p:cNvSpPr/>
          <p:nvPr/>
        </p:nvSpPr>
        <p:spPr>
          <a:xfrm>
            <a:off x="8485632" y="3986784"/>
            <a:ext cx="3090672" cy="1572768"/>
          </a:xfrm>
          <a:prstGeom prst="rect">
            <a:avLst/>
          </a:prstGeom>
          <a:noFill/>
          <a:ln/>
        </p:spPr>
        <p:txBody>
          <a:bodyPr wrap="square" lIns="0" tIns="0" rIns="0" bIns="0" rtlCol="0" anchor="t"/>
          <a:lstStyle/>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The client's own credit depends on it</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Errors surface months later as notices</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The reconciliation logic is identical to GST — same shape, different data</a:t>
            </a:r>
            <a:endParaRPr lang="en-US" sz="1000" dirty="0"/>
          </a:p>
        </p:txBody>
      </p:sp>
      <p:sp>
        <p:nvSpPr>
          <p:cNvPr id="26" name="Text 24"/>
          <p:cNvSpPr/>
          <p:nvPr/>
        </p:nvSpPr>
        <p:spPr>
          <a:xfrm>
            <a:off x="566928" y="6272784"/>
            <a:ext cx="11064240" cy="274320"/>
          </a:xfrm>
          <a:prstGeom prst="rect">
            <a:avLst/>
          </a:prstGeom>
          <a:noFill/>
          <a:ln/>
        </p:spPr>
        <p:txBody>
          <a:bodyPr wrap="square" lIns="0" tIns="0" rIns="0" bIns="0" rtlCol="0" anchor="ctr"/>
          <a:lstStyle/>
          <a:p>
            <a:pPr indent="0" marL="0">
              <a:buNone/>
            </a:pPr>
            <a:r>
              <a:rPr lang="en-US" sz="1000" b="1" dirty="0">
                <a:solidFill>
                  <a:srgbClr val="C08428"/>
                </a:solidFill>
                <a:latin typeface="Calibri" pitchFamily="34" charset="0"/>
                <a:ea typeface="Calibri" pitchFamily="34" charset="-122"/>
                <a:cs typeface="Calibri" pitchFamily="34" charset="-120"/>
              </a:rPr>
              <a:t>In CAOS  ›  </a:t>
            </a:r>
            <a:pPr indent="0" marL="0">
              <a:buNone/>
            </a:pPr>
            <a:r>
              <a:rPr lang="en-US" sz="1000" dirty="0">
                <a:solidFill>
                  <a:srgbClr val="5C6B6A"/>
                </a:solidFill>
                <a:latin typeface="Calibri" pitchFamily="34" charset="0"/>
                <a:ea typeface="Calibri" pitchFamily="34" charset="-122"/>
                <a:cs typeface="Calibri" pitchFamily="34" charset="-120"/>
              </a:rPr>
              <a:t>Agent 6 — TDS/TCS Return Automation reuses the GST reconciliation engine against 26AS/TRACES data.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10</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Bank reconciliation, and working papers</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Two more places where the books have to be proved against something outside them.</a:t>
            </a:r>
            <a:endParaRPr lang="en-US" sz="1300" dirty="0"/>
          </a:p>
        </p:txBody>
      </p:sp>
      <p:sp>
        <p:nvSpPr>
          <p:cNvPr id="5" name="Shape 3"/>
          <p:cNvSpPr/>
          <p:nvPr/>
        </p:nvSpPr>
        <p:spPr>
          <a:xfrm>
            <a:off x="566928" y="1664208"/>
            <a:ext cx="5394960" cy="4224528"/>
          </a:xfrm>
          <a:prstGeom prst="roundRect">
            <a:avLst>
              <a:gd name="adj" fmla="val 1515"/>
            </a:avLst>
          </a:prstGeom>
          <a:solidFill>
            <a:srgbClr val="EFF4F3"/>
          </a:solidFill>
          <a:ln w="12700">
            <a:solidFill>
              <a:srgbClr val="D5E0DE"/>
            </a:solidFill>
            <a:prstDash val="solid"/>
          </a:ln>
        </p:spPr>
      </p:sp>
      <p:sp>
        <p:nvSpPr>
          <p:cNvPr id="6" name="Text 4"/>
          <p:cNvSpPr/>
          <p:nvPr/>
        </p:nvSpPr>
        <p:spPr>
          <a:xfrm>
            <a:off x="822960" y="1792224"/>
            <a:ext cx="4882896" cy="256032"/>
          </a:xfrm>
          <a:prstGeom prst="rect">
            <a:avLst/>
          </a:prstGeom>
          <a:noFill/>
          <a:ln/>
        </p:spPr>
        <p:txBody>
          <a:bodyPr wrap="square" lIns="0" tIns="0" rIns="0" bIns="0" rtlCol="0" anchor="ctr"/>
          <a:lstStyle/>
          <a:p>
            <a:pPr indent="0" marL="0">
              <a:buNone/>
            </a:pPr>
            <a:r>
              <a:rPr lang="en-US" sz="950" b="1" spc="120" kern="0" dirty="0">
                <a:solidFill>
                  <a:srgbClr val="C08428"/>
                </a:solidFill>
                <a:latin typeface="Calibri" pitchFamily="34" charset="0"/>
                <a:ea typeface="Calibri" pitchFamily="34" charset="-122"/>
                <a:cs typeface="Calibri" pitchFamily="34" charset="-120"/>
              </a:rPr>
              <a:t>BANK RECONCILIATION</a:t>
            </a:r>
            <a:endParaRPr lang="en-US" sz="950" dirty="0"/>
          </a:p>
        </p:txBody>
      </p:sp>
      <p:sp>
        <p:nvSpPr>
          <p:cNvPr id="7" name="Text 5"/>
          <p:cNvSpPr/>
          <p:nvPr/>
        </p:nvSpPr>
        <p:spPr>
          <a:xfrm>
            <a:off x="822960" y="2084832"/>
            <a:ext cx="4882896" cy="566928"/>
          </a:xfrm>
          <a:prstGeom prst="rect">
            <a:avLst/>
          </a:prstGeom>
          <a:noFill/>
          <a:ln/>
        </p:spPr>
        <p:txBody>
          <a:bodyPr wrap="square" lIns="0" tIns="0" rIns="0" bIns="0" rtlCol="0" anchor="t"/>
          <a:lstStyle/>
          <a:p>
            <a:pPr indent="0" marL="0">
              <a:lnSpc>
                <a:spcPts val="1400"/>
              </a:lnSpc>
              <a:buNone/>
            </a:pPr>
            <a:r>
              <a:rPr lang="en-US" sz="1050" dirty="0">
                <a:solidFill>
                  <a:srgbClr val="0F3D3E"/>
                </a:solidFill>
                <a:latin typeface="Calibri" pitchFamily="34" charset="0"/>
                <a:ea typeface="Calibri" pitchFamily="34" charset="-122"/>
                <a:cs typeface="Calibri" pitchFamily="34" charset="-120"/>
              </a:rPr>
              <a:t>The bank book in Tally versus the bank's own statement. They almost never agree on the first pass — and the gaps are not errors, they are timing.</a:t>
            </a:r>
            <a:endParaRPr lang="en-US" sz="1050" dirty="0"/>
          </a:p>
        </p:txBody>
      </p:sp>
      <p:sp>
        <p:nvSpPr>
          <p:cNvPr id="8" name="Text 6"/>
          <p:cNvSpPr/>
          <p:nvPr/>
        </p:nvSpPr>
        <p:spPr>
          <a:xfrm>
            <a:off x="822960" y="2743200"/>
            <a:ext cx="2286000" cy="512064"/>
          </a:xfrm>
          <a:prstGeom prst="roundRect">
            <a:avLst>
              <a:gd name="adj" fmla="val 8929"/>
            </a:avLst>
          </a:prstGeom>
          <a:solidFill>
            <a:srgbClr val="0F3D3E"/>
          </a:solidFill>
          <a:ln w="12700">
            <a:solidFill>
              <a:srgbClr val="0F3D3E"/>
            </a:solidFill>
            <a:prstDash val="solid"/>
          </a:ln>
        </p:spPr>
        <p:txBody>
          <a:bodyPr wrap="square" lIns="0" tIns="0" rIns="0" bIns="0" rtlCol="0" anchor="ctr"/>
          <a:lstStyle/>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Bank book</a:t>
            </a:r>
            <a:endParaRPr lang="en-US" sz="900" dirty="0"/>
          </a:p>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(what we recorded)</a:t>
            </a:r>
            <a:endParaRPr lang="en-US" sz="900" dirty="0"/>
          </a:p>
        </p:txBody>
      </p:sp>
      <p:sp>
        <p:nvSpPr>
          <p:cNvPr id="9" name="Text 7"/>
          <p:cNvSpPr/>
          <p:nvPr/>
        </p:nvSpPr>
        <p:spPr>
          <a:xfrm>
            <a:off x="3401568" y="2743200"/>
            <a:ext cx="2286000" cy="512064"/>
          </a:xfrm>
          <a:prstGeom prst="roundRect">
            <a:avLst>
              <a:gd name="adj" fmla="val 8929"/>
            </a:avLst>
          </a:prstGeom>
          <a:solidFill>
            <a:srgbClr val="1B5C5D"/>
          </a:solidFill>
          <a:ln w="12700">
            <a:solidFill>
              <a:srgbClr val="1B5C5D"/>
            </a:solidFill>
            <a:prstDash val="solid"/>
          </a:ln>
        </p:spPr>
        <p:txBody>
          <a:bodyPr wrap="square" lIns="0" tIns="0" rIns="0" bIns="0" rtlCol="0" anchor="ctr"/>
          <a:lstStyle/>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Bank statement</a:t>
            </a:r>
            <a:endParaRPr lang="en-US" sz="900" dirty="0"/>
          </a:p>
          <a:p>
            <a:pPr algn="ctr" indent="0" marL="0">
              <a:lnSpc>
                <a:spcPts val="1062"/>
              </a:lnSpc>
              <a:buNone/>
            </a:pPr>
            <a:r>
              <a:rPr lang="en-US" sz="900" b="1" dirty="0">
                <a:solidFill>
                  <a:srgbClr val="FFFFFF"/>
                </a:solidFill>
                <a:latin typeface="Calibri" pitchFamily="34" charset="0"/>
                <a:ea typeface="Calibri" pitchFamily="34" charset="-122"/>
                <a:cs typeface="Calibri" pitchFamily="34" charset="-120"/>
              </a:rPr>
              <a:t>(what the bank shows)</a:t>
            </a:r>
            <a:endParaRPr lang="en-US" sz="900" dirty="0"/>
          </a:p>
        </p:txBody>
      </p:sp>
      <p:sp>
        <p:nvSpPr>
          <p:cNvPr id="10" name="Shape 8"/>
          <p:cNvSpPr/>
          <p:nvPr/>
        </p:nvSpPr>
        <p:spPr>
          <a:xfrm>
            <a:off x="3127248" y="2999232"/>
            <a:ext cx="256032" cy="0"/>
          </a:xfrm>
          <a:prstGeom prst="line">
            <a:avLst/>
          </a:prstGeom>
          <a:noFill/>
          <a:ln w="15875">
            <a:solidFill>
              <a:srgbClr val="9AB0AE"/>
            </a:solidFill>
            <a:prstDash val="solid"/>
            <a:tailEnd type="triangle"/>
          </a:ln>
        </p:spPr>
      </p:sp>
      <p:sp>
        <p:nvSpPr>
          <p:cNvPr id="11" name="Text 9"/>
          <p:cNvSpPr/>
          <p:nvPr/>
        </p:nvSpPr>
        <p:spPr>
          <a:xfrm>
            <a:off x="822960" y="3401568"/>
            <a:ext cx="4882896" cy="219456"/>
          </a:xfrm>
          <a:prstGeom prst="rect">
            <a:avLst/>
          </a:prstGeom>
          <a:noFill/>
          <a:ln/>
        </p:spPr>
        <p:txBody>
          <a:bodyPr wrap="square" lIns="0" tIns="0" rIns="0" bIns="0" rtlCol="0" anchor="ctr"/>
          <a:lstStyle/>
          <a:p>
            <a:pPr indent="0" marL="0">
              <a:buNone/>
            </a:pPr>
            <a:r>
              <a:rPr lang="en-US" sz="850" b="1" spc="100" kern="0" dirty="0">
                <a:solidFill>
                  <a:srgbClr val="5C6B6A"/>
                </a:solidFill>
                <a:latin typeface="Calibri" pitchFamily="34" charset="0"/>
                <a:ea typeface="Calibri" pitchFamily="34" charset="-122"/>
                <a:cs typeface="Calibri" pitchFamily="34" charset="-120"/>
              </a:rPr>
              <a:t>TYPICAL REASONS THEY DIFFER</a:t>
            </a:r>
            <a:endParaRPr lang="en-US" sz="850" dirty="0"/>
          </a:p>
        </p:txBody>
      </p:sp>
      <p:sp>
        <p:nvSpPr>
          <p:cNvPr id="12" name="Text 10"/>
          <p:cNvSpPr/>
          <p:nvPr/>
        </p:nvSpPr>
        <p:spPr>
          <a:xfrm>
            <a:off x="822960" y="3657600"/>
            <a:ext cx="4882896" cy="1645920"/>
          </a:xfrm>
          <a:prstGeom prst="rect">
            <a:avLst/>
          </a:prstGeom>
          <a:noFill/>
          <a:ln/>
        </p:spPr>
        <p:txBody>
          <a:bodyPr wrap="square" lIns="0" tIns="0" rIns="0" bIns="0" rtlCol="0" anchor="t"/>
          <a:lstStyle/>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Cheques issued but not yet presented</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Deposits made but not yet credited</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Bank charges and interest never recorded in the books</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Direct credits from customers the client didn't mention</a:t>
            </a:r>
            <a:endParaRPr lang="en-US" sz="1000" dirty="0"/>
          </a:p>
          <a:p>
            <a:pPr marL="342900" indent="-342900">
              <a:lnSpc>
                <a:spcPts val="1350"/>
              </a:lnSpc>
              <a:spcAft>
                <a:spcPts val="700"/>
              </a:spcAft>
              <a:buSzPct val="100000"/>
              <a:buChar char="•"/>
            </a:pPr>
            <a:r>
              <a:rPr lang="en-US" sz="1000" dirty="0">
                <a:solidFill>
                  <a:srgbClr val="5C6B6A"/>
                </a:solidFill>
                <a:latin typeface="Calibri" pitchFamily="34" charset="0"/>
                <a:ea typeface="Calibri" pitchFamily="34" charset="-122"/>
                <a:cs typeface="Calibri" pitchFamily="34" charset="-120"/>
              </a:rPr>
              <a:t>Genuine errors — wrong amount, missed entry, duplicate</a:t>
            </a:r>
            <a:endParaRPr lang="en-US" sz="1000" dirty="0"/>
          </a:p>
        </p:txBody>
      </p:sp>
      <p:sp>
        <p:nvSpPr>
          <p:cNvPr id="13" name="Text 11"/>
          <p:cNvSpPr/>
          <p:nvPr/>
        </p:nvSpPr>
        <p:spPr>
          <a:xfrm>
            <a:off x="822960" y="5468112"/>
            <a:ext cx="1097280" cy="256032"/>
          </a:xfrm>
          <a:prstGeom prst="rect">
            <a:avLst/>
          </a:prstGeom>
          <a:noFill/>
          <a:ln/>
        </p:spPr>
        <p:txBody>
          <a:bodyPr wrap="square" lIns="0" tIns="0" rIns="0" bIns="0" rtlCol="0" anchor="ctr"/>
          <a:lstStyle/>
          <a:p>
            <a:pPr indent="0" marL="0">
              <a:buNone/>
            </a:pPr>
            <a:r>
              <a:rPr lang="en-US" sz="900" b="1" dirty="0">
                <a:solidFill>
                  <a:srgbClr val="C08428"/>
                </a:solidFill>
                <a:latin typeface="Calibri" pitchFamily="34" charset="0"/>
                <a:ea typeface="Calibri" pitchFamily="34" charset="-122"/>
                <a:cs typeface="Calibri" pitchFamily="34" charset="-120"/>
              </a:rPr>
              <a:t>Agent 7</a:t>
            </a:r>
            <a:endParaRPr lang="en-US" sz="900" dirty="0"/>
          </a:p>
        </p:txBody>
      </p:sp>
      <p:sp>
        <p:nvSpPr>
          <p:cNvPr id="14" name="Shape 12"/>
          <p:cNvSpPr/>
          <p:nvPr/>
        </p:nvSpPr>
        <p:spPr>
          <a:xfrm>
            <a:off x="6236208" y="1664208"/>
            <a:ext cx="5394960" cy="4224528"/>
          </a:xfrm>
          <a:prstGeom prst="roundRect">
            <a:avLst>
              <a:gd name="adj" fmla="val 1515"/>
            </a:avLst>
          </a:prstGeom>
          <a:solidFill>
            <a:srgbClr val="E2ECEA"/>
          </a:solidFill>
          <a:ln w="12700">
            <a:solidFill>
              <a:srgbClr val="E2ECEA"/>
            </a:solidFill>
            <a:prstDash val="solid"/>
          </a:ln>
        </p:spPr>
      </p:sp>
      <p:sp>
        <p:nvSpPr>
          <p:cNvPr id="15" name="Text 13"/>
          <p:cNvSpPr/>
          <p:nvPr/>
        </p:nvSpPr>
        <p:spPr>
          <a:xfrm>
            <a:off x="6492240" y="1792224"/>
            <a:ext cx="4882896" cy="256032"/>
          </a:xfrm>
          <a:prstGeom prst="rect">
            <a:avLst/>
          </a:prstGeom>
          <a:noFill/>
          <a:ln/>
        </p:spPr>
        <p:txBody>
          <a:bodyPr wrap="square" lIns="0" tIns="0" rIns="0" bIns="0" rtlCol="0" anchor="ctr"/>
          <a:lstStyle/>
          <a:p>
            <a:pPr indent="0" marL="0">
              <a:buNone/>
            </a:pPr>
            <a:r>
              <a:rPr lang="en-US" sz="950" b="1" spc="120" kern="0" dirty="0">
                <a:solidFill>
                  <a:srgbClr val="C08428"/>
                </a:solidFill>
                <a:latin typeface="Calibri" pitchFamily="34" charset="0"/>
                <a:ea typeface="Calibri" pitchFamily="34" charset="-122"/>
                <a:cs typeface="Calibri" pitchFamily="34" charset="-120"/>
              </a:rPr>
              <a:t>WORKING PAPERS</a:t>
            </a:r>
            <a:endParaRPr lang="en-US" sz="950" dirty="0"/>
          </a:p>
        </p:txBody>
      </p:sp>
      <p:sp>
        <p:nvSpPr>
          <p:cNvPr id="16" name="Text 14"/>
          <p:cNvSpPr/>
          <p:nvPr/>
        </p:nvSpPr>
        <p:spPr>
          <a:xfrm>
            <a:off x="6492240" y="2084832"/>
            <a:ext cx="4882896" cy="566928"/>
          </a:xfrm>
          <a:prstGeom prst="rect">
            <a:avLst/>
          </a:prstGeom>
          <a:noFill/>
          <a:ln/>
        </p:spPr>
        <p:txBody>
          <a:bodyPr wrap="square" lIns="0" tIns="0" rIns="0" bIns="0" rtlCol="0" anchor="t"/>
          <a:lstStyle/>
          <a:p>
            <a:pPr indent="0" marL="0">
              <a:lnSpc>
                <a:spcPts val="1400"/>
              </a:lnSpc>
              <a:buNone/>
            </a:pPr>
            <a:r>
              <a:rPr lang="en-US" sz="1050" dirty="0">
                <a:solidFill>
                  <a:srgbClr val="0F3D3E"/>
                </a:solidFill>
                <a:latin typeface="Calibri" pitchFamily="34" charset="0"/>
                <a:ea typeface="Calibri" pitchFamily="34" charset="-122"/>
                <a:cs typeface="Calibri" pitchFamily="34" charset="-120"/>
              </a:rPr>
              <a:t>The auditor's evidence file for an engagement: what was examined, from which source, what didn't add up, and what the auditor concluded about it.</a:t>
            </a:r>
            <a:endParaRPr lang="en-US" sz="1050" dirty="0"/>
          </a:p>
        </p:txBody>
      </p:sp>
      <p:sp>
        <p:nvSpPr>
          <p:cNvPr id="17" name="Shape 15"/>
          <p:cNvSpPr/>
          <p:nvPr/>
        </p:nvSpPr>
        <p:spPr>
          <a:xfrm>
            <a:off x="6492240" y="2761488"/>
            <a:ext cx="4882896" cy="475488"/>
          </a:xfrm>
          <a:prstGeom prst="roundRect">
            <a:avLst>
              <a:gd name="adj" fmla="val 13462"/>
            </a:avLst>
          </a:prstGeom>
          <a:solidFill>
            <a:srgbClr val="FFFFFF"/>
          </a:solidFill>
          <a:ln w="12700">
            <a:solidFill>
              <a:srgbClr val="D5E0DE"/>
            </a:solidFill>
            <a:prstDash val="solid"/>
          </a:ln>
        </p:spPr>
      </p:sp>
      <p:sp>
        <p:nvSpPr>
          <p:cNvPr id="18" name="Text 16"/>
          <p:cNvSpPr/>
          <p:nvPr/>
        </p:nvSpPr>
        <p:spPr>
          <a:xfrm>
            <a:off x="6638544" y="2807208"/>
            <a:ext cx="1920240" cy="219456"/>
          </a:xfrm>
          <a:prstGeom prst="rect">
            <a:avLst/>
          </a:prstGeom>
          <a:noFill/>
          <a:ln/>
        </p:spPr>
        <p:txBody>
          <a:bodyPr wrap="square" lIns="0" tIns="0" rIns="0" bIns="0" rtlCol="0" anchor="ctr"/>
          <a:lstStyle/>
          <a:p>
            <a:pPr indent="0" marL="0">
              <a:buNone/>
            </a:pPr>
            <a:r>
              <a:rPr lang="en-US" sz="950" b="1" dirty="0">
                <a:solidFill>
                  <a:srgbClr val="0F3D3E"/>
                </a:solidFill>
                <a:latin typeface="Calibri" pitchFamily="34" charset="0"/>
                <a:ea typeface="Calibri" pitchFamily="34" charset="-122"/>
                <a:cs typeface="Calibri" pitchFamily="34" charset="-120"/>
              </a:rPr>
              <a:t>Scope &amp; period</a:t>
            </a:r>
            <a:endParaRPr lang="en-US" sz="950" dirty="0"/>
          </a:p>
        </p:txBody>
      </p:sp>
      <p:sp>
        <p:nvSpPr>
          <p:cNvPr id="19" name="Text 17"/>
          <p:cNvSpPr/>
          <p:nvPr/>
        </p:nvSpPr>
        <p:spPr>
          <a:xfrm>
            <a:off x="6638544" y="3008376"/>
            <a:ext cx="3657600" cy="219456"/>
          </a:xfrm>
          <a:prstGeom prst="rect">
            <a:avLst/>
          </a:prstGeom>
          <a:noFill/>
          <a:ln/>
        </p:spPr>
        <p:txBody>
          <a:bodyPr wrap="square" lIns="0" tIns="0" rIns="0" bIns="0" rtlCol="0" anchor="ctr"/>
          <a:lstStyle/>
          <a:p>
            <a:pPr indent="0" marL="0">
              <a:buNone/>
            </a:pPr>
            <a:r>
              <a:rPr lang="en-US" sz="850" dirty="0">
                <a:solidFill>
                  <a:srgbClr val="5C6B6A"/>
                </a:solidFill>
                <a:latin typeface="Calibri" pitchFamily="34" charset="0"/>
                <a:ea typeface="Calibri" pitchFamily="34" charset="-122"/>
                <a:cs typeface="Calibri" pitchFamily="34" charset="-120"/>
              </a:rPr>
              <a:t>What was covered</a:t>
            </a:r>
            <a:endParaRPr lang="en-US" sz="850" dirty="0"/>
          </a:p>
        </p:txBody>
      </p:sp>
      <p:sp>
        <p:nvSpPr>
          <p:cNvPr id="20" name="Text 18"/>
          <p:cNvSpPr/>
          <p:nvPr/>
        </p:nvSpPr>
        <p:spPr>
          <a:xfrm>
            <a:off x="10405872" y="2807208"/>
            <a:ext cx="822960" cy="219456"/>
          </a:xfrm>
          <a:prstGeom prst="rect">
            <a:avLst/>
          </a:prstGeom>
          <a:noFill/>
          <a:ln/>
        </p:spPr>
        <p:txBody>
          <a:bodyPr wrap="square" lIns="0" tIns="0" rIns="0" bIns="0" rtlCol="0" anchor="ctr"/>
          <a:lstStyle/>
          <a:p>
            <a:pPr algn="r" indent="0" marL="0">
              <a:buNone/>
            </a:pPr>
            <a:r>
              <a:rPr lang="en-US" sz="800" b="1" spc="80" kern="0" dirty="0">
                <a:solidFill>
                  <a:srgbClr val="8FA09E"/>
                </a:solidFill>
                <a:latin typeface="Calibri" pitchFamily="34" charset="0"/>
                <a:ea typeface="Calibri" pitchFamily="34" charset="-122"/>
                <a:cs typeface="Calibri" pitchFamily="34" charset="-120"/>
              </a:rPr>
              <a:t>AUTO</a:t>
            </a:r>
            <a:endParaRPr lang="en-US" sz="800" dirty="0"/>
          </a:p>
        </p:txBody>
      </p:sp>
      <p:sp>
        <p:nvSpPr>
          <p:cNvPr id="21" name="Shape 19"/>
          <p:cNvSpPr/>
          <p:nvPr/>
        </p:nvSpPr>
        <p:spPr>
          <a:xfrm>
            <a:off x="6492240" y="3291840"/>
            <a:ext cx="4882896" cy="475488"/>
          </a:xfrm>
          <a:prstGeom prst="roundRect">
            <a:avLst>
              <a:gd name="adj" fmla="val 13462"/>
            </a:avLst>
          </a:prstGeom>
          <a:solidFill>
            <a:srgbClr val="FFFFFF"/>
          </a:solidFill>
          <a:ln w="12700">
            <a:solidFill>
              <a:srgbClr val="D5E0DE"/>
            </a:solidFill>
            <a:prstDash val="solid"/>
          </a:ln>
        </p:spPr>
      </p:sp>
      <p:sp>
        <p:nvSpPr>
          <p:cNvPr id="22" name="Text 20"/>
          <p:cNvSpPr/>
          <p:nvPr/>
        </p:nvSpPr>
        <p:spPr>
          <a:xfrm>
            <a:off x="6638544" y="3337560"/>
            <a:ext cx="1920240" cy="219456"/>
          </a:xfrm>
          <a:prstGeom prst="rect">
            <a:avLst/>
          </a:prstGeom>
          <a:noFill/>
          <a:ln/>
        </p:spPr>
        <p:txBody>
          <a:bodyPr wrap="square" lIns="0" tIns="0" rIns="0" bIns="0" rtlCol="0" anchor="ctr"/>
          <a:lstStyle/>
          <a:p>
            <a:pPr indent="0" marL="0">
              <a:buNone/>
            </a:pPr>
            <a:r>
              <a:rPr lang="en-US" sz="950" b="1" dirty="0">
                <a:solidFill>
                  <a:srgbClr val="0F3D3E"/>
                </a:solidFill>
                <a:latin typeface="Calibri" pitchFamily="34" charset="0"/>
                <a:ea typeface="Calibri" pitchFamily="34" charset="-122"/>
                <a:cs typeface="Calibri" pitchFamily="34" charset="-120"/>
              </a:rPr>
              <a:t>Data sources</a:t>
            </a:r>
            <a:endParaRPr lang="en-US" sz="950" dirty="0"/>
          </a:p>
        </p:txBody>
      </p:sp>
      <p:sp>
        <p:nvSpPr>
          <p:cNvPr id="23" name="Text 21"/>
          <p:cNvSpPr/>
          <p:nvPr/>
        </p:nvSpPr>
        <p:spPr>
          <a:xfrm>
            <a:off x="6638544" y="3538728"/>
            <a:ext cx="3657600" cy="219456"/>
          </a:xfrm>
          <a:prstGeom prst="rect">
            <a:avLst/>
          </a:prstGeom>
          <a:noFill/>
          <a:ln/>
        </p:spPr>
        <p:txBody>
          <a:bodyPr wrap="square" lIns="0" tIns="0" rIns="0" bIns="0" rtlCol="0" anchor="ctr"/>
          <a:lstStyle/>
          <a:p>
            <a:pPr indent="0" marL="0">
              <a:buNone/>
            </a:pPr>
            <a:r>
              <a:rPr lang="en-US" sz="850" dirty="0">
                <a:solidFill>
                  <a:srgbClr val="5C6B6A"/>
                </a:solidFill>
                <a:latin typeface="Calibri" pitchFamily="34" charset="0"/>
                <a:ea typeface="Calibri" pitchFamily="34" charset="-122"/>
                <a:cs typeface="Calibri" pitchFamily="34" charset="-120"/>
              </a:rPr>
              <a:t>Which ledgers, registers and statements were used</a:t>
            </a:r>
            <a:endParaRPr lang="en-US" sz="850" dirty="0"/>
          </a:p>
        </p:txBody>
      </p:sp>
      <p:sp>
        <p:nvSpPr>
          <p:cNvPr id="24" name="Text 22"/>
          <p:cNvSpPr/>
          <p:nvPr/>
        </p:nvSpPr>
        <p:spPr>
          <a:xfrm>
            <a:off x="10405872" y="3337560"/>
            <a:ext cx="822960" cy="219456"/>
          </a:xfrm>
          <a:prstGeom prst="rect">
            <a:avLst/>
          </a:prstGeom>
          <a:noFill/>
          <a:ln/>
        </p:spPr>
        <p:txBody>
          <a:bodyPr wrap="square" lIns="0" tIns="0" rIns="0" bIns="0" rtlCol="0" anchor="ctr"/>
          <a:lstStyle/>
          <a:p>
            <a:pPr algn="r" indent="0" marL="0">
              <a:buNone/>
            </a:pPr>
            <a:r>
              <a:rPr lang="en-US" sz="800" b="1" spc="80" kern="0" dirty="0">
                <a:solidFill>
                  <a:srgbClr val="8FA09E"/>
                </a:solidFill>
                <a:latin typeface="Calibri" pitchFamily="34" charset="0"/>
                <a:ea typeface="Calibri" pitchFamily="34" charset="-122"/>
                <a:cs typeface="Calibri" pitchFamily="34" charset="-120"/>
              </a:rPr>
              <a:t>AUTO</a:t>
            </a:r>
            <a:endParaRPr lang="en-US" sz="800" dirty="0"/>
          </a:p>
        </p:txBody>
      </p:sp>
      <p:sp>
        <p:nvSpPr>
          <p:cNvPr id="25" name="Shape 23"/>
          <p:cNvSpPr/>
          <p:nvPr/>
        </p:nvSpPr>
        <p:spPr>
          <a:xfrm>
            <a:off x="6492240" y="3822192"/>
            <a:ext cx="4882896" cy="475488"/>
          </a:xfrm>
          <a:prstGeom prst="roundRect">
            <a:avLst>
              <a:gd name="adj" fmla="val 13462"/>
            </a:avLst>
          </a:prstGeom>
          <a:solidFill>
            <a:srgbClr val="FFFFFF"/>
          </a:solidFill>
          <a:ln w="12700">
            <a:solidFill>
              <a:srgbClr val="D5E0DE"/>
            </a:solidFill>
            <a:prstDash val="solid"/>
          </a:ln>
        </p:spPr>
      </p:sp>
      <p:sp>
        <p:nvSpPr>
          <p:cNvPr id="26" name="Text 24"/>
          <p:cNvSpPr/>
          <p:nvPr/>
        </p:nvSpPr>
        <p:spPr>
          <a:xfrm>
            <a:off x="6638544" y="3867912"/>
            <a:ext cx="1920240" cy="219456"/>
          </a:xfrm>
          <a:prstGeom prst="rect">
            <a:avLst/>
          </a:prstGeom>
          <a:noFill/>
          <a:ln/>
        </p:spPr>
        <p:txBody>
          <a:bodyPr wrap="square" lIns="0" tIns="0" rIns="0" bIns="0" rtlCol="0" anchor="ctr"/>
          <a:lstStyle/>
          <a:p>
            <a:pPr indent="0" marL="0">
              <a:buNone/>
            </a:pPr>
            <a:r>
              <a:rPr lang="en-US" sz="950" b="1" dirty="0">
                <a:solidFill>
                  <a:srgbClr val="0F3D3E"/>
                </a:solidFill>
                <a:latin typeface="Calibri" pitchFamily="34" charset="0"/>
                <a:ea typeface="Calibri" pitchFamily="34" charset="-122"/>
                <a:cs typeface="Calibri" pitchFamily="34" charset="-120"/>
              </a:rPr>
              <a:t>Procedures performed</a:t>
            </a:r>
            <a:endParaRPr lang="en-US" sz="950" dirty="0"/>
          </a:p>
        </p:txBody>
      </p:sp>
      <p:sp>
        <p:nvSpPr>
          <p:cNvPr id="27" name="Text 25"/>
          <p:cNvSpPr/>
          <p:nvPr/>
        </p:nvSpPr>
        <p:spPr>
          <a:xfrm>
            <a:off x="6638544" y="4069080"/>
            <a:ext cx="3657600" cy="219456"/>
          </a:xfrm>
          <a:prstGeom prst="rect">
            <a:avLst/>
          </a:prstGeom>
          <a:noFill/>
          <a:ln/>
        </p:spPr>
        <p:txBody>
          <a:bodyPr wrap="square" lIns="0" tIns="0" rIns="0" bIns="0" rtlCol="0" anchor="ctr"/>
          <a:lstStyle/>
          <a:p>
            <a:pPr indent="0" marL="0">
              <a:buNone/>
            </a:pPr>
            <a:r>
              <a:rPr lang="en-US" sz="850" dirty="0">
                <a:solidFill>
                  <a:srgbClr val="5C6B6A"/>
                </a:solidFill>
                <a:latin typeface="Calibri" pitchFamily="34" charset="0"/>
                <a:ea typeface="Calibri" pitchFamily="34" charset="-122"/>
                <a:cs typeface="Calibri" pitchFamily="34" charset="-120"/>
              </a:rPr>
              <a:t>What was tested, and how much of it</a:t>
            </a:r>
            <a:endParaRPr lang="en-US" sz="850" dirty="0"/>
          </a:p>
        </p:txBody>
      </p:sp>
      <p:sp>
        <p:nvSpPr>
          <p:cNvPr id="28" name="Text 26"/>
          <p:cNvSpPr/>
          <p:nvPr/>
        </p:nvSpPr>
        <p:spPr>
          <a:xfrm>
            <a:off x="10405872" y="3867912"/>
            <a:ext cx="822960" cy="219456"/>
          </a:xfrm>
          <a:prstGeom prst="rect">
            <a:avLst/>
          </a:prstGeom>
          <a:noFill/>
          <a:ln/>
        </p:spPr>
        <p:txBody>
          <a:bodyPr wrap="square" lIns="0" tIns="0" rIns="0" bIns="0" rtlCol="0" anchor="ctr"/>
          <a:lstStyle/>
          <a:p>
            <a:pPr algn="r" indent="0" marL="0">
              <a:buNone/>
            </a:pPr>
            <a:r>
              <a:rPr lang="en-US" sz="800" b="1" spc="80" kern="0" dirty="0">
                <a:solidFill>
                  <a:srgbClr val="8FA09E"/>
                </a:solidFill>
                <a:latin typeface="Calibri" pitchFamily="34" charset="0"/>
                <a:ea typeface="Calibri" pitchFamily="34" charset="-122"/>
                <a:cs typeface="Calibri" pitchFamily="34" charset="-120"/>
              </a:rPr>
              <a:t>AUTO</a:t>
            </a:r>
            <a:endParaRPr lang="en-US" sz="800" dirty="0"/>
          </a:p>
        </p:txBody>
      </p:sp>
      <p:sp>
        <p:nvSpPr>
          <p:cNvPr id="29" name="Shape 27"/>
          <p:cNvSpPr/>
          <p:nvPr/>
        </p:nvSpPr>
        <p:spPr>
          <a:xfrm>
            <a:off x="6492240" y="4352544"/>
            <a:ext cx="4882896" cy="475488"/>
          </a:xfrm>
          <a:prstGeom prst="roundRect">
            <a:avLst>
              <a:gd name="adj" fmla="val 13462"/>
            </a:avLst>
          </a:prstGeom>
          <a:solidFill>
            <a:srgbClr val="FFFFFF"/>
          </a:solidFill>
          <a:ln w="12700">
            <a:solidFill>
              <a:srgbClr val="D5E0DE"/>
            </a:solidFill>
            <a:prstDash val="solid"/>
          </a:ln>
        </p:spPr>
      </p:sp>
      <p:sp>
        <p:nvSpPr>
          <p:cNvPr id="30" name="Text 28"/>
          <p:cNvSpPr/>
          <p:nvPr/>
        </p:nvSpPr>
        <p:spPr>
          <a:xfrm>
            <a:off x="6638544" y="4398264"/>
            <a:ext cx="1920240" cy="219456"/>
          </a:xfrm>
          <a:prstGeom prst="rect">
            <a:avLst/>
          </a:prstGeom>
          <a:noFill/>
          <a:ln/>
        </p:spPr>
        <p:txBody>
          <a:bodyPr wrap="square" lIns="0" tIns="0" rIns="0" bIns="0" rtlCol="0" anchor="ctr"/>
          <a:lstStyle/>
          <a:p>
            <a:pPr indent="0" marL="0">
              <a:buNone/>
            </a:pPr>
            <a:r>
              <a:rPr lang="en-US" sz="950" b="1" dirty="0">
                <a:solidFill>
                  <a:srgbClr val="0F3D3E"/>
                </a:solidFill>
                <a:latin typeface="Calibri" pitchFamily="34" charset="0"/>
                <a:ea typeface="Calibri" pitchFamily="34" charset="-122"/>
                <a:cs typeface="Calibri" pitchFamily="34" charset="-120"/>
              </a:rPr>
              <a:t>Exceptions found</a:t>
            </a:r>
            <a:endParaRPr lang="en-US" sz="950" dirty="0"/>
          </a:p>
        </p:txBody>
      </p:sp>
      <p:sp>
        <p:nvSpPr>
          <p:cNvPr id="31" name="Text 29"/>
          <p:cNvSpPr/>
          <p:nvPr/>
        </p:nvSpPr>
        <p:spPr>
          <a:xfrm>
            <a:off x="6638544" y="4599432"/>
            <a:ext cx="3657600" cy="219456"/>
          </a:xfrm>
          <a:prstGeom prst="rect">
            <a:avLst/>
          </a:prstGeom>
          <a:noFill/>
          <a:ln/>
        </p:spPr>
        <p:txBody>
          <a:bodyPr wrap="square" lIns="0" tIns="0" rIns="0" bIns="0" rtlCol="0" anchor="ctr"/>
          <a:lstStyle/>
          <a:p>
            <a:pPr indent="0" marL="0">
              <a:buNone/>
            </a:pPr>
            <a:r>
              <a:rPr lang="en-US" sz="850" dirty="0">
                <a:solidFill>
                  <a:srgbClr val="5C6B6A"/>
                </a:solidFill>
                <a:latin typeface="Calibri" pitchFamily="34" charset="0"/>
                <a:ea typeface="Calibri" pitchFamily="34" charset="-122"/>
                <a:cs typeface="Calibri" pitchFamily="34" charset="-120"/>
              </a:rPr>
              <a:t>Every item that didn't reconcile</a:t>
            </a:r>
            <a:endParaRPr lang="en-US" sz="850" dirty="0"/>
          </a:p>
        </p:txBody>
      </p:sp>
      <p:sp>
        <p:nvSpPr>
          <p:cNvPr id="32" name="Text 30"/>
          <p:cNvSpPr/>
          <p:nvPr/>
        </p:nvSpPr>
        <p:spPr>
          <a:xfrm>
            <a:off x="10405872" y="4398264"/>
            <a:ext cx="822960" cy="219456"/>
          </a:xfrm>
          <a:prstGeom prst="rect">
            <a:avLst/>
          </a:prstGeom>
          <a:noFill/>
          <a:ln/>
        </p:spPr>
        <p:txBody>
          <a:bodyPr wrap="square" lIns="0" tIns="0" rIns="0" bIns="0" rtlCol="0" anchor="ctr"/>
          <a:lstStyle/>
          <a:p>
            <a:pPr algn="r" indent="0" marL="0">
              <a:buNone/>
            </a:pPr>
            <a:r>
              <a:rPr lang="en-US" sz="800" b="1" spc="80" kern="0" dirty="0">
                <a:solidFill>
                  <a:srgbClr val="8FA09E"/>
                </a:solidFill>
                <a:latin typeface="Calibri" pitchFamily="34" charset="0"/>
                <a:ea typeface="Calibri" pitchFamily="34" charset="-122"/>
                <a:cs typeface="Calibri" pitchFamily="34" charset="-120"/>
              </a:rPr>
              <a:t>AUTO</a:t>
            </a:r>
            <a:endParaRPr lang="en-US" sz="800" dirty="0"/>
          </a:p>
        </p:txBody>
      </p:sp>
      <p:sp>
        <p:nvSpPr>
          <p:cNvPr id="33" name="Shape 31"/>
          <p:cNvSpPr/>
          <p:nvPr/>
        </p:nvSpPr>
        <p:spPr>
          <a:xfrm>
            <a:off x="6492240" y="4882896"/>
            <a:ext cx="4882896" cy="475488"/>
          </a:xfrm>
          <a:prstGeom prst="roundRect">
            <a:avLst>
              <a:gd name="adj" fmla="val 13462"/>
            </a:avLst>
          </a:prstGeom>
          <a:solidFill>
            <a:srgbClr val="FFFFFF"/>
          </a:solidFill>
          <a:ln w="19050">
            <a:solidFill>
              <a:srgbClr val="C08428"/>
            </a:solidFill>
            <a:prstDash val="solid"/>
          </a:ln>
        </p:spPr>
      </p:sp>
      <p:sp>
        <p:nvSpPr>
          <p:cNvPr id="34" name="Text 32"/>
          <p:cNvSpPr/>
          <p:nvPr/>
        </p:nvSpPr>
        <p:spPr>
          <a:xfrm>
            <a:off x="6638544" y="4928616"/>
            <a:ext cx="1920240" cy="219456"/>
          </a:xfrm>
          <a:prstGeom prst="rect">
            <a:avLst/>
          </a:prstGeom>
          <a:noFill/>
          <a:ln/>
        </p:spPr>
        <p:txBody>
          <a:bodyPr wrap="square" lIns="0" tIns="0" rIns="0" bIns="0" rtlCol="0" anchor="ctr"/>
          <a:lstStyle/>
          <a:p>
            <a:pPr indent="0" marL="0">
              <a:buNone/>
            </a:pPr>
            <a:r>
              <a:rPr lang="en-US" sz="950" b="1" dirty="0">
                <a:solidFill>
                  <a:srgbClr val="0F3D3E"/>
                </a:solidFill>
                <a:latin typeface="Calibri" pitchFamily="34" charset="0"/>
                <a:ea typeface="Calibri" pitchFamily="34" charset="-122"/>
                <a:cs typeface="Calibri" pitchFamily="34" charset="-120"/>
              </a:rPr>
              <a:t>Auditor's conclusion</a:t>
            </a:r>
            <a:endParaRPr lang="en-US" sz="950" dirty="0"/>
          </a:p>
        </p:txBody>
      </p:sp>
      <p:sp>
        <p:nvSpPr>
          <p:cNvPr id="35" name="Text 33"/>
          <p:cNvSpPr/>
          <p:nvPr/>
        </p:nvSpPr>
        <p:spPr>
          <a:xfrm>
            <a:off x="6638544" y="5129784"/>
            <a:ext cx="3657600" cy="219456"/>
          </a:xfrm>
          <a:prstGeom prst="rect">
            <a:avLst/>
          </a:prstGeom>
          <a:noFill/>
          <a:ln/>
        </p:spPr>
        <p:txBody>
          <a:bodyPr wrap="square" lIns="0" tIns="0" rIns="0" bIns="0" rtlCol="0" anchor="ctr"/>
          <a:lstStyle/>
          <a:p>
            <a:pPr indent="0" marL="0">
              <a:buNone/>
            </a:pPr>
            <a:r>
              <a:rPr lang="en-US" sz="850" dirty="0">
                <a:solidFill>
                  <a:srgbClr val="5C6B6A"/>
                </a:solidFill>
                <a:latin typeface="Calibri" pitchFamily="34" charset="0"/>
                <a:ea typeface="Calibri" pitchFamily="34" charset="-122"/>
                <a:cs typeface="Calibri" pitchFamily="34" charset="-120"/>
              </a:rPr>
              <a:t>The professional judgment — why an exception is or isn't material</a:t>
            </a:r>
            <a:endParaRPr lang="en-US" sz="850" dirty="0"/>
          </a:p>
        </p:txBody>
      </p:sp>
      <p:sp>
        <p:nvSpPr>
          <p:cNvPr id="36" name="Text 34"/>
          <p:cNvSpPr/>
          <p:nvPr/>
        </p:nvSpPr>
        <p:spPr>
          <a:xfrm>
            <a:off x="10405872" y="4928616"/>
            <a:ext cx="822960" cy="219456"/>
          </a:xfrm>
          <a:prstGeom prst="rect">
            <a:avLst/>
          </a:prstGeom>
          <a:noFill/>
          <a:ln/>
        </p:spPr>
        <p:txBody>
          <a:bodyPr wrap="square" lIns="0" tIns="0" rIns="0" bIns="0" rtlCol="0" anchor="ctr"/>
          <a:lstStyle/>
          <a:p>
            <a:pPr algn="r" indent="0" marL="0">
              <a:buNone/>
            </a:pPr>
            <a:r>
              <a:rPr lang="en-US" sz="800" b="1" spc="80" kern="0" dirty="0">
                <a:solidFill>
                  <a:srgbClr val="C08428"/>
                </a:solidFill>
                <a:latin typeface="Calibri" pitchFamily="34" charset="0"/>
                <a:ea typeface="Calibri" pitchFamily="34" charset="-122"/>
                <a:cs typeface="Calibri" pitchFamily="34" charset="-120"/>
              </a:rPr>
              <a:t>AUDITOR</a:t>
            </a:r>
            <a:endParaRPr lang="en-US" sz="800" dirty="0"/>
          </a:p>
        </p:txBody>
      </p:sp>
      <p:sp>
        <p:nvSpPr>
          <p:cNvPr id="37" name="Text 35"/>
          <p:cNvSpPr/>
          <p:nvPr/>
        </p:nvSpPr>
        <p:spPr>
          <a:xfrm>
            <a:off x="6492240" y="5468112"/>
            <a:ext cx="1097280" cy="256032"/>
          </a:xfrm>
          <a:prstGeom prst="rect">
            <a:avLst/>
          </a:prstGeom>
          <a:noFill/>
          <a:ln/>
        </p:spPr>
        <p:txBody>
          <a:bodyPr wrap="square" lIns="0" tIns="0" rIns="0" bIns="0" rtlCol="0" anchor="ctr"/>
          <a:lstStyle/>
          <a:p>
            <a:pPr indent="0" marL="0">
              <a:buNone/>
            </a:pPr>
            <a:r>
              <a:rPr lang="en-US" sz="900" b="1" dirty="0">
                <a:solidFill>
                  <a:srgbClr val="C08428"/>
                </a:solidFill>
                <a:latin typeface="Calibri" pitchFamily="34" charset="0"/>
                <a:ea typeface="Calibri" pitchFamily="34" charset="-122"/>
                <a:cs typeface="Calibri" pitchFamily="34" charset="-120"/>
              </a:rPr>
              <a:t>Agent 8</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11</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The compliance calendar</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The reason practice workload is lumpy: every client's deadline is the same date.</a:t>
            </a:r>
            <a:endParaRPr lang="en-US" sz="1300" dirty="0"/>
          </a:p>
        </p:txBody>
      </p:sp>
      <p:sp>
        <p:nvSpPr>
          <p:cNvPr id="5" name="Text 3"/>
          <p:cNvSpPr/>
          <p:nvPr/>
        </p:nvSpPr>
        <p:spPr>
          <a:xfrm>
            <a:off x="566928" y="1664208"/>
            <a:ext cx="2743200" cy="219456"/>
          </a:xfrm>
          <a:prstGeom prst="rect">
            <a:avLst/>
          </a:prstGeom>
          <a:noFill/>
          <a:ln/>
        </p:spPr>
        <p:txBody>
          <a:bodyPr wrap="square" lIns="0" tIns="0" rIns="0" bIns="0" rtlCol="0" anchor="ctr"/>
          <a:lstStyle/>
          <a:p>
            <a:pPr indent="0" marL="0">
              <a:buNone/>
            </a:pPr>
            <a:r>
              <a:rPr lang="en-US" sz="900" b="1" spc="140" kern="0" dirty="0">
                <a:solidFill>
                  <a:srgbClr val="C08428"/>
                </a:solidFill>
                <a:latin typeface="Calibri" pitchFamily="34" charset="0"/>
                <a:ea typeface="Calibri" pitchFamily="34" charset="-122"/>
                <a:cs typeface="Calibri" pitchFamily="34" charset="-120"/>
              </a:rPr>
              <a:t>EVERY MONTH</a:t>
            </a:r>
            <a:endParaRPr lang="en-US" sz="900" dirty="0"/>
          </a:p>
        </p:txBody>
      </p:sp>
      <p:sp>
        <p:nvSpPr>
          <p:cNvPr id="6" name="Shape 4"/>
          <p:cNvSpPr/>
          <p:nvPr/>
        </p:nvSpPr>
        <p:spPr>
          <a:xfrm>
            <a:off x="566928" y="1956816"/>
            <a:ext cx="2679192" cy="1078992"/>
          </a:xfrm>
          <a:prstGeom prst="roundRect">
            <a:avLst>
              <a:gd name="adj" fmla="val 5932"/>
            </a:avLst>
          </a:prstGeom>
          <a:solidFill>
            <a:srgbClr val="0F3D3E"/>
          </a:solidFill>
          <a:ln w="12700">
            <a:solidFill>
              <a:srgbClr val="0F3D3E"/>
            </a:solidFill>
            <a:prstDash val="solid"/>
          </a:ln>
        </p:spPr>
      </p:sp>
      <p:sp>
        <p:nvSpPr>
          <p:cNvPr id="7" name="Text 5"/>
          <p:cNvSpPr/>
          <p:nvPr/>
        </p:nvSpPr>
        <p:spPr>
          <a:xfrm>
            <a:off x="786384" y="2066544"/>
            <a:ext cx="2240280" cy="402336"/>
          </a:xfrm>
          <a:prstGeom prst="rect">
            <a:avLst/>
          </a:prstGeom>
          <a:noFill/>
          <a:ln/>
        </p:spPr>
        <p:txBody>
          <a:bodyPr wrap="square" lIns="0" tIns="0" rIns="0" bIns="0" rtlCol="0" anchor="ctr"/>
          <a:lstStyle/>
          <a:p>
            <a:pPr indent="0" marL="0">
              <a:buNone/>
            </a:pPr>
            <a:r>
              <a:rPr lang="en-US" sz="2400" b="1" dirty="0">
                <a:solidFill>
                  <a:srgbClr val="C08428"/>
                </a:solidFill>
                <a:latin typeface="Cambria" pitchFamily="34" charset="0"/>
                <a:ea typeface="Cambria" pitchFamily="34" charset="-122"/>
                <a:cs typeface="Cambria" pitchFamily="34" charset="-120"/>
              </a:rPr>
              <a:t>7th</a:t>
            </a:r>
            <a:endParaRPr lang="en-US" sz="2400" dirty="0"/>
          </a:p>
        </p:txBody>
      </p:sp>
      <p:sp>
        <p:nvSpPr>
          <p:cNvPr id="8" name="Text 6"/>
          <p:cNvSpPr/>
          <p:nvPr/>
        </p:nvSpPr>
        <p:spPr>
          <a:xfrm>
            <a:off x="786384" y="2487168"/>
            <a:ext cx="2240280" cy="457200"/>
          </a:xfrm>
          <a:prstGeom prst="rect">
            <a:avLst/>
          </a:prstGeom>
          <a:noFill/>
          <a:ln/>
        </p:spPr>
        <p:txBody>
          <a:bodyPr wrap="square" lIns="0" tIns="0" rIns="0" bIns="0" rtlCol="0" anchor="t"/>
          <a:lstStyle/>
          <a:p>
            <a:pPr indent="0" marL="0">
              <a:lnSpc>
                <a:spcPts val="1300"/>
              </a:lnSpc>
              <a:buNone/>
            </a:pPr>
            <a:r>
              <a:rPr lang="en-US" sz="1000" dirty="0">
                <a:solidFill>
                  <a:srgbClr val="C3D6D5"/>
                </a:solidFill>
                <a:latin typeface="Calibri" pitchFamily="34" charset="0"/>
                <a:ea typeface="Calibri" pitchFamily="34" charset="-122"/>
                <a:cs typeface="Calibri" pitchFamily="34" charset="-120"/>
              </a:rPr>
              <a:t>TDS deposited for last month</a:t>
            </a:r>
            <a:endParaRPr lang="en-US" sz="1000" dirty="0"/>
          </a:p>
        </p:txBody>
      </p:sp>
      <p:sp>
        <p:nvSpPr>
          <p:cNvPr id="9" name="Shape 7"/>
          <p:cNvSpPr/>
          <p:nvPr/>
        </p:nvSpPr>
        <p:spPr>
          <a:xfrm>
            <a:off x="3502152" y="1956816"/>
            <a:ext cx="2679192" cy="1078992"/>
          </a:xfrm>
          <a:prstGeom prst="roundRect">
            <a:avLst>
              <a:gd name="adj" fmla="val 5932"/>
            </a:avLst>
          </a:prstGeom>
          <a:solidFill>
            <a:srgbClr val="0F3D3E"/>
          </a:solidFill>
          <a:ln w="12700">
            <a:solidFill>
              <a:srgbClr val="0F3D3E"/>
            </a:solidFill>
            <a:prstDash val="solid"/>
          </a:ln>
        </p:spPr>
      </p:sp>
      <p:sp>
        <p:nvSpPr>
          <p:cNvPr id="10" name="Text 8"/>
          <p:cNvSpPr/>
          <p:nvPr/>
        </p:nvSpPr>
        <p:spPr>
          <a:xfrm>
            <a:off x="3721608" y="2066544"/>
            <a:ext cx="2240280" cy="402336"/>
          </a:xfrm>
          <a:prstGeom prst="rect">
            <a:avLst/>
          </a:prstGeom>
          <a:noFill/>
          <a:ln/>
        </p:spPr>
        <p:txBody>
          <a:bodyPr wrap="square" lIns="0" tIns="0" rIns="0" bIns="0" rtlCol="0" anchor="ctr"/>
          <a:lstStyle/>
          <a:p>
            <a:pPr indent="0" marL="0">
              <a:buNone/>
            </a:pPr>
            <a:r>
              <a:rPr lang="en-US" sz="2400" b="1" dirty="0">
                <a:solidFill>
                  <a:srgbClr val="C08428"/>
                </a:solidFill>
                <a:latin typeface="Cambria" pitchFamily="34" charset="0"/>
                <a:ea typeface="Cambria" pitchFamily="34" charset="-122"/>
                <a:cs typeface="Cambria" pitchFamily="34" charset="-120"/>
              </a:rPr>
              <a:t>11th</a:t>
            </a:r>
            <a:endParaRPr lang="en-US" sz="2400" dirty="0"/>
          </a:p>
        </p:txBody>
      </p:sp>
      <p:sp>
        <p:nvSpPr>
          <p:cNvPr id="11" name="Text 9"/>
          <p:cNvSpPr/>
          <p:nvPr/>
        </p:nvSpPr>
        <p:spPr>
          <a:xfrm>
            <a:off x="3721608" y="2487168"/>
            <a:ext cx="2240280" cy="457200"/>
          </a:xfrm>
          <a:prstGeom prst="rect">
            <a:avLst/>
          </a:prstGeom>
          <a:noFill/>
          <a:ln/>
        </p:spPr>
        <p:txBody>
          <a:bodyPr wrap="square" lIns="0" tIns="0" rIns="0" bIns="0" rtlCol="0" anchor="t"/>
          <a:lstStyle/>
          <a:p>
            <a:pPr indent="0" marL="0">
              <a:lnSpc>
                <a:spcPts val="1300"/>
              </a:lnSpc>
              <a:buNone/>
            </a:pPr>
            <a:r>
              <a:rPr lang="en-US" sz="1000" dirty="0">
                <a:solidFill>
                  <a:srgbClr val="C3D6D5"/>
                </a:solidFill>
                <a:latin typeface="Calibri" pitchFamily="34" charset="0"/>
                <a:ea typeface="Calibri" pitchFamily="34" charset="-122"/>
                <a:cs typeface="Calibri" pitchFamily="34" charset="-120"/>
              </a:rPr>
              <a:t>GSTR-1 filed — all outward supplies</a:t>
            </a:r>
            <a:endParaRPr lang="en-US" sz="1000" dirty="0"/>
          </a:p>
        </p:txBody>
      </p:sp>
      <p:sp>
        <p:nvSpPr>
          <p:cNvPr id="12" name="Shape 10"/>
          <p:cNvSpPr/>
          <p:nvPr/>
        </p:nvSpPr>
        <p:spPr>
          <a:xfrm>
            <a:off x="6437376" y="1956816"/>
            <a:ext cx="2679192" cy="1078992"/>
          </a:xfrm>
          <a:prstGeom prst="roundRect">
            <a:avLst>
              <a:gd name="adj" fmla="val 5932"/>
            </a:avLst>
          </a:prstGeom>
          <a:solidFill>
            <a:srgbClr val="EFF4F3"/>
          </a:solidFill>
          <a:ln w="12700">
            <a:solidFill>
              <a:srgbClr val="D5E0DE"/>
            </a:solidFill>
            <a:prstDash val="solid"/>
          </a:ln>
        </p:spPr>
      </p:sp>
      <p:sp>
        <p:nvSpPr>
          <p:cNvPr id="13" name="Text 11"/>
          <p:cNvSpPr/>
          <p:nvPr/>
        </p:nvSpPr>
        <p:spPr>
          <a:xfrm>
            <a:off x="6656832" y="2066544"/>
            <a:ext cx="2240280" cy="402336"/>
          </a:xfrm>
          <a:prstGeom prst="rect">
            <a:avLst/>
          </a:prstGeom>
          <a:noFill/>
          <a:ln/>
        </p:spPr>
        <p:txBody>
          <a:bodyPr wrap="square" lIns="0" tIns="0" rIns="0" bIns="0" rtlCol="0" anchor="ctr"/>
          <a:lstStyle/>
          <a:p>
            <a:pPr indent="0" marL="0">
              <a:buNone/>
            </a:pPr>
            <a:r>
              <a:rPr lang="en-US" sz="2400" b="1" dirty="0">
                <a:solidFill>
                  <a:srgbClr val="0F3D3E"/>
                </a:solidFill>
                <a:latin typeface="Cambria" pitchFamily="34" charset="0"/>
                <a:ea typeface="Cambria" pitchFamily="34" charset="-122"/>
                <a:cs typeface="Cambria" pitchFamily="34" charset="-120"/>
              </a:rPr>
              <a:t>13th</a:t>
            </a:r>
            <a:endParaRPr lang="en-US" sz="2400" dirty="0"/>
          </a:p>
        </p:txBody>
      </p:sp>
      <p:sp>
        <p:nvSpPr>
          <p:cNvPr id="14" name="Text 12"/>
          <p:cNvSpPr/>
          <p:nvPr/>
        </p:nvSpPr>
        <p:spPr>
          <a:xfrm>
            <a:off x="6656832" y="2487168"/>
            <a:ext cx="2240280" cy="457200"/>
          </a:xfrm>
          <a:prstGeom prst="rect">
            <a:avLst/>
          </a:prstGeom>
          <a:noFill/>
          <a:ln/>
        </p:spPr>
        <p:txBody>
          <a:bodyPr wrap="square" lIns="0" tIns="0" rIns="0" bIns="0" rtlCol="0" anchor="t"/>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Quarterly filers' GSTR-1 / IFF</a:t>
            </a:r>
            <a:endParaRPr lang="en-US" sz="1000" dirty="0"/>
          </a:p>
        </p:txBody>
      </p:sp>
      <p:sp>
        <p:nvSpPr>
          <p:cNvPr id="15" name="Shape 13"/>
          <p:cNvSpPr/>
          <p:nvPr/>
        </p:nvSpPr>
        <p:spPr>
          <a:xfrm>
            <a:off x="9372600" y="1956816"/>
            <a:ext cx="2679192" cy="1078992"/>
          </a:xfrm>
          <a:prstGeom prst="roundRect">
            <a:avLst>
              <a:gd name="adj" fmla="val 5932"/>
            </a:avLst>
          </a:prstGeom>
          <a:solidFill>
            <a:srgbClr val="0F3D3E"/>
          </a:solidFill>
          <a:ln w="12700">
            <a:solidFill>
              <a:srgbClr val="0F3D3E"/>
            </a:solidFill>
            <a:prstDash val="solid"/>
          </a:ln>
        </p:spPr>
      </p:sp>
      <p:sp>
        <p:nvSpPr>
          <p:cNvPr id="16" name="Text 14"/>
          <p:cNvSpPr/>
          <p:nvPr/>
        </p:nvSpPr>
        <p:spPr>
          <a:xfrm>
            <a:off x="9592056" y="2066544"/>
            <a:ext cx="2240280" cy="402336"/>
          </a:xfrm>
          <a:prstGeom prst="rect">
            <a:avLst/>
          </a:prstGeom>
          <a:noFill/>
          <a:ln/>
        </p:spPr>
        <p:txBody>
          <a:bodyPr wrap="square" lIns="0" tIns="0" rIns="0" bIns="0" rtlCol="0" anchor="ctr"/>
          <a:lstStyle/>
          <a:p>
            <a:pPr indent="0" marL="0">
              <a:buNone/>
            </a:pPr>
            <a:r>
              <a:rPr lang="en-US" sz="2400" b="1" dirty="0">
                <a:solidFill>
                  <a:srgbClr val="C08428"/>
                </a:solidFill>
                <a:latin typeface="Cambria" pitchFamily="34" charset="0"/>
                <a:ea typeface="Cambria" pitchFamily="34" charset="-122"/>
                <a:cs typeface="Cambria" pitchFamily="34" charset="-120"/>
              </a:rPr>
              <a:t>20th</a:t>
            </a:r>
            <a:endParaRPr lang="en-US" sz="2400" dirty="0"/>
          </a:p>
        </p:txBody>
      </p:sp>
      <p:sp>
        <p:nvSpPr>
          <p:cNvPr id="17" name="Text 15"/>
          <p:cNvSpPr/>
          <p:nvPr/>
        </p:nvSpPr>
        <p:spPr>
          <a:xfrm>
            <a:off x="9592056" y="2487168"/>
            <a:ext cx="2240280" cy="457200"/>
          </a:xfrm>
          <a:prstGeom prst="rect">
            <a:avLst/>
          </a:prstGeom>
          <a:noFill/>
          <a:ln/>
        </p:spPr>
        <p:txBody>
          <a:bodyPr wrap="square" lIns="0" tIns="0" rIns="0" bIns="0" rtlCol="0" anchor="t"/>
          <a:lstStyle/>
          <a:p>
            <a:pPr indent="0" marL="0">
              <a:lnSpc>
                <a:spcPts val="1300"/>
              </a:lnSpc>
              <a:buNone/>
            </a:pPr>
            <a:r>
              <a:rPr lang="en-US" sz="1000" dirty="0">
                <a:solidFill>
                  <a:srgbClr val="C3D6D5"/>
                </a:solidFill>
                <a:latin typeface="Calibri" pitchFamily="34" charset="0"/>
                <a:ea typeface="Calibri" pitchFamily="34" charset="-122"/>
                <a:cs typeface="Calibri" pitchFamily="34" charset="-120"/>
              </a:rPr>
              <a:t>GSTR-3B filed and tax paid</a:t>
            </a:r>
            <a:endParaRPr lang="en-US" sz="1000" dirty="0"/>
          </a:p>
        </p:txBody>
      </p:sp>
      <p:sp>
        <p:nvSpPr>
          <p:cNvPr id="18" name="Text 16"/>
          <p:cNvSpPr/>
          <p:nvPr/>
        </p:nvSpPr>
        <p:spPr>
          <a:xfrm>
            <a:off x="566928" y="3273552"/>
            <a:ext cx="2743200" cy="219456"/>
          </a:xfrm>
          <a:prstGeom prst="rect">
            <a:avLst/>
          </a:prstGeom>
          <a:noFill/>
          <a:ln/>
        </p:spPr>
        <p:txBody>
          <a:bodyPr wrap="square" lIns="0" tIns="0" rIns="0" bIns="0" rtlCol="0" anchor="ctr"/>
          <a:lstStyle/>
          <a:p>
            <a:pPr indent="0" marL="0">
              <a:buNone/>
            </a:pPr>
            <a:r>
              <a:rPr lang="en-US" sz="900" b="1" spc="140" kern="0" dirty="0">
                <a:solidFill>
                  <a:srgbClr val="C08428"/>
                </a:solidFill>
                <a:latin typeface="Calibri" pitchFamily="34" charset="0"/>
                <a:ea typeface="Calibri" pitchFamily="34" charset="-122"/>
                <a:cs typeface="Calibri" pitchFamily="34" charset="-120"/>
              </a:rPr>
              <a:t>EVERY QUARTER</a:t>
            </a:r>
            <a:endParaRPr lang="en-US" sz="900" dirty="0"/>
          </a:p>
        </p:txBody>
      </p:sp>
      <p:sp>
        <p:nvSpPr>
          <p:cNvPr id="19" name="Shape 17"/>
          <p:cNvSpPr/>
          <p:nvPr/>
        </p:nvSpPr>
        <p:spPr>
          <a:xfrm>
            <a:off x="566928" y="3547872"/>
            <a:ext cx="3517392" cy="603504"/>
          </a:xfrm>
          <a:prstGeom prst="roundRect">
            <a:avLst>
              <a:gd name="adj" fmla="val 10606"/>
            </a:avLst>
          </a:prstGeom>
          <a:solidFill>
            <a:srgbClr val="E2ECEA"/>
          </a:solidFill>
          <a:ln w="12700">
            <a:solidFill>
              <a:srgbClr val="E2ECEA"/>
            </a:solidFill>
            <a:prstDash val="solid"/>
          </a:ln>
        </p:spPr>
      </p:sp>
      <p:sp>
        <p:nvSpPr>
          <p:cNvPr id="20" name="Text 18"/>
          <p:cNvSpPr/>
          <p:nvPr/>
        </p:nvSpPr>
        <p:spPr>
          <a:xfrm>
            <a:off x="749808" y="3547872"/>
            <a:ext cx="3151632" cy="603504"/>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TDS/TCS returns — 24Q, 26Q, 27EQ</a:t>
            </a:r>
            <a:endParaRPr lang="en-US" sz="1000" dirty="0"/>
          </a:p>
        </p:txBody>
      </p:sp>
      <p:sp>
        <p:nvSpPr>
          <p:cNvPr id="21" name="Shape 19"/>
          <p:cNvSpPr/>
          <p:nvPr/>
        </p:nvSpPr>
        <p:spPr>
          <a:xfrm>
            <a:off x="4340352" y="3547872"/>
            <a:ext cx="3517392" cy="603504"/>
          </a:xfrm>
          <a:prstGeom prst="roundRect">
            <a:avLst>
              <a:gd name="adj" fmla="val 10606"/>
            </a:avLst>
          </a:prstGeom>
          <a:solidFill>
            <a:srgbClr val="E2ECEA"/>
          </a:solidFill>
          <a:ln w="12700">
            <a:solidFill>
              <a:srgbClr val="E2ECEA"/>
            </a:solidFill>
            <a:prstDash val="solid"/>
          </a:ln>
        </p:spPr>
      </p:sp>
      <p:sp>
        <p:nvSpPr>
          <p:cNvPr id="22" name="Text 20"/>
          <p:cNvSpPr/>
          <p:nvPr/>
        </p:nvSpPr>
        <p:spPr>
          <a:xfrm>
            <a:off x="4523232" y="3547872"/>
            <a:ext cx="3151632" cy="603504"/>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Advance tax instalments</a:t>
            </a:r>
            <a:endParaRPr lang="en-US" sz="1000" dirty="0"/>
          </a:p>
        </p:txBody>
      </p:sp>
      <p:sp>
        <p:nvSpPr>
          <p:cNvPr id="23" name="Shape 21"/>
          <p:cNvSpPr/>
          <p:nvPr/>
        </p:nvSpPr>
        <p:spPr>
          <a:xfrm>
            <a:off x="8113776" y="3547872"/>
            <a:ext cx="3517392" cy="603504"/>
          </a:xfrm>
          <a:prstGeom prst="roundRect">
            <a:avLst>
              <a:gd name="adj" fmla="val 10606"/>
            </a:avLst>
          </a:prstGeom>
          <a:solidFill>
            <a:srgbClr val="E2ECEA"/>
          </a:solidFill>
          <a:ln w="12700">
            <a:solidFill>
              <a:srgbClr val="E2ECEA"/>
            </a:solidFill>
            <a:prstDash val="solid"/>
          </a:ln>
        </p:spPr>
      </p:sp>
      <p:sp>
        <p:nvSpPr>
          <p:cNvPr id="24" name="Text 22"/>
          <p:cNvSpPr/>
          <p:nvPr/>
        </p:nvSpPr>
        <p:spPr>
          <a:xfrm>
            <a:off x="8296656" y="3547872"/>
            <a:ext cx="3151632" cy="603504"/>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Quarterly GST filers' returns</a:t>
            </a:r>
            <a:endParaRPr lang="en-US" sz="1000" dirty="0"/>
          </a:p>
        </p:txBody>
      </p:sp>
      <p:sp>
        <p:nvSpPr>
          <p:cNvPr id="25" name="Text 23"/>
          <p:cNvSpPr/>
          <p:nvPr/>
        </p:nvSpPr>
        <p:spPr>
          <a:xfrm>
            <a:off x="566928" y="4370832"/>
            <a:ext cx="2743200" cy="219456"/>
          </a:xfrm>
          <a:prstGeom prst="rect">
            <a:avLst/>
          </a:prstGeom>
          <a:noFill/>
          <a:ln/>
        </p:spPr>
        <p:txBody>
          <a:bodyPr wrap="square" lIns="0" tIns="0" rIns="0" bIns="0" rtlCol="0" anchor="ctr"/>
          <a:lstStyle/>
          <a:p>
            <a:pPr indent="0" marL="0">
              <a:buNone/>
            </a:pPr>
            <a:r>
              <a:rPr lang="en-US" sz="900" b="1" spc="140" kern="0" dirty="0">
                <a:solidFill>
                  <a:srgbClr val="C08428"/>
                </a:solidFill>
                <a:latin typeface="Calibri" pitchFamily="34" charset="0"/>
                <a:ea typeface="Calibri" pitchFamily="34" charset="-122"/>
                <a:cs typeface="Calibri" pitchFamily="34" charset="-120"/>
              </a:rPr>
              <a:t>EVERY YEAR</a:t>
            </a:r>
            <a:endParaRPr lang="en-US" sz="900" dirty="0"/>
          </a:p>
        </p:txBody>
      </p:sp>
      <p:sp>
        <p:nvSpPr>
          <p:cNvPr id="26" name="Shape 24"/>
          <p:cNvSpPr/>
          <p:nvPr/>
        </p:nvSpPr>
        <p:spPr>
          <a:xfrm>
            <a:off x="566928" y="4645152"/>
            <a:ext cx="2574036" cy="603504"/>
          </a:xfrm>
          <a:prstGeom prst="roundRect">
            <a:avLst>
              <a:gd name="adj" fmla="val 10606"/>
            </a:avLst>
          </a:prstGeom>
          <a:solidFill>
            <a:srgbClr val="E2ECEA"/>
          </a:solidFill>
          <a:ln w="12700">
            <a:solidFill>
              <a:srgbClr val="E2ECEA"/>
            </a:solidFill>
            <a:prstDash val="solid"/>
          </a:ln>
        </p:spPr>
      </p:sp>
      <p:sp>
        <p:nvSpPr>
          <p:cNvPr id="27" name="Text 25"/>
          <p:cNvSpPr/>
          <p:nvPr/>
        </p:nvSpPr>
        <p:spPr>
          <a:xfrm>
            <a:off x="749808" y="4645152"/>
            <a:ext cx="2208276" cy="603504"/>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Income tax returns and tax audit</a:t>
            </a:r>
            <a:endParaRPr lang="en-US" sz="1000" dirty="0"/>
          </a:p>
        </p:txBody>
      </p:sp>
      <p:sp>
        <p:nvSpPr>
          <p:cNvPr id="28" name="Shape 26"/>
          <p:cNvSpPr/>
          <p:nvPr/>
        </p:nvSpPr>
        <p:spPr>
          <a:xfrm>
            <a:off x="3396996" y="4645152"/>
            <a:ext cx="2574036" cy="603504"/>
          </a:xfrm>
          <a:prstGeom prst="roundRect">
            <a:avLst>
              <a:gd name="adj" fmla="val 10606"/>
            </a:avLst>
          </a:prstGeom>
          <a:solidFill>
            <a:srgbClr val="E2ECEA"/>
          </a:solidFill>
          <a:ln w="12700">
            <a:solidFill>
              <a:srgbClr val="E2ECEA"/>
            </a:solidFill>
            <a:prstDash val="solid"/>
          </a:ln>
        </p:spPr>
      </p:sp>
      <p:sp>
        <p:nvSpPr>
          <p:cNvPr id="29" name="Text 27"/>
          <p:cNvSpPr/>
          <p:nvPr/>
        </p:nvSpPr>
        <p:spPr>
          <a:xfrm>
            <a:off x="3579876" y="4645152"/>
            <a:ext cx="2208276" cy="603504"/>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Statutory audit and financial statements</a:t>
            </a:r>
            <a:endParaRPr lang="en-US" sz="1000" dirty="0"/>
          </a:p>
        </p:txBody>
      </p:sp>
      <p:sp>
        <p:nvSpPr>
          <p:cNvPr id="30" name="Shape 28"/>
          <p:cNvSpPr/>
          <p:nvPr/>
        </p:nvSpPr>
        <p:spPr>
          <a:xfrm>
            <a:off x="6227064" y="4645152"/>
            <a:ext cx="2574036" cy="603504"/>
          </a:xfrm>
          <a:prstGeom prst="roundRect">
            <a:avLst>
              <a:gd name="adj" fmla="val 10606"/>
            </a:avLst>
          </a:prstGeom>
          <a:solidFill>
            <a:srgbClr val="E2ECEA"/>
          </a:solidFill>
          <a:ln w="12700">
            <a:solidFill>
              <a:srgbClr val="E2ECEA"/>
            </a:solidFill>
            <a:prstDash val="solid"/>
          </a:ln>
        </p:spPr>
      </p:sp>
      <p:sp>
        <p:nvSpPr>
          <p:cNvPr id="31" name="Text 29"/>
          <p:cNvSpPr/>
          <p:nvPr/>
        </p:nvSpPr>
        <p:spPr>
          <a:xfrm>
            <a:off x="6409944" y="4645152"/>
            <a:ext cx="2208276" cy="603504"/>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ROC filings — AOC-4, MGT-7, DIR-3 KYC</a:t>
            </a:r>
            <a:endParaRPr lang="en-US" sz="1000" dirty="0"/>
          </a:p>
        </p:txBody>
      </p:sp>
      <p:sp>
        <p:nvSpPr>
          <p:cNvPr id="32" name="Shape 30"/>
          <p:cNvSpPr/>
          <p:nvPr/>
        </p:nvSpPr>
        <p:spPr>
          <a:xfrm>
            <a:off x="9057132" y="4645152"/>
            <a:ext cx="2574036" cy="603504"/>
          </a:xfrm>
          <a:prstGeom prst="roundRect">
            <a:avLst>
              <a:gd name="adj" fmla="val 10606"/>
            </a:avLst>
          </a:prstGeom>
          <a:solidFill>
            <a:srgbClr val="E2ECEA"/>
          </a:solidFill>
          <a:ln w="12700">
            <a:solidFill>
              <a:srgbClr val="E2ECEA"/>
            </a:solidFill>
            <a:prstDash val="solid"/>
          </a:ln>
        </p:spPr>
      </p:sp>
      <p:sp>
        <p:nvSpPr>
          <p:cNvPr id="33" name="Text 31"/>
          <p:cNvSpPr/>
          <p:nvPr/>
        </p:nvSpPr>
        <p:spPr>
          <a:xfrm>
            <a:off x="9240012" y="4645152"/>
            <a:ext cx="2208276" cy="603504"/>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GSTR-9 / 9C annual return and reconciliation</a:t>
            </a:r>
            <a:endParaRPr lang="en-US" sz="1000" dirty="0"/>
          </a:p>
        </p:txBody>
      </p:sp>
      <p:sp>
        <p:nvSpPr>
          <p:cNvPr id="34" name="Shape 32"/>
          <p:cNvSpPr/>
          <p:nvPr/>
        </p:nvSpPr>
        <p:spPr>
          <a:xfrm>
            <a:off x="566928" y="5449824"/>
            <a:ext cx="11064240" cy="749808"/>
          </a:xfrm>
          <a:prstGeom prst="roundRect">
            <a:avLst>
              <a:gd name="adj" fmla="val 8537"/>
            </a:avLst>
          </a:prstGeom>
          <a:solidFill>
            <a:srgbClr val="F3E7CE"/>
          </a:solidFill>
          <a:ln w="12700">
            <a:solidFill>
              <a:srgbClr val="F3E7CE"/>
            </a:solidFill>
            <a:prstDash val="solid"/>
          </a:ln>
        </p:spPr>
      </p:sp>
      <p:sp>
        <p:nvSpPr>
          <p:cNvPr id="35" name="Text 33"/>
          <p:cNvSpPr/>
          <p:nvPr/>
        </p:nvSpPr>
        <p:spPr>
          <a:xfrm>
            <a:off x="768096" y="5532120"/>
            <a:ext cx="1066190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THE STRUCTURAL PROBLEM</a:t>
            </a:r>
            <a:endParaRPr lang="en-US" sz="900" dirty="0"/>
          </a:p>
        </p:txBody>
      </p:sp>
      <p:sp>
        <p:nvSpPr>
          <p:cNvPr id="36" name="Text 34"/>
          <p:cNvSpPr/>
          <p:nvPr/>
        </p:nvSpPr>
        <p:spPr>
          <a:xfrm>
            <a:off x="768096" y="5742432"/>
            <a:ext cx="10661904" cy="347472"/>
          </a:xfrm>
          <a:prstGeom prst="rect">
            <a:avLst/>
          </a:prstGeom>
          <a:noFill/>
          <a:ln/>
        </p:spPr>
        <p:txBody>
          <a:bodyPr wrap="square" lIns="0" tIns="0" rIns="0" bIns="0" rtlCol="0" anchor="t"/>
          <a:lstStyle/>
          <a:p>
            <a:pPr indent="0" marL="0">
              <a:lnSpc>
                <a:spcPts val="1344"/>
              </a:lnSpc>
              <a:buNone/>
            </a:pPr>
            <a:r>
              <a:rPr lang="en-US" sz="1050" dirty="0">
                <a:solidFill>
                  <a:srgbClr val="0F3D3E"/>
                </a:solidFill>
                <a:latin typeface="Calibri" pitchFamily="34" charset="0"/>
                <a:ea typeface="Calibri" pitchFamily="34" charset="-122"/>
                <a:cs typeface="Calibri" pitchFamily="34" charset="-120"/>
              </a:rPr>
              <a:t>Deadlines are statutory and identical for every client, so workload arrives in spikes rather than spread across the month. Adding clients doesn't add hours evenly — it makes the same three days harder. Capacity planning against those spikes is what Agent 9 exists for.</a:t>
            </a:r>
            <a:endParaRPr lang="en-US" sz="1050" dirty="0"/>
          </a:p>
        </p:txBody>
      </p:sp>
      <p:sp>
        <p:nvSpPr>
          <p:cNvPr id="37" name="Text 35"/>
          <p:cNvSpPr/>
          <p:nvPr/>
        </p:nvSpPr>
        <p:spPr>
          <a:xfrm>
            <a:off x="566928" y="6272784"/>
            <a:ext cx="11064240" cy="237744"/>
          </a:xfrm>
          <a:prstGeom prst="rect">
            <a:avLst/>
          </a:prstGeom>
          <a:noFill/>
          <a:ln/>
        </p:spPr>
        <p:txBody>
          <a:bodyPr wrap="square" lIns="0" tIns="0" rIns="0" bIns="0" rtlCol="0" anchor="ctr"/>
          <a:lstStyle/>
          <a:p>
            <a:pPr indent="0" marL="0">
              <a:buNone/>
            </a:pPr>
            <a:r>
              <a:rPr lang="en-US" sz="850" i="1" dirty="0">
                <a:solidFill>
                  <a:srgbClr val="8FA09E"/>
                </a:solidFill>
                <a:latin typeface="Calibri" pitchFamily="34" charset="0"/>
                <a:ea typeface="Calibri" pitchFamily="34" charset="-122"/>
                <a:cs typeface="Calibri" pitchFamily="34" charset="-120"/>
              </a:rPr>
              <a:t>Indicative monthly cycle for regular filers; statutory dates change from time to time and by taxpayer category.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PRIMER · 12</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The whole practice, on one page</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Everything above, in sequence — with the CAOS agent that sits at each station.</a:t>
            </a:r>
            <a:endParaRPr lang="en-US" sz="1300" dirty="0"/>
          </a:p>
        </p:txBody>
      </p:sp>
      <p:sp>
        <p:nvSpPr>
          <p:cNvPr id="5" name="Shape 3"/>
          <p:cNvSpPr/>
          <p:nvPr/>
        </p:nvSpPr>
        <p:spPr>
          <a:xfrm>
            <a:off x="566928" y="1828800"/>
            <a:ext cx="1499616" cy="2286000"/>
          </a:xfrm>
          <a:prstGeom prst="roundRect">
            <a:avLst>
              <a:gd name="adj" fmla="val 4268"/>
            </a:avLst>
          </a:prstGeom>
          <a:solidFill>
            <a:srgbClr val="EFF4F3"/>
          </a:solidFill>
          <a:ln w="12700">
            <a:solidFill>
              <a:srgbClr val="D5E0DE"/>
            </a:solidFill>
            <a:prstDash val="solid"/>
          </a:ln>
        </p:spPr>
      </p:sp>
      <p:sp>
        <p:nvSpPr>
          <p:cNvPr id="6" name="Text 4"/>
          <p:cNvSpPr/>
          <p:nvPr/>
        </p:nvSpPr>
        <p:spPr>
          <a:xfrm>
            <a:off x="713232" y="1956816"/>
            <a:ext cx="1207008" cy="292608"/>
          </a:xfrm>
          <a:prstGeom prst="rect">
            <a:avLst/>
          </a:prstGeom>
          <a:noFill/>
          <a:ln/>
        </p:spPr>
        <p:txBody>
          <a:bodyPr wrap="square" lIns="0" tIns="0" rIns="0" bIns="0" rtlCol="0" anchor="ctr"/>
          <a:lstStyle/>
          <a:p>
            <a:pPr indent="0" marL="0">
              <a:buNone/>
            </a:pPr>
            <a:r>
              <a:rPr lang="en-US" sz="1400" b="1" dirty="0">
                <a:solidFill>
                  <a:srgbClr val="0F3D3E"/>
                </a:solidFill>
                <a:latin typeface="Cambria" pitchFamily="34" charset="0"/>
                <a:ea typeface="Cambria" pitchFamily="34" charset="-122"/>
                <a:cs typeface="Cambria" pitchFamily="34" charset="-120"/>
              </a:rPr>
              <a:t>Collect</a:t>
            </a:r>
            <a:endParaRPr lang="en-US" sz="1400" dirty="0"/>
          </a:p>
        </p:txBody>
      </p:sp>
      <p:sp>
        <p:nvSpPr>
          <p:cNvPr id="7" name="Text 5"/>
          <p:cNvSpPr/>
          <p:nvPr/>
        </p:nvSpPr>
        <p:spPr>
          <a:xfrm>
            <a:off x="713232" y="2286000"/>
            <a:ext cx="1207008" cy="914400"/>
          </a:xfrm>
          <a:prstGeom prst="rect">
            <a:avLst/>
          </a:prstGeom>
          <a:noFill/>
          <a:ln/>
        </p:spPr>
        <p:txBody>
          <a:bodyPr wrap="square" lIns="0" tIns="0" rIns="0" bIns="0" rtlCol="0" anchor="t"/>
          <a:lstStyle/>
          <a:p>
            <a:pPr indent="0" marL="0">
              <a:lnSpc>
                <a:spcPts val="1200"/>
              </a:lnSpc>
              <a:buNone/>
            </a:pPr>
            <a:r>
              <a:rPr lang="en-US" sz="900" dirty="0">
                <a:solidFill>
                  <a:srgbClr val="5C6B6A"/>
                </a:solidFill>
                <a:latin typeface="Calibri" pitchFamily="34" charset="0"/>
                <a:ea typeface="Calibri" pitchFamily="34" charset="-122"/>
                <a:cs typeface="Calibri" pitchFamily="34" charset="-120"/>
              </a:rPr>
              <a:t>Chase and file client documents</a:t>
            </a:r>
            <a:endParaRPr lang="en-US" sz="900" dirty="0"/>
          </a:p>
        </p:txBody>
      </p:sp>
      <p:sp>
        <p:nvSpPr>
          <p:cNvPr id="8" name="Shape 6"/>
          <p:cNvSpPr/>
          <p:nvPr/>
        </p:nvSpPr>
        <p:spPr>
          <a:xfrm>
            <a:off x="713232" y="3291840"/>
            <a:ext cx="137160" cy="137160"/>
          </a:xfrm>
          <a:prstGeom prst="roundRect">
            <a:avLst>
              <a:gd name="adj" fmla="val 13333"/>
            </a:avLst>
          </a:prstGeom>
          <a:solidFill>
            <a:srgbClr val="C08428"/>
          </a:solidFill>
          <a:ln w="12700">
            <a:solidFill>
              <a:srgbClr val="C08428"/>
            </a:solidFill>
            <a:prstDash val="solid"/>
          </a:ln>
        </p:spPr>
      </p:sp>
      <p:sp>
        <p:nvSpPr>
          <p:cNvPr id="9" name="Shape 7"/>
          <p:cNvSpPr/>
          <p:nvPr/>
        </p:nvSpPr>
        <p:spPr>
          <a:xfrm>
            <a:off x="896112" y="3291840"/>
            <a:ext cx="137160" cy="137160"/>
          </a:xfrm>
          <a:prstGeom prst="roundRect">
            <a:avLst>
              <a:gd name="adj" fmla="val 13333"/>
            </a:avLst>
          </a:prstGeom>
          <a:solidFill>
            <a:srgbClr val="C08428"/>
          </a:solidFill>
          <a:ln w="12700">
            <a:solidFill>
              <a:srgbClr val="C08428"/>
            </a:solidFill>
            <a:prstDash val="solid"/>
          </a:ln>
        </p:spPr>
      </p:sp>
      <p:sp>
        <p:nvSpPr>
          <p:cNvPr id="10" name="Shape 8"/>
          <p:cNvSpPr/>
          <p:nvPr/>
        </p:nvSpPr>
        <p:spPr>
          <a:xfrm>
            <a:off x="1078992" y="3291840"/>
            <a:ext cx="137160" cy="137160"/>
          </a:xfrm>
          <a:prstGeom prst="roundRect">
            <a:avLst>
              <a:gd name="adj" fmla="val 13333"/>
            </a:avLst>
          </a:prstGeom>
          <a:solidFill>
            <a:srgbClr val="C08428"/>
          </a:solidFill>
          <a:ln w="12700">
            <a:solidFill>
              <a:srgbClr val="C08428"/>
            </a:solidFill>
            <a:prstDash val="solid"/>
          </a:ln>
        </p:spPr>
      </p:sp>
      <p:sp>
        <p:nvSpPr>
          <p:cNvPr id="11" name="Shape 9"/>
          <p:cNvSpPr/>
          <p:nvPr/>
        </p:nvSpPr>
        <p:spPr>
          <a:xfrm>
            <a:off x="1261872" y="3291840"/>
            <a:ext cx="137160" cy="137160"/>
          </a:xfrm>
          <a:prstGeom prst="roundRect">
            <a:avLst>
              <a:gd name="adj" fmla="val 13333"/>
            </a:avLst>
          </a:prstGeom>
          <a:solidFill>
            <a:srgbClr val="D5E0DE"/>
          </a:solidFill>
          <a:ln w="12700">
            <a:solidFill>
              <a:srgbClr val="D5E0DE"/>
            </a:solidFill>
            <a:prstDash val="solid"/>
          </a:ln>
        </p:spPr>
      </p:sp>
      <p:sp>
        <p:nvSpPr>
          <p:cNvPr id="12" name="Text 10"/>
          <p:cNvSpPr/>
          <p:nvPr/>
        </p:nvSpPr>
        <p:spPr>
          <a:xfrm>
            <a:off x="713232" y="3456432"/>
            <a:ext cx="1207008" cy="201168"/>
          </a:xfrm>
          <a:prstGeom prst="rect">
            <a:avLst/>
          </a:prstGeom>
          <a:noFill/>
          <a:ln/>
        </p:spPr>
        <p:txBody>
          <a:bodyPr wrap="square" lIns="0" tIns="0" rIns="0" bIns="0" rtlCol="0" anchor="ctr"/>
          <a:lstStyle/>
          <a:p>
            <a:pPr indent="0" marL="0">
              <a:buNone/>
            </a:pPr>
            <a:r>
              <a:rPr lang="en-US" sz="750" dirty="0">
                <a:solidFill>
                  <a:srgbClr val="8FA09E"/>
                </a:solidFill>
                <a:latin typeface="Calibri" pitchFamily="34" charset="0"/>
                <a:ea typeface="Calibri" pitchFamily="34" charset="-122"/>
                <a:cs typeface="Calibri" pitchFamily="34" charset="-120"/>
              </a:rPr>
              <a:t>manual effort today</a:t>
            </a:r>
            <a:endParaRPr lang="en-US" sz="750" dirty="0"/>
          </a:p>
        </p:txBody>
      </p:sp>
      <p:sp>
        <p:nvSpPr>
          <p:cNvPr id="13" name="Text 11"/>
          <p:cNvSpPr/>
          <p:nvPr/>
        </p:nvSpPr>
        <p:spPr>
          <a:xfrm>
            <a:off x="713232" y="3712464"/>
            <a:ext cx="1207008" cy="256032"/>
          </a:xfrm>
          <a:prstGeom prst="rect">
            <a:avLst/>
          </a:prstGeom>
          <a:noFill/>
          <a:ln/>
        </p:spPr>
        <p:txBody>
          <a:bodyPr wrap="square" lIns="0" tIns="0" rIns="0" bIns="0" rtlCol="0" anchor="ctr"/>
          <a:lstStyle/>
          <a:p>
            <a:pPr indent="0" marL="0">
              <a:buNone/>
            </a:pPr>
            <a:r>
              <a:rPr lang="en-US" sz="950" b="1" dirty="0">
                <a:solidFill>
                  <a:srgbClr val="C08428"/>
                </a:solidFill>
                <a:latin typeface="Calibri" pitchFamily="34" charset="0"/>
                <a:ea typeface="Calibri" pitchFamily="34" charset="-122"/>
                <a:cs typeface="Calibri" pitchFamily="34" charset="-120"/>
              </a:rPr>
              <a:t>Agent 1</a:t>
            </a:r>
            <a:endParaRPr lang="en-US" sz="950" dirty="0"/>
          </a:p>
        </p:txBody>
      </p:sp>
      <p:sp>
        <p:nvSpPr>
          <p:cNvPr id="14" name="Shape 12"/>
          <p:cNvSpPr/>
          <p:nvPr/>
        </p:nvSpPr>
        <p:spPr>
          <a:xfrm>
            <a:off x="2071116" y="2971800"/>
            <a:ext cx="109728" cy="0"/>
          </a:xfrm>
          <a:prstGeom prst="line">
            <a:avLst/>
          </a:prstGeom>
          <a:noFill/>
          <a:ln w="15875">
            <a:solidFill>
              <a:srgbClr val="9AB0AE"/>
            </a:solidFill>
            <a:prstDash val="solid"/>
            <a:tailEnd type="triangle"/>
          </a:ln>
        </p:spPr>
      </p:sp>
      <p:sp>
        <p:nvSpPr>
          <p:cNvPr id="15" name="Shape 13"/>
          <p:cNvSpPr/>
          <p:nvPr/>
        </p:nvSpPr>
        <p:spPr>
          <a:xfrm>
            <a:off x="2185416" y="1828800"/>
            <a:ext cx="1499616" cy="2286000"/>
          </a:xfrm>
          <a:prstGeom prst="roundRect">
            <a:avLst>
              <a:gd name="adj" fmla="val 4268"/>
            </a:avLst>
          </a:prstGeom>
          <a:solidFill>
            <a:srgbClr val="0F3D3E"/>
          </a:solidFill>
          <a:ln w="12700">
            <a:solidFill>
              <a:srgbClr val="0F3D3E"/>
            </a:solidFill>
            <a:prstDash val="solid"/>
          </a:ln>
        </p:spPr>
      </p:sp>
      <p:sp>
        <p:nvSpPr>
          <p:cNvPr id="16" name="Text 14"/>
          <p:cNvSpPr/>
          <p:nvPr/>
        </p:nvSpPr>
        <p:spPr>
          <a:xfrm>
            <a:off x="2331720" y="1956816"/>
            <a:ext cx="1207008"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Record</a:t>
            </a:r>
            <a:endParaRPr lang="en-US" sz="1400" dirty="0"/>
          </a:p>
        </p:txBody>
      </p:sp>
      <p:sp>
        <p:nvSpPr>
          <p:cNvPr id="17" name="Text 15"/>
          <p:cNvSpPr/>
          <p:nvPr/>
        </p:nvSpPr>
        <p:spPr>
          <a:xfrm>
            <a:off x="2331720" y="2286000"/>
            <a:ext cx="1207008" cy="914400"/>
          </a:xfrm>
          <a:prstGeom prst="rect">
            <a:avLst/>
          </a:prstGeom>
          <a:noFill/>
          <a:ln/>
        </p:spPr>
        <p:txBody>
          <a:bodyPr wrap="square" lIns="0" tIns="0" rIns="0" bIns="0" rtlCol="0" anchor="t"/>
          <a:lstStyle/>
          <a:p>
            <a:pPr indent="0" marL="0">
              <a:lnSpc>
                <a:spcPts val="1200"/>
              </a:lnSpc>
              <a:buNone/>
            </a:pPr>
            <a:r>
              <a:rPr lang="en-US" sz="900" dirty="0">
                <a:solidFill>
                  <a:srgbClr val="B7CECD"/>
                </a:solidFill>
                <a:latin typeface="Calibri" pitchFamily="34" charset="0"/>
                <a:ea typeface="Calibri" pitchFamily="34" charset="-122"/>
                <a:cs typeface="Calibri" pitchFamily="34" charset="-120"/>
              </a:rPr>
              <a:t>Vouchers into Tally, posted to ledgers</a:t>
            </a:r>
            <a:endParaRPr lang="en-US" sz="900" dirty="0"/>
          </a:p>
        </p:txBody>
      </p:sp>
      <p:sp>
        <p:nvSpPr>
          <p:cNvPr id="18" name="Shape 16"/>
          <p:cNvSpPr/>
          <p:nvPr/>
        </p:nvSpPr>
        <p:spPr>
          <a:xfrm>
            <a:off x="2331720" y="3291840"/>
            <a:ext cx="137160" cy="137160"/>
          </a:xfrm>
          <a:prstGeom prst="roundRect">
            <a:avLst>
              <a:gd name="adj" fmla="val 13333"/>
            </a:avLst>
          </a:prstGeom>
          <a:solidFill>
            <a:srgbClr val="C08428"/>
          </a:solidFill>
          <a:ln w="12700">
            <a:solidFill>
              <a:srgbClr val="C08428"/>
            </a:solidFill>
            <a:prstDash val="solid"/>
          </a:ln>
        </p:spPr>
      </p:sp>
      <p:sp>
        <p:nvSpPr>
          <p:cNvPr id="19" name="Shape 17"/>
          <p:cNvSpPr/>
          <p:nvPr/>
        </p:nvSpPr>
        <p:spPr>
          <a:xfrm>
            <a:off x="2514600" y="3291840"/>
            <a:ext cx="137160" cy="137160"/>
          </a:xfrm>
          <a:prstGeom prst="roundRect">
            <a:avLst>
              <a:gd name="adj" fmla="val 13333"/>
            </a:avLst>
          </a:prstGeom>
          <a:solidFill>
            <a:srgbClr val="C08428"/>
          </a:solidFill>
          <a:ln w="12700">
            <a:solidFill>
              <a:srgbClr val="C08428"/>
            </a:solidFill>
            <a:prstDash val="solid"/>
          </a:ln>
        </p:spPr>
      </p:sp>
      <p:sp>
        <p:nvSpPr>
          <p:cNvPr id="20" name="Shape 18"/>
          <p:cNvSpPr/>
          <p:nvPr/>
        </p:nvSpPr>
        <p:spPr>
          <a:xfrm>
            <a:off x="2697480" y="3291840"/>
            <a:ext cx="137160" cy="137160"/>
          </a:xfrm>
          <a:prstGeom prst="roundRect">
            <a:avLst>
              <a:gd name="adj" fmla="val 13333"/>
            </a:avLst>
          </a:prstGeom>
          <a:solidFill>
            <a:srgbClr val="C08428"/>
          </a:solidFill>
          <a:ln w="12700">
            <a:solidFill>
              <a:srgbClr val="C08428"/>
            </a:solidFill>
            <a:prstDash val="solid"/>
          </a:ln>
        </p:spPr>
      </p:sp>
      <p:sp>
        <p:nvSpPr>
          <p:cNvPr id="21" name="Shape 19"/>
          <p:cNvSpPr/>
          <p:nvPr/>
        </p:nvSpPr>
        <p:spPr>
          <a:xfrm>
            <a:off x="2880360" y="3291840"/>
            <a:ext cx="137160" cy="137160"/>
          </a:xfrm>
          <a:prstGeom prst="roundRect">
            <a:avLst>
              <a:gd name="adj" fmla="val 13333"/>
            </a:avLst>
          </a:prstGeom>
          <a:solidFill>
            <a:srgbClr val="C08428"/>
          </a:solidFill>
          <a:ln w="12700">
            <a:solidFill>
              <a:srgbClr val="C08428"/>
            </a:solidFill>
            <a:prstDash val="solid"/>
          </a:ln>
        </p:spPr>
      </p:sp>
      <p:sp>
        <p:nvSpPr>
          <p:cNvPr id="22" name="Text 20"/>
          <p:cNvSpPr/>
          <p:nvPr/>
        </p:nvSpPr>
        <p:spPr>
          <a:xfrm>
            <a:off x="2331720" y="3456432"/>
            <a:ext cx="1207008" cy="201168"/>
          </a:xfrm>
          <a:prstGeom prst="rect">
            <a:avLst/>
          </a:prstGeom>
          <a:noFill/>
          <a:ln/>
        </p:spPr>
        <p:txBody>
          <a:bodyPr wrap="square" lIns="0" tIns="0" rIns="0" bIns="0" rtlCol="0" anchor="ctr"/>
          <a:lstStyle/>
          <a:p>
            <a:pPr indent="0" marL="0">
              <a:buNone/>
            </a:pPr>
            <a:r>
              <a:rPr lang="en-US" sz="750" dirty="0">
                <a:solidFill>
                  <a:srgbClr val="8FB0AE"/>
                </a:solidFill>
                <a:latin typeface="Calibri" pitchFamily="34" charset="0"/>
                <a:ea typeface="Calibri" pitchFamily="34" charset="-122"/>
                <a:cs typeface="Calibri" pitchFamily="34" charset="-120"/>
              </a:rPr>
              <a:t>manual effort today</a:t>
            </a:r>
            <a:endParaRPr lang="en-US" sz="750" dirty="0"/>
          </a:p>
        </p:txBody>
      </p:sp>
      <p:sp>
        <p:nvSpPr>
          <p:cNvPr id="23" name="Text 21"/>
          <p:cNvSpPr/>
          <p:nvPr/>
        </p:nvSpPr>
        <p:spPr>
          <a:xfrm>
            <a:off x="2331720" y="3712464"/>
            <a:ext cx="1207008" cy="256032"/>
          </a:xfrm>
          <a:prstGeom prst="rect">
            <a:avLst/>
          </a:prstGeom>
          <a:noFill/>
          <a:ln/>
        </p:spPr>
        <p:txBody>
          <a:bodyPr wrap="square" lIns="0" tIns="0" rIns="0" bIns="0" rtlCol="0" anchor="ctr"/>
          <a:lstStyle/>
          <a:p>
            <a:pPr indent="0" marL="0">
              <a:buNone/>
            </a:pPr>
            <a:r>
              <a:rPr lang="en-US" sz="950" b="1" dirty="0">
                <a:solidFill>
                  <a:srgbClr val="C08428"/>
                </a:solidFill>
                <a:latin typeface="Calibri" pitchFamily="34" charset="0"/>
                <a:ea typeface="Calibri" pitchFamily="34" charset="-122"/>
                <a:cs typeface="Calibri" pitchFamily="34" charset="-120"/>
              </a:rPr>
              <a:t>Agent 2</a:t>
            </a:r>
            <a:endParaRPr lang="en-US" sz="950" dirty="0"/>
          </a:p>
        </p:txBody>
      </p:sp>
      <p:sp>
        <p:nvSpPr>
          <p:cNvPr id="24" name="Shape 22"/>
          <p:cNvSpPr/>
          <p:nvPr/>
        </p:nvSpPr>
        <p:spPr>
          <a:xfrm>
            <a:off x="3689604" y="2971800"/>
            <a:ext cx="109728" cy="0"/>
          </a:xfrm>
          <a:prstGeom prst="line">
            <a:avLst/>
          </a:prstGeom>
          <a:noFill/>
          <a:ln w="15875">
            <a:solidFill>
              <a:srgbClr val="9AB0AE"/>
            </a:solidFill>
            <a:prstDash val="solid"/>
            <a:tailEnd type="triangle"/>
          </a:ln>
        </p:spPr>
      </p:sp>
      <p:sp>
        <p:nvSpPr>
          <p:cNvPr id="25" name="Shape 23"/>
          <p:cNvSpPr/>
          <p:nvPr/>
        </p:nvSpPr>
        <p:spPr>
          <a:xfrm>
            <a:off x="3803904" y="1828800"/>
            <a:ext cx="1499616" cy="2286000"/>
          </a:xfrm>
          <a:prstGeom prst="roundRect">
            <a:avLst>
              <a:gd name="adj" fmla="val 4268"/>
            </a:avLst>
          </a:prstGeom>
          <a:solidFill>
            <a:srgbClr val="0F3D3E"/>
          </a:solidFill>
          <a:ln w="12700">
            <a:solidFill>
              <a:srgbClr val="0F3D3E"/>
            </a:solidFill>
            <a:prstDash val="solid"/>
          </a:ln>
        </p:spPr>
      </p:sp>
      <p:sp>
        <p:nvSpPr>
          <p:cNvPr id="26" name="Text 24"/>
          <p:cNvSpPr/>
          <p:nvPr/>
        </p:nvSpPr>
        <p:spPr>
          <a:xfrm>
            <a:off x="3950208" y="1956816"/>
            <a:ext cx="1207008"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Reconcile</a:t>
            </a:r>
            <a:endParaRPr lang="en-US" sz="1400" dirty="0"/>
          </a:p>
        </p:txBody>
      </p:sp>
      <p:sp>
        <p:nvSpPr>
          <p:cNvPr id="27" name="Text 25"/>
          <p:cNvSpPr/>
          <p:nvPr/>
        </p:nvSpPr>
        <p:spPr>
          <a:xfrm>
            <a:off x="3950208" y="2286000"/>
            <a:ext cx="1207008" cy="914400"/>
          </a:xfrm>
          <a:prstGeom prst="rect">
            <a:avLst/>
          </a:prstGeom>
          <a:noFill/>
          <a:ln/>
        </p:spPr>
        <p:txBody>
          <a:bodyPr wrap="square" lIns="0" tIns="0" rIns="0" bIns="0" rtlCol="0" anchor="t"/>
          <a:lstStyle/>
          <a:p>
            <a:pPr indent="0" marL="0">
              <a:lnSpc>
                <a:spcPts val="1200"/>
              </a:lnSpc>
              <a:buNone/>
            </a:pPr>
            <a:r>
              <a:rPr lang="en-US" sz="900" dirty="0">
                <a:solidFill>
                  <a:srgbClr val="B7CECD"/>
                </a:solidFill>
                <a:latin typeface="Calibri" pitchFamily="34" charset="0"/>
                <a:ea typeface="Calibri" pitchFamily="34" charset="-122"/>
                <a:cs typeface="Calibri" pitchFamily="34" charset="-120"/>
              </a:rPr>
              <a:t>Purchase register vs GSTR-2B; books vs bank</a:t>
            </a:r>
            <a:endParaRPr lang="en-US" sz="900" dirty="0"/>
          </a:p>
        </p:txBody>
      </p:sp>
      <p:sp>
        <p:nvSpPr>
          <p:cNvPr id="28" name="Shape 26"/>
          <p:cNvSpPr/>
          <p:nvPr/>
        </p:nvSpPr>
        <p:spPr>
          <a:xfrm>
            <a:off x="3950208" y="3291840"/>
            <a:ext cx="137160" cy="137160"/>
          </a:xfrm>
          <a:prstGeom prst="roundRect">
            <a:avLst>
              <a:gd name="adj" fmla="val 13333"/>
            </a:avLst>
          </a:prstGeom>
          <a:solidFill>
            <a:srgbClr val="C08428"/>
          </a:solidFill>
          <a:ln w="12700">
            <a:solidFill>
              <a:srgbClr val="C08428"/>
            </a:solidFill>
            <a:prstDash val="solid"/>
          </a:ln>
        </p:spPr>
      </p:sp>
      <p:sp>
        <p:nvSpPr>
          <p:cNvPr id="29" name="Shape 27"/>
          <p:cNvSpPr/>
          <p:nvPr/>
        </p:nvSpPr>
        <p:spPr>
          <a:xfrm>
            <a:off x="4133088" y="3291840"/>
            <a:ext cx="137160" cy="137160"/>
          </a:xfrm>
          <a:prstGeom prst="roundRect">
            <a:avLst>
              <a:gd name="adj" fmla="val 13333"/>
            </a:avLst>
          </a:prstGeom>
          <a:solidFill>
            <a:srgbClr val="C08428"/>
          </a:solidFill>
          <a:ln w="12700">
            <a:solidFill>
              <a:srgbClr val="C08428"/>
            </a:solidFill>
            <a:prstDash val="solid"/>
          </a:ln>
        </p:spPr>
      </p:sp>
      <p:sp>
        <p:nvSpPr>
          <p:cNvPr id="30" name="Shape 28"/>
          <p:cNvSpPr/>
          <p:nvPr/>
        </p:nvSpPr>
        <p:spPr>
          <a:xfrm>
            <a:off x="4315968" y="3291840"/>
            <a:ext cx="137160" cy="137160"/>
          </a:xfrm>
          <a:prstGeom prst="roundRect">
            <a:avLst>
              <a:gd name="adj" fmla="val 13333"/>
            </a:avLst>
          </a:prstGeom>
          <a:solidFill>
            <a:srgbClr val="C08428"/>
          </a:solidFill>
          <a:ln w="12700">
            <a:solidFill>
              <a:srgbClr val="C08428"/>
            </a:solidFill>
            <a:prstDash val="solid"/>
          </a:ln>
        </p:spPr>
      </p:sp>
      <p:sp>
        <p:nvSpPr>
          <p:cNvPr id="31" name="Shape 29"/>
          <p:cNvSpPr/>
          <p:nvPr/>
        </p:nvSpPr>
        <p:spPr>
          <a:xfrm>
            <a:off x="4498848" y="3291840"/>
            <a:ext cx="137160" cy="137160"/>
          </a:xfrm>
          <a:prstGeom prst="roundRect">
            <a:avLst>
              <a:gd name="adj" fmla="val 13333"/>
            </a:avLst>
          </a:prstGeom>
          <a:solidFill>
            <a:srgbClr val="C08428"/>
          </a:solidFill>
          <a:ln w="12700">
            <a:solidFill>
              <a:srgbClr val="C08428"/>
            </a:solidFill>
            <a:prstDash val="solid"/>
          </a:ln>
        </p:spPr>
      </p:sp>
      <p:sp>
        <p:nvSpPr>
          <p:cNvPr id="32" name="Text 30"/>
          <p:cNvSpPr/>
          <p:nvPr/>
        </p:nvSpPr>
        <p:spPr>
          <a:xfrm>
            <a:off x="3950208" y="3456432"/>
            <a:ext cx="1207008" cy="201168"/>
          </a:xfrm>
          <a:prstGeom prst="rect">
            <a:avLst/>
          </a:prstGeom>
          <a:noFill/>
          <a:ln/>
        </p:spPr>
        <p:txBody>
          <a:bodyPr wrap="square" lIns="0" tIns="0" rIns="0" bIns="0" rtlCol="0" anchor="ctr"/>
          <a:lstStyle/>
          <a:p>
            <a:pPr indent="0" marL="0">
              <a:buNone/>
            </a:pPr>
            <a:r>
              <a:rPr lang="en-US" sz="750" dirty="0">
                <a:solidFill>
                  <a:srgbClr val="8FB0AE"/>
                </a:solidFill>
                <a:latin typeface="Calibri" pitchFamily="34" charset="0"/>
                <a:ea typeface="Calibri" pitchFamily="34" charset="-122"/>
                <a:cs typeface="Calibri" pitchFamily="34" charset="-120"/>
              </a:rPr>
              <a:t>manual effort today</a:t>
            </a:r>
            <a:endParaRPr lang="en-US" sz="750" dirty="0"/>
          </a:p>
        </p:txBody>
      </p:sp>
      <p:sp>
        <p:nvSpPr>
          <p:cNvPr id="33" name="Text 31"/>
          <p:cNvSpPr/>
          <p:nvPr/>
        </p:nvSpPr>
        <p:spPr>
          <a:xfrm>
            <a:off x="3950208" y="3712464"/>
            <a:ext cx="1207008" cy="256032"/>
          </a:xfrm>
          <a:prstGeom prst="rect">
            <a:avLst/>
          </a:prstGeom>
          <a:noFill/>
          <a:ln/>
        </p:spPr>
        <p:txBody>
          <a:bodyPr wrap="square" lIns="0" tIns="0" rIns="0" bIns="0" rtlCol="0" anchor="ctr"/>
          <a:lstStyle/>
          <a:p>
            <a:pPr indent="0" marL="0">
              <a:buNone/>
            </a:pPr>
            <a:r>
              <a:rPr lang="en-US" sz="950" b="1" dirty="0">
                <a:solidFill>
                  <a:srgbClr val="C08428"/>
                </a:solidFill>
                <a:latin typeface="Calibri" pitchFamily="34" charset="0"/>
                <a:ea typeface="Calibri" pitchFamily="34" charset="-122"/>
                <a:cs typeface="Calibri" pitchFamily="34" charset="-120"/>
              </a:rPr>
              <a:t>Agent 3 · 7</a:t>
            </a:r>
            <a:endParaRPr lang="en-US" sz="950" dirty="0"/>
          </a:p>
        </p:txBody>
      </p:sp>
      <p:sp>
        <p:nvSpPr>
          <p:cNvPr id="34" name="Shape 32"/>
          <p:cNvSpPr/>
          <p:nvPr/>
        </p:nvSpPr>
        <p:spPr>
          <a:xfrm>
            <a:off x="5308092" y="2971800"/>
            <a:ext cx="109728" cy="0"/>
          </a:xfrm>
          <a:prstGeom prst="line">
            <a:avLst/>
          </a:prstGeom>
          <a:noFill/>
          <a:ln w="15875">
            <a:solidFill>
              <a:srgbClr val="9AB0AE"/>
            </a:solidFill>
            <a:prstDash val="solid"/>
            <a:tailEnd type="triangle"/>
          </a:ln>
        </p:spPr>
      </p:sp>
      <p:sp>
        <p:nvSpPr>
          <p:cNvPr id="35" name="Shape 33"/>
          <p:cNvSpPr/>
          <p:nvPr/>
        </p:nvSpPr>
        <p:spPr>
          <a:xfrm>
            <a:off x="5422392" y="1828800"/>
            <a:ext cx="1499616" cy="2286000"/>
          </a:xfrm>
          <a:prstGeom prst="roundRect">
            <a:avLst>
              <a:gd name="adj" fmla="val 4268"/>
            </a:avLst>
          </a:prstGeom>
          <a:solidFill>
            <a:srgbClr val="EFF4F3"/>
          </a:solidFill>
          <a:ln w="12700">
            <a:solidFill>
              <a:srgbClr val="D5E0DE"/>
            </a:solidFill>
            <a:prstDash val="solid"/>
          </a:ln>
        </p:spPr>
      </p:sp>
      <p:sp>
        <p:nvSpPr>
          <p:cNvPr id="36" name="Text 34"/>
          <p:cNvSpPr/>
          <p:nvPr/>
        </p:nvSpPr>
        <p:spPr>
          <a:xfrm>
            <a:off x="5568696" y="1956816"/>
            <a:ext cx="1207008" cy="292608"/>
          </a:xfrm>
          <a:prstGeom prst="rect">
            <a:avLst/>
          </a:prstGeom>
          <a:noFill/>
          <a:ln/>
        </p:spPr>
        <p:txBody>
          <a:bodyPr wrap="square" lIns="0" tIns="0" rIns="0" bIns="0" rtlCol="0" anchor="ctr"/>
          <a:lstStyle/>
          <a:p>
            <a:pPr indent="0" marL="0">
              <a:buNone/>
            </a:pPr>
            <a:r>
              <a:rPr lang="en-US" sz="1400" b="1" dirty="0">
                <a:solidFill>
                  <a:srgbClr val="0F3D3E"/>
                </a:solidFill>
                <a:latin typeface="Cambria" pitchFamily="34" charset="0"/>
                <a:ea typeface="Cambria" pitchFamily="34" charset="-122"/>
                <a:cs typeface="Cambria" pitchFamily="34" charset="-120"/>
              </a:rPr>
              <a:t>Validate</a:t>
            </a:r>
            <a:endParaRPr lang="en-US" sz="1400" dirty="0"/>
          </a:p>
        </p:txBody>
      </p:sp>
      <p:sp>
        <p:nvSpPr>
          <p:cNvPr id="37" name="Text 35"/>
          <p:cNvSpPr/>
          <p:nvPr/>
        </p:nvSpPr>
        <p:spPr>
          <a:xfrm>
            <a:off x="5568696" y="2286000"/>
            <a:ext cx="1207008" cy="914400"/>
          </a:xfrm>
          <a:prstGeom prst="rect">
            <a:avLst/>
          </a:prstGeom>
          <a:noFill/>
          <a:ln/>
        </p:spPr>
        <p:txBody>
          <a:bodyPr wrap="square" lIns="0" tIns="0" rIns="0" bIns="0" rtlCol="0" anchor="t"/>
          <a:lstStyle/>
          <a:p>
            <a:pPr indent="0" marL="0">
              <a:lnSpc>
                <a:spcPts val="1200"/>
              </a:lnSpc>
              <a:buNone/>
            </a:pPr>
            <a:r>
              <a:rPr lang="en-US" sz="900" dirty="0">
                <a:solidFill>
                  <a:srgbClr val="5C6B6A"/>
                </a:solidFill>
                <a:latin typeface="Calibri" pitchFamily="34" charset="0"/>
                <a:ea typeface="Calibri" pitchFamily="34" charset="-122"/>
                <a:cs typeface="Calibri" pitchFamily="34" charset="-120"/>
              </a:rPr>
              <a:t>Cross-check returns before filing</a:t>
            </a:r>
            <a:endParaRPr lang="en-US" sz="900" dirty="0"/>
          </a:p>
        </p:txBody>
      </p:sp>
      <p:sp>
        <p:nvSpPr>
          <p:cNvPr id="38" name="Shape 36"/>
          <p:cNvSpPr/>
          <p:nvPr/>
        </p:nvSpPr>
        <p:spPr>
          <a:xfrm>
            <a:off x="5568696" y="3291840"/>
            <a:ext cx="137160" cy="137160"/>
          </a:xfrm>
          <a:prstGeom prst="roundRect">
            <a:avLst>
              <a:gd name="adj" fmla="val 13333"/>
            </a:avLst>
          </a:prstGeom>
          <a:solidFill>
            <a:srgbClr val="C08428"/>
          </a:solidFill>
          <a:ln w="12700">
            <a:solidFill>
              <a:srgbClr val="C08428"/>
            </a:solidFill>
            <a:prstDash val="solid"/>
          </a:ln>
        </p:spPr>
      </p:sp>
      <p:sp>
        <p:nvSpPr>
          <p:cNvPr id="39" name="Shape 37"/>
          <p:cNvSpPr/>
          <p:nvPr/>
        </p:nvSpPr>
        <p:spPr>
          <a:xfrm>
            <a:off x="5751576" y="3291840"/>
            <a:ext cx="137160" cy="137160"/>
          </a:xfrm>
          <a:prstGeom prst="roundRect">
            <a:avLst>
              <a:gd name="adj" fmla="val 13333"/>
            </a:avLst>
          </a:prstGeom>
          <a:solidFill>
            <a:srgbClr val="C08428"/>
          </a:solidFill>
          <a:ln w="12700">
            <a:solidFill>
              <a:srgbClr val="C08428"/>
            </a:solidFill>
            <a:prstDash val="solid"/>
          </a:ln>
        </p:spPr>
      </p:sp>
      <p:sp>
        <p:nvSpPr>
          <p:cNvPr id="40" name="Shape 38"/>
          <p:cNvSpPr/>
          <p:nvPr/>
        </p:nvSpPr>
        <p:spPr>
          <a:xfrm>
            <a:off x="5934456" y="3291840"/>
            <a:ext cx="137160" cy="137160"/>
          </a:xfrm>
          <a:prstGeom prst="roundRect">
            <a:avLst>
              <a:gd name="adj" fmla="val 13333"/>
            </a:avLst>
          </a:prstGeom>
          <a:solidFill>
            <a:srgbClr val="D5E0DE"/>
          </a:solidFill>
          <a:ln w="12700">
            <a:solidFill>
              <a:srgbClr val="D5E0DE"/>
            </a:solidFill>
            <a:prstDash val="solid"/>
          </a:ln>
        </p:spPr>
      </p:sp>
      <p:sp>
        <p:nvSpPr>
          <p:cNvPr id="41" name="Shape 39"/>
          <p:cNvSpPr/>
          <p:nvPr/>
        </p:nvSpPr>
        <p:spPr>
          <a:xfrm>
            <a:off x="6117336" y="3291840"/>
            <a:ext cx="137160" cy="137160"/>
          </a:xfrm>
          <a:prstGeom prst="roundRect">
            <a:avLst>
              <a:gd name="adj" fmla="val 13333"/>
            </a:avLst>
          </a:prstGeom>
          <a:solidFill>
            <a:srgbClr val="D5E0DE"/>
          </a:solidFill>
          <a:ln w="12700">
            <a:solidFill>
              <a:srgbClr val="D5E0DE"/>
            </a:solidFill>
            <a:prstDash val="solid"/>
          </a:ln>
        </p:spPr>
      </p:sp>
      <p:sp>
        <p:nvSpPr>
          <p:cNvPr id="42" name="Text 40"/>
          <p:cNvSpPr/>
          <p:nvPr/>
        </p:nvSpPr>
        <p:spPr>
          <a:xfrm>
            <a:off x="5568696" y="3456432"/>
            <a:ext cx="1207008" cy="201168"/>
          </a:xfrm>
          <a:prstGeom prst="rect">
            <a:avLst/>
          </a:prstGeom>
          <a:noFill/>
          <a:ln/>
        </p:spPr>
        <p:txBody>
          <a:bodyPr wrap="square" lIns="0" tIns="0" rIns="0" bIns="0" rtlCol="0" anchor="ctr"/>
          <a:lstStyle/>
          <a:p>
            <a:pPr indent="0" marL="0">
              <a:buNone/>
            </a:pPr>
            <a:r>
              <a:rPr lang="en-US" sz="750" dirty="0">
                <a:solidFill>
                  <a:srgbClr val="8FA09E"/>
                </a:solidFill>
                <a:latin typeface="Calibri" pitchFamily="34" charset="0"/>
                <a:ea typeface="Calibri" pitchFamily="34" charset="-122"/>
                <a:cs typeface="Calibri" pitchFamily="34" charset="-120"/>
              </a:rPr>
              <a:t>manual effort today</a:t>
            </a:r>
            <a:endParaRPr lang="en-US" sz="750" dirty="0"/>
          </a:p>
        </p:txBody>
      </p:sp>
      <p:sp>
        <p:nvSpPr>
          <p:cNvPr id="43" name="Text 41"/>
          <p:cNvSpPr/>
          <p:nvPr/>
        </p:nvSpPr>
        <p:spPr>
          <a:xfrm>
            <a:off x="5568696" y="3712464"/>
            <a:ext cx="1207008" cy="256032"/>
          </a:xfrm>
          <a:prstGeom prst="rect">
            <a:avLst/>
          </a:prstGeom>
          <a:noFill/>
          <a:ln/>
        </p:spPr>
        <p:txBody>
          <a:bodyPr wrap="square" lIns="0" tIns="0" rIns="0" bIns="0" rtlCol="0" anchor="ctr"/>
          <a:lstStyle/>
          <a:p>
            <a:pPr indent="0" marL="0">
              <a:buNone/>
            </a:pPr>
            <a:r>
              <a:rPr lang="en-US" sz="950" b="1" dirty="0">
                <a:solidFill>
                  <a:srgbClr val="C08428"/>
                </a:solidFill>
                <a:latin typeface="Calibri" pitchFamily="34" charset="0"/>
                <a:ea typeface="Calibri" pitchFamily="34" charset="-122"/>
                <a:cs typeface="Calibri" pitchFamily="34" charset="-120"/>
              </a:rPr>
              <a:t>Agent 4</a:t>
            </a:r>
            <a:endParaRPr lang="en-US" sz="950" dirty="0"/>
          </a:p>
        </p:txBody>
      </p:sp>
      <p:sp>
        <p:nvSpPr>
          <p:cNvPr id="44" name="Shape 42"/>
          <p:cNvSpPr/>
          <p:nvPr/>
        </p:nvSpPr>
        <p:spPr>
          <a:xfrm>
            <a:off x="6926580" y="2971800"/>
            <a:ext cx="109728" cy="0"/>
          </a:xfrm>
          <a:prstGeom prst="line">
            <a:avLst/>
          </a:prstGeom>
          <a:noFill/>
          <a:ln w="15875">
            <a:solidFill>
              <a:srgbClr val="9AB0AE"/>
            </a:solidFill>
            <a:prstDash val="solid"/>
            <a:tailEnd type="triangle"/>
          </a:ln>
        </p:spPr>
      </p:sp>
      <p:sp>
        <p:nvSpPr>
          <p:cNvPr id="45" name="Shape 43"/>
          <p:cNvSpPr/>
          <p:nvPr/>
        </p:nvSpPr>
        <p:spPr>
          <a:xfrm>
            <a:off x="7040880" y="1828800"/>
            <a:ext cx="1499616" cy="2286000"/>
          </a:xfrm>
          <a:prstGeom prst="roundRect">
            <a:avLst>
              <a:gd name="adj" fmla="val 4268"/>
            </a:avLst>
          </a:prstGeom>
          <a:solidFill>
            <a:srgbClr val="EFF4F3"/>
          </a:solidFill>
          <a:ln w="12700">
            <a:solidFill>
              <a:srgbClr val="D5E0DE"/>
            </a:solidFill>
            <a:prstDash val="solid"/>
          </a:ln>
        </p:spPr>
      </p:sp>
      <p:sp>
        <p:nvSpPr>
          <p:cNvPr id="46" name="Text 44"/>
          <p:cNvSpPr/>
          <p:nvPr/>
        </p:nvSpPr>
        <p:spPr>
          <a:xfrm>
            <a:off x="7187184" y="1956816"/>
            <a:ext cx="1207008" cy="292608"/>
          </a:xfrm>
          <a:prstGeom prst="rect">
            <a:avLst/>
          </a:prstGeom>
          <a:noFill/>
          <a:ln/>
        </p:spPr>
        <p:txBody>
          <a:bodyPr wrap="square" lIns="0" tIns="0" rIns="0" bIns="0" rtlCol="0" anchor="ctr"/>
          <a:lstStyle/>
          <a:p>
            <a:pPr indent="0" marL="0">
              <a:buNone/>
            </a:pPr>
            <a:r>
              <a:rPr lang="en-US" sz="1400" b="1" dirty="0">
                <a:solidFill>
                  <a:srgbClr val="0F3D3E"/>
                </a:solidFill>
                <a:latin typeface="Cambria" pitchFamily="34" charset="0"/>
                <a:ea typeface="Cambria" pitchFamily="34" charset="-122"/>
                <a:cs typeface="Cambria" pitchFamily="34" charset="-120"/>
              </a:rPr>
              <a:t>File</a:t>
            </a:r>
            <a:endParaRPr lang="en-US" sz="1400" dirty="0"/>
          </a:p>
        </p:txBody>
      </p:sp>
      <p:sp>
        <p:nvSpPr>
          <p:cNvPr id="47" name="Text 45"/>
          <p:cNvSpPr/>
          <p:nvPr/>
        </p:nvSpPr>
        <p:spPr>
          <a:xfrm>
            <a:off x="7187184" y="2286000"/>
            <a:ext cx="1207008" cy="914400"/>
          </a:xfrm>
          <a:prstGeom prst="rect">
            <a:avLst/>
          </a:prstGeom>
          <a:noFill/>
          <a:ln/>
        </p:spPr>
        <p:txBody>
          <a:bodyPr wrap="square" lIns="0" tIns="0" rIns="0" bIns="0" rtlCol="0" anchor="t"/>
          <a:lstStyle/>
          <a:p>
            <a:pPr indent="0" marL="0">
              <a:lnSpc>
                <a:spcPts val="1200"/>
              </a:lnSpc>
              <a:buNone/>
            </a:pPr>
            <a:r>
              <a:rPr lang="en-US" sz="900" dirty="0">
                <a:solidFill>
                  <a:srgbClr val="5C6B6A"/>
                </a:solidFill>
                <a:latin typeface="Calibri" pitchFamily="34" charset="0"/>
                <a:ea typeface="Calibri" pitchFamily="34" charset="-122"/>
                <a:cs typeface="Calibri" pitchFamily="34" charset="-120"/>
              </a:rPr>
              <a:t>GST, TDS and income tax returns</a:t>
            </a:r>
            <a:endParaRPr lang="en-US" sz="900" dirty="0"/>
          </a:p>
        </p:txBody>
      </p:sp>
      <p:sp>
        <p:nvSpPr>
          <p:cNvPr id="48" name="Shape 46"/>
          <p:cNvSpPr/>
          <p:nvPr/>
        </p:nvSpPr>
        <p:spPr>
          <a:xfrm>
            <a:off x="7187184" y="3291840"/>
            <a:ext cx="137160" cy="137160"/>
          </a:xfrm>
          <a:prstGeom prst="roundRect">
            <a:avLst>
              <a:gd name="adj" fmla="val 13333"/>
            </a:avLst>
          </a:prstGeom>
          <a:solidFill>
            <a:srgbClr val="C08428"/>
          </a:solidFill>
          <a:ln w="12700">
            <a:solidFill>
              <a:srgbClr val="C08428"/>
            </a:solidFill>
            <a:prstDash val="solid"/>
          </a:ln>
        </p:spPr>
      </p:sp>
      <p:sp>
        <p:nvSpPr>
          <p:cNvPr id="49" name="Shape 47"/>
          <p:cNvSpPr/>
          <p:nvPr/>
        </p:nvSpPr>
        <p:spPr>
          <a:xfrm>
            <a:off x="7370064" y="3291840"/>
            <a:ext cx="137160" cy="137160"/>
          </a:xfrm>
          <a:prstGeom prst="roundRect">
            <a:avLst>
              <a:gd name="adj" fmla="val 13333"/>
            </a:avLst>
          </a:prstGeom>
          <a:solidFill>
            <a:srgbClr val="C08428"/>
          </a:solidFill>
          <a:ln w="12700">
            <a:solidFill>
              <a:srgbClr val="C08428"/>
            </a:solidFill>
            <a:prstDash val="solid"/>
          </a:ln>
        </p:spPr>
      </p:sp>
      <p:sp>
        <p:nvSpPr>
          <p:cNvPr id="50" name="Shape 48"/>
          <p:cNvSpPr/>
          <p:nvPr/>
        </p:nvSpPr>
        <p:spPr>
          <a:xfrm>
            <a:off x="7552944" y="3291840"/>
            <a:ext cx="137160" cy="137160"/>
          </a:xfrm>
          <a:prstGeom prst="roundRect">
            <a:avLst>
              <a:gd name="adj" fmla="val 13333"/>
            </a:avLst>
          </a:prstGeom>
          <a:solidFill>
            <a:srgbClr val="D5E0DE"/>
          </a:solidFill>
          <a:ln w="12700">
            <a:solidFill>
              <a:srgbClr val="D5E0DE"/>
            </a:solidFill>
            <a:prstDash val="solid"/>
          </a:ln>
        </p:spPr>
      </p:sp>
      <p:sp>
        <p:nvSpPr>
          <p:cNvPr id="51" name="Shape 49"/>
          <p:cNvSpPr/>
          <p:nvPr/>
        </p:nvSpPr>
        <p:spPr>
          <a:xfrm>
            <a:off x="7735824" y="3291840"/>
            <a:ext cx="137160" cy="137160"/>
          </a:xfrm>
          <a:prstGeom prst="roundRect">
            <a:avLst>
              <a:gd name="adj" fmla="val 13333"/>
            </a:avLst>
          </a:prstGeom>
          <a:solidFill>
            <a:srgbClr val="D5E0DE"/>
          </a:solidFill>
          <a:ln w="12700">
            <a:solidFill>
              <a:srgbClr val="D5E0DE"/>
            </a:solidFill>
            <a:prstDash val="solid"/>
          </a:ln>
        </p:spPr>
      </p:sp>
      <p:sp>
        <p:nvSpPr>
          <p:cNvPr id="52" name="Text 50"/>
          <p:cNvSpPr/>
          <p:nvPr/>
        </p:nvSpPr>
        <p:spPr>
          <a:xfrm>
            <a:off x="7187184" y="3456432"/>
            <a:ext cx="1207008" cy="201168"/>
          </a:xfrm>
          <a:prstGeom prst="rect">
            <a:avLst/>
          </a:prstGeom>
          <a:noFill/>
          <a:ln/>
        </p:spPr>
        <p:txBody>
          <a:bodyPr wrap="square" lIns="0" tIns="0" rIns="0" bIns="0" rtlCol="0" anchor="ctr"/>
          <a:lstStyle/>
          <a:p>
            <a:pPr indent="0" marL="0">
              <a:buNone/>
            </a:pPr>
            <a:r>
              <a:rPr lang="en-US" sz="750" dirty="0">
                <a:solidFill>
                  <a:srgbClr val="8FA09E"/>
                </a:solidFill>
                <a:latin typeface="Calibri" pitchFamily="34" charset="0"/>
                <a:ea typeface="Calibri" pitchFamily="34" charset="-122"/>
                <a:cs typeface="Calibri" pitchFamily="34" charset="-120"/>
              </a:rPr>
              <a:t>manual effort today</a:t>
            </a:r>
            <a:endParaRPr lang="en-US" sz="750" dirty="0"/>
          </a:p>
        </p:txBody>
      </p:sp>
      <p:sp>
        <p:nvSpPr>
          <p:cNvPr id="53" name="Text 51"/>
          <p:cNvSpPr/>
          <p:nvPr/>
        </p:nvSpPr>
        <p:spPr>
          <a:xfrm>
            <a:off x="7187184" y="3712464"/>
            <a:ext cx="1207008" cy="256032"/>
          </a:xfrm>
          <a:prstGeom prst="rect">
            <a:avLst/>
          </a:prstGeom>
          <a:noFill/>
          <a:ln/>
        </p:spPr>
        <p:txBody>
          <a:bodyPr wrap="square" lIns="0" tIns="0" rIns="0" bIns="0" rtlCol="0" anchor="ctr"/>
          <a:lstStyle/>
          <a:p>
            <a:pPr indent="0" marL="0">
              <a:buNone/>
            </a:pPr>
            <a:r>
              <a:rPr lang="en-US" sz="950" b="1" dirty="0">
                <a:solidFill>
                  <a:srgbClr val="C08428"/>
                </a:solidFill>
                <a:latin typeface="Calibri" pitchFamily="34" charset="0"/>
                <a:ea typeface="Calibri" pitchFamily="34" charset="-122"/>
                <a:cs typeface="Calibri" pitchFamily="34" charset="-120"/>
              </a:rPr>
              <a:t>Agent 4 · 6</a:t>
            </a:r>
            <a:endParaRPr lang="en-US" sz="950" dirty="0"/>
          </a:p>
        </p:txBody>
      </p:sp>
      <p:sp>
        <p:nvSpPr>
          <p:cNvPr id="54" name="Shape 52"/>
          <p:cNvSpPr/>
          <p:nvPr/>
        </p:nvSpPr>
        <p:spPr>
          <a:xfrm>
            <a:off x="8545068" y="2971800"/>
            <a:ext cx="109728" cy="0"/>
          </a:xfrm>
          <a:prstGeom prst="line">
            <a:avLst/>
          </a:prstGeom>
          <a:noFill/>
          <a:ln w="15875">
            <a:solidFill>
              <a:srgbClr val="9AB0AE"/>
            </a:solidFill>
            <a:prstDash val="solid"/>
            <a:tailEnd type="triangle"/>
          </a:ln>
        </p:spPr>
      </p:sp>
      <p:sp>
        <p:nvSpPr>
          <p:cNvPr id="55" name="Shape 53"/>
          <p:cNvSpPr/>
          <p:nvPr/>
        </p:nvSpPr>
        <p:spPr>
          <a:xfrm>
            <a:off x="8659368" y="1828800"/>
            <a:ext cx="1499616" cy="2286000"/>
          </a:xfrm>
          <a:prstGeom prst="roundRect">
            <a:avLst>
              <a:gd name="adj" fmla="val 4268"/>
            </a:avLst>
          </a:prstGeom>
          <a:solidFill>
            <a:srgbClr val="EFF4F3"/>
          </a:solidFill>
          <a:ln w="12700">
            <a:solidFill>
              <a:srgbClr val="D5E0DE"/>
            </a:solidFill>
            <a:prstDash val="solid"/>
          </a:ln>
        </p:spPr>
      </p:sp>
      <p:sp>
        <p:nvSpPr>
          <p:cNvPr id="56" name="Text 54"/>
          <p:cNvSpPr/>
          <p:nvPr/>
        </p:nvSpPr>
        <p:spPr>
          <a:xfrm>
            <a:off x="8805672" y="1956816"/>
            <a:ext cx="1207008" cy="292608"/>
          </a:xfrm>
          <a:prstGeom prst="rect">
            <a:avLst/>
          </a:prstGeom>
          <a:noFill/>
          <a:ln/>
        </p:spPr>
        <p:txBody>
          <a:bodyPr wrap="square" lIns="0" tIns="0" rIns="0" bIns="0" rtlCol="0" anchor="ctr"/>
          <a:lstStyle/>
          <a:p>
            <a:pPr indent="0" marL="0">
              <a:buNone/>
            </a:pPr>
            <a:r>
              <a:rPr lang="en-US" sz="1400" b="1" dirty="0">
                <a:solidFill>
                  <a:srgbClr val="0F3D3E"/>
                </a:solidFill>
                <a:latin typeface="Cambria" pitchFamily="34" charset="0"/>
                <a:ea typeface="Cambria" pitchFamily="34" charset="-122"/>
                <a:cs typeface="Cambria" pitchFamily="34" charset="-120"/>
              </a:rPr>
              <a:t>Document</a:t>
            </a:r>
            <a:endParaRPr lang="en-US" sz="1400" dirty="0"/>
          </a:p>
        </p:txBody>
      </p:sp>
      <p:sp>
        <p:nvSpPr>
          <p:cNvPr id="57" name="Text 55"/>
          <p:cNvSpPr/>
          <p:nvPr/>
        </p:nvSpPr>
        <p:spPr>
          <a:xfrm>
            <a:off x="8805672" y="2286000"/>
            <a:ext cx="1207008" cy="914400"/>
          </a:xfrm>
          <a:prstGeom prst="rect">
            <a:avLst/>
          </a:prstGeom>
          <a:noFill/>
          <a:ln/>
        </p:spPr>
        <p:txBody>
          <a:bodyPr wrap="square" lIns="0" tIns="0" rIns="0" bIns="0" rtlCol="0" anchor="t"/>
          <a:lstStyle/>
          <a:p>
            <a:pPr indent="0" marL="0">
              <a:lnSpc>
                <a:spcPts val="1200"/>
              </a:lnSpc>
              <a:buNone/>
            </a:pPr>
            <a:r>
              <a:rPr lang="en-US" sz="900" dirty="0">
                <a:solidFill>
                  <a:srgbClr val="5C6B6A"/>
                </a:solidFill>
                <a:latin typeface="Calibri" pitchFamily="34" charset="0"/>
                <a:ea typeface="Calibri" pitchFamily="34" charset="-122"/>
                <a:cs typeface="Calibri" pitchFamily="34" charset="-120"/>
              </a:rPr>
              <a:t>Working papers for the engagement</a:t>
            </a:r>
            <a:endParaRPr lang="en-US" sz="900" dirty="0"/>
          </a:p>
        </p:txBody>
      </p:sp>
      <p:sp>
        <p:nvSpPr>
          <p:cNvPr id="58" name="Shape 56"/>
          <p:cNvSpPr/>
          <p:nvPr/>
        </p:nvSpPr>
        <p:spPr>
          <a:xfrm>
            <a:off x="8805672" y="3291840"/>
            <a:ext cx="137160" cy="137160"/>
          </a:xfrm>
          <a:prstGeom prst="roundRect">
            <a:avLst>
              <a:gd name="adj" fmla="val 13333"/>
            </a:avLst>
          </a:prstGeom>
          <a:solidFill>
            <a:srgbClr val="C08428"/>
          </a:solidFill>
          <a:ln w="12700">
            <a:solidFill>
              <a:srgbClr val="C08428"/>
            </a:solidFill>
            <a:prstDash val="solid"/>
          </a:ln>
        </p:spPr>
      </p:sp>
      <p:sp>
        <p:nvSpPr>
          <p:cNvPr id="59" name="Shape 57"/>
          <p:cNvSpPr/>
          <p:nvPr/>
        </p:nvSpPr>
        <p:spPr>
          <a:xfrm>
            <a:off x="8988552" y="3291840"/>
            <a:ext cx="137160" cy="137160"/>
          </a:xfrm>
          <a:prstGeom prst="roundRect">
            <a:avLst>
              <a:gd name="adj" fmla="val 13333"/>
            </a:avLst>
          </a:prstGeom>
          <a:solidFill>
            <a:srgbClr val="C08428"/>
          </a:solidFill>
          <a:ln w="12700">
            <a:solidFill>
              <a:srgbClr val="C08428"/>
            </a:solidFill>
            <a:prstDash val="solid"/>
          </a:ln>
        </p:spPr>
      </p:sp>
      <p:sp>
        <p:nvSpPr>
          <p:cNvPr id="60" name="Shape 58"/>
          <p:cNvSpPr/>
          <p:nvPr/>
        </p:nvSpPr>
        <p:spPr>
          <a:xfrm>
            <a:off x="9171432" y="3291840"/>
            <a:ext cx="137160" cy="137160"/>
          </a:xfrm>
          <a:prstGeom prst="roundRect">
            <a:avLst>
              <a:gd name="adj" fmla="val 13333"/>
            </a:avLst>
          </a:prstGeom>
          <a:solidFill>
            <a:srgbClr val="D5E0DE"/>
          </a:solidFill>
          <a:ln w="12700">
            <a:solidFill>
              <a:srgbClr val="D5E0DE"/>
            </a:solidFill>
            <a:prstDash val="solid"/>
          </a:ln>
        </p:spPr>
      </p:sp>
      <p:sp>
        <p:nvSpPr>
          <p:cNvPr id="61" name="Shape 59"/>
          <p:cNvSpPr/>
          <p:nvPr/>
        </p:nvSpPr>
        <p:spPr>
          <a:xfrm>
            <a:off x="9354312" y="3291840"/>
            <a:ext cx="137160" cy="137160"/>
          </a:xfrm>
          <a:prstGeom prst="roundRect">
            <a:avLst>
              <a:gd name="adj" fmla="val 13333"/>
            </a:avLst>
          </a:prstGeom>
          <a:solidFill>
            <a:srgbClr val="D5E0DE"/>
          </a:solidFill>
          <a:ln w="12700">
            <a:solidFill>
              <a:srgbClr val="D5E0DE"/>
            </a:solidFill>
            <a:prstDash val="solid"/>
          </a:ln>
        </p:spPr>
      </p:sp>
      <p:sp>
        <p:nvSpPr>
          <p:cNvPr id="62" name="Text 60"/>
          <p:cNvSpPr/>
          <p:nvPr/>
        </p:nvSpPr>
        <p:spPr>
          <a:xfrm>
            <a:off x="8805672" y="3456432"/>
            <a:ext cx="1207008" cy="201168"/>
          </a:xfrm>
          <a:prstGeom prst="rect">
            <a:avLst/>
          </a:prstGeom>
          <a:noFill/>
          <a:ln/>
        </p:spPr>
        <p:txBody>
          <a:bodyPr wrap="square" lIns="0" tIns="0" rIns="0" bIns="0" rtlCol="0" anchor="ctr"/>
          <a:lstStyle/>
          <a:p>
            <a:pPr indent="0" marL="0">
              <a:buNone/>
            </a:pPr>
            <a:r>
              <a:rPr lang="en-US" sz="750" dirty="0">
                <a:solidFill>
                  <a:srgbClr val="8FA09E"/>
                </a:solidFill>
                <a:latin typeface="Calibri" pitchFamily="34" charset="0"/>
                <a:ea typeface="Calibri" pitchFamily="34" charset="-122"/>
                <a:cs typeface="Calibri" pitchFamily="34" charset="-120"/>
              </a:rPr>
              <a:t>manual effort today</a:t>
            </a:r>
            <a:endParaRPr lang="en-US" sz="750" dirty="0"/>
          </a:p>
        </p:txBody>
      </p:sp>
      <p:sp>
        <p:nvSpPr>
          <p:cNvPr id="63" name="Text 61"/>
          <p:cNvSpPr/>
          <p:nvPr/>
        </p:nvSpPr>
        <p:spPr>
          <a:xfrm>
            <a:off x="8805672" y="3712464"/>
            <a:ext cx="1207008" cy="256032"/>
          </a:xfrm>
          <a:prstGeom prst="rect">
            <a:avLst/>
          </a:prstGeom>
          <a:noFill/>
          <a:ln/>
        </p:spPr>
        <p:txBody>
          <a:bodyPr wrap="square" lIns="0" tIns="0" rIns="0" bIns="0" rtlCol="0" anchor="ctr"/>
          <a:lstStyle/>
          <a:p>
            <a:pPr indent="0" marL="0">
              <a:buNone/>
            </a:pPr>
            <a:r>
              <a:rPr lang="en-US" sz="950" b="1" dirty="0">
                <a:solidFill>
                  <a:srgbClr val="C08428"/>
                </a:solidFill>
                <a:latin typeface="Calibri" pitchFamily="34" charset="0"/>
                <a:ea typeface="Calibri" pitchFamily="34" charset="-122"/>
                <a:cs typeface="Calibri" pitchFamily="34" charset="-120"/>
              </a:rPr>
              <a:t>Agent 8</a:t>
            </a:r>
            <a:endParaRPr lang="en-US" sz="950" dirty="0"/>
          </a:p>
        </p:txBody>
      </p:sp>
      <p:sp>
        <p:nvSpPr>
          <p:cNvPr id="64" name="Shape 62"/>
          <p:cNvSpPr/>
          <p:nvPr/>
        </p:nvSpPr>
        <p:spPr>
          <a:xfrm>
            <a:off x="10163556" y="2971800"/>
            <a:ext cx="109728" cy="0"/>
          </a:xfrm>
          <a:prstGeom prst="line">
            <a:avLst/>
          </a:prstGeom>
          <a:noFill/>
          <a:ln w="15875">
            <a:solidFill>
              <a:srgbClr val="9AB0AE"/>
            </a:solidFill>
            <a:prstDash val="solid"/>
            <a:tailEnd type="triangle"/>
          </a:ln>
        </p:spPr>
      </p:sp>
      <p:sp>
        <p:nvSpPr>
          <p:cNvPr id="65" name="Shape 63"/>
          <p:cNvSpPr/>
          <p:nvPr/>
        </p:nvSpPr>
        <p:spPr>
          <a:xfrm>
            <a:off x="10277856" y="1828800"/>
            <a:ext cx="1499616" cy="2286000"/>
          </a:xfrm>
          <a:prstGeom prst="roundRect">
            <a:avLst>
              <a:gd name="adj" fmla="val 4268"/>
            </a:avLst>
          </a:prstGeom>
          <a:solidFill>
            <a:srgbClr val="EFF4F3"/>
          </a:solidFill>
          <a:ln w="12700">
            <a:solidFill>
              <a:srgbClr val="D5E0DE"/>
            </a:solidFill>
            <a:prstDash val="solid"/>
          </a:ln>
        </p:spPr>
      </p:sp>
      <p:sp>
        <p:nvSpPr>
          <p:cNvPr id="66" name="Text 64"/>
          <p:cNvSpPr/>
          <p:nvPr/>
        </p:nvSpPr>
        <p:spPr>
          <a:xfrm>
            <a:off x="10424160" y="1956816"/>
            <a:ext cx="1207008" cy="292608"/>
          </a:xfrm>
          <a:prstGeom prst="rect">
            <a:avLst/>
          </a:prstGeom>
          <a:noFill/>
          <a:ln/>
        </p:spPr>
        <p:txBody>
          <a:bodyPr wrap="square" lIns="0" tIns="0" rIns="0" bIns="0" rtlCol="0" anchor="ctr"/>
          <a:lstStyle/>
          <a:p>
            <a:pPr indent="0" marL="0">
              <a:buNone/>
            </a:pPr>
            <a:r>
              <a:rPr lang="en-US" sz="1400" b="1" dirty="0">
                <a:solidFill>
                  <a:srgbClr val="0F3D3E"/>
                </a:solidFill>
                <a:latin typeface="Cambria" pitchFamily="34" charset="0"/>
                <a:ea typeface="Cambria" pitchFamily="34" charset="-122"/>
                <a:cs typeface="Cambria" pitchFamily="34" charset="-120"/>
              </a:rPr>
              <a:t>Bill &amp; plan</a:t>
            </a:r>
            <a:endParaRPr lang="en-US" sz="1400" dirty="0"/>
          </a:p>
        </p:txBody>
      </p:sp>
      <p:sp>
        <p:nvSpPr>
          <p:cNvPr id="67" name="Text 65"/>
          <p:cNvSpPr/>
          <p:nvPr/>
        </p:nvSpPr>
        <p:spPr>
          <a:xfrm>
            <a:off x="10424160" y="2286000"/>
            <a:ext cx="1207008" cy="914400"/>
          </a:xfrm>
          <a:prstGeom prst="rect">
            <a:avLst/>
          </a:prstGeom>
          <a:noFill/>
          <a:ln/>
        </p:spPr>
        <p:txBody>
          <a:bodyPr wrap="square" lIns="0" tIns="0" rIns="0" bIns="0" rtlCol="0" anchor="t"/>
          <a:lstStyle/>
          <a:p>
            <a:pPr indent="0" marL="0">
              <a:lnSpc>
                <a:spcPts val="1200"/>
              </a:lnSpc>
              <a:buNone/>
            </a:pPr>
            <a:r>
              <a:rPr lang="en-US" sz="900" dirty="0">
                <a:solidFill>
                  <a:srgbClr val="5C6B6A"/>
                </a:solidFill>
                <a:latin typeface="Calibri" pitchFamily="34" charset="0"/>
                <a:ea typeface="Calibri" pitchFamily="34" charset="-122"/>
                <a:cs typeface="Calibri" pitchFamily="34" charset="-120"/>
              </a:rPr>
              <a:t>Invoice what was delivered; plan capacity</a:t>
            </a:r>
            <a:endParaRPr lang="en-US" sz="900" dirty="0"/>
          </a:p>
        </p:txBody>
      </p:sp>
      <p:sp>
        <p:nvSpPr>
          <p:cNvPr id="68" name="Shape 66"/>
          <p:cNvSpPr/>
          <p:nvPr/>
        </p:nvSpPr>
        <p:spPr>
          <a:xfrm>
            <a:off x="10424160" y="3291840"/>
            <a:ext cx="137160" cy="137160"/>
          </a:xfrm>
          <a:prstGeom prst="roundRect">
            <a:avLst>
              <a:gd name="adj" fmla="val 13333"/>
            </a:avLst>
          </a:prstGeom>
          <a:solidFill>
            <a:srgbClr val="C08428"/>
          </a:solidFill>
          <a:ln w="12700">
            <a:solidFill>
              <a:srgbClr val="C08428"/>
            </a:solidFill>
            <a:prstDash val="solid"/>
          </a:ln>
        </p:spPr>
      </p:sp>
      <p:sp>
        <p:nvSpPr>
          <p:cNvPr id="69" name="Shape 67"/>
          <p:cNvSpPr/>
          <p:nvPr/>
        </p:nvSpPr>
        <p:spPr>
          <a:xfrm>
            <a:off x="10607040" y="3291840"/>
            <a:ext cx="137160" cy="137160"/>
          </a:xfrm>
          <a:prstGeom prst="roundRect">
            <a:avLst>
              <a:gd name="adj" fmla="val 13333"/>
            </a:avLst>
          </a:prstGeom>
          <a:solidFill>
            <a:srgbClr val="C08428"/>
          </a:solidFill>
          <a:ln w="12700">
            <a:solidFill>
              <a:srgbClr val="C08428"/>
            </a:solidFill>
            <a:prstDash val="solid"/>
          </a:ln>
        </p:spPr>
      </p:sp>
      <p:sp>
        <p:nvSpPr>
          <p:cNvPr id="70" name="Shape 68"/>
          <p:cNvSpPr/>
          <p:nvPr/>
        </p:nvSpPr>
        <p:spPr>
          <a:xfrm>
            <a:off x="10789920" y="3291840"/>
            <a:ext cx="137160" cy="137160"/>
          </a:xfrm>
          <a:prstGeom prst="roundRect">
            <a:avLst>
              <a:gd name="adj" fmla="val 13333"/>
            </a:avLst>
          </a:prstGeom>
          <a:solidFill>
            <a:srgbClr val="D5E0DE"/>
          </a:solidFill>
          <a:ln w="12700">
            <a:solidFill>
              <a:srgbClr val="D5E0DE"/>
            </a:solidFill>
            <a:prstDash val="solid"/>
          </a:ln>
        </p:spPr>
      </p:sp>
      <p:sp>
        <p:nvSpPr>
          <p:cNvPr id="71" name="Shape 69"/>
          <p:cNvSpPr/>
          <p:nvPr/>
        </p:nvSpPr>
        <p:spPr>
          <a:xfrm>
            <a:off x="10972800" y="3291840"/>
            <a:ext cx="137160" cy="137160"/>
          </a:xfrm>
          <a:prstGeom prst="roundRect">
            <a:avLst>
              <a:gd name="adj" fmla="val 13333"/>
            </a:avLst>
          </a:prstGeom>
          <a:solidFill>
            <a:srgbClr val="D5E0DE"/>
          </a:solidFill>
          <a:ln w="12700">
            <a:solidFill>
              <a:srgbClr val="D5E0DE"/>
            </a:solidFill>
            <a:prstDash val="solid"/>
          </a:ln>
        </p:spPr>
      </p:sp>
      <p:sp>
        <p:nvSpPr>
          <p:cNvPr id="72" name="Text 70"/>
          <p:cNvSpPr/>
          <p:nvPr/>
        </p:nvSpPr>
        <p:spPr>
          <a:xfrm>
            <a:off x="10424160" y="3456432"/>
            <a:ext cx="1207008" cy="201168"/>
          </a:xfrm>
          <a:prstGeom prst="rect">
            <a:avLst/>
          </a:prstGeom>
          <a:noFill/>
          <a:ln/>
        </p:spPr>
        <p:txBody>
          <a:bodyPr wrap="square" lIns="0" tIns="0" rIns="0" bIns="0" rtlCol="0" anchor="ctr"/>
          <a:lstStyle/>
          <a:p>
            <a:pPr indent="0" marL="0">
              <a:buNone/>
            </a:pPr>
            <a:r>
              <a:rPr lang="en-US" sz="750" dirty="0">
                <a:solidFill>
                  <a:srgbClr val="8FA09E"/>
                </a:solidFill>
                <a:latin typeface="Calibri" pitchFamily="34" charset="0"/>
                <a:ea typeface="Calibri" pitchFamily="34" charset="-122"/>
                <a:cs typeface="Calibri" pitchFamily="34" charset="-120"/>
              </a:rPr>
              <a:t>manual effort today</a:t>
            </a:r>
            <a:endParaRPr lang="en-US" sz="750" dirty="0"/>
          </a:p>
        </p:txBody>
      </p:sp>
      <p:sp>
        <p:nvSpPr>
          <p:cNvPr id="73" name="Text 71"/>
          <p:cNvSpPr/>
          <p:nvPr/>
        </p:nvSpPr>
        <p:spPr>
          <a:xfrm>
            <a:off x="10424160" y="3712464"/>
            <a:ext cx="1207008" cy="256032"/>
          </a:xfrm>
          <a:prstGeom prst="rect">
            <a:avLst/>
          </a:prstGeom>
          <a:noFill/>
          <a:ln/>
        </p:spPr>
        <p:txBody>
          <a:bodyPr wrap="square" lIns="0" tIns="0" rIns="0" bIns="0" rtlCol="0" anchor="ctr"/>
          <a:lstStyle/>
          <a:p>
            <a:pPr indent="0" marL="0">
              <a:buNone/>
            </a:pPr>
            <a:r>
              <a:rPr lang="en-US" sz="950" b="1" dirty="0">
                <a:solidFill>
                  <a:srgbClr val="C08428"/>
                </a:solidFill>
                <a:latin typeface="Calibri" pitchFamily="34" charset="0"/>
                <a:ea typeface="Calibri" pitchFamily="34" charset="-122"/>
                <a:cs typeface="Calibri" pitchFamily="34" charset="-120"/>
              </a:rPr>
              <a:t>Agent 9 · 10</a:t>
            </a:r>
            <a:endParaRPr lang="en-US" sz="950" dirty="0"/>
          </a:p>
        </p:txBody>
      </p:sp>
      <p:sp>
        <p:nvSpPr>
          <p:cNvPr id="74" name="Shape 72"/>
          <p:cNvSpPr/>
          <p:nvPr/>
        </p:nvSpPr>
        <p:spPr>
          <a:xfrm>
            <a:off x="566928" y="4370832"/>
            <a:ext cx="11064240" cy="932688"/>
          </a:xfrm>
          <a:prstGeom prst="roundRect">
            <a:avLst>
              <a:gd name="adj" fmla="val 6863"/>
            </a:avLst>
          </a:prstGeom>
          <a:solidFill>
            <a:srgbClr val="E2ECEA"/>
          </a:solidFill>
          <a:ln w="12700">
            <a:solidFill>
              <a:srgbClr val="E2ECEA"/>
            </a:solidFill>
            <a:prstDash val="solid"/>
          </a:ln>
        </p:spPr>
      </p:sp>
      <p:sp>
        <p:nvSpPr>
          <p:cNvPr id="75" name="Text 73"/>
          <p:cNvSpPr/>
          <p:nvPr/>
        </p:nvSpPr>
        <p:spPr>
          <a:xfrm>
            <a:off x="768096" y="4453128"/>
            <a:ext cx="10661904" cy="201168"/>
          </a:xfrm>
          <a:prstGeom prst="rect">
            <a:avLst/>
          </a:prstGeom>
          <a:noFill/>
          <a:ln/>
        </p:spPr>
        <p:txBody>
          <a:bodyPr wrap="square" lIns="0" tIns="0" rIns="0" bIns="0" rtlCol="0" anchor="ctr"/>
          <a:lstStyle/>
          <a:p>
            <a:pPr indent="0" marL="0">
              <a:buNone/>
            </a:pPr>
            <a:r>
              <a:rPr lang="en-US" sz="900" b="1" spc="120" kern="0" dirty="0">
                <a:solidFill>
                  <a:srgbClr val="0F3D3E"/>
                </a:solidFill>
                <a:latin typeface="Calibri" pitchFamily="34" charset="0"/>
                <a:ea typeface="Calibri" pitchFamily="34" charset="-122"/>
                <a:cs typeface="Calibri" pitchFamily="34" charset="-120"/>
              </a:rPr>
              <a:t>READ THE METERS</a:t>
            </a:r>
            <a:endParaRPr lang="en-US" sz="900" dirty="0"/>
          </a:p>
        </p:txBody>
      </p:sp>
      <p:sp>
        <p:nvSpPr>
          <p:cNvPr id="76" name="Text 74"/>
          <p:cNvSpPr/>
          <p:nvPr/>
        </p:nvSpPr>
        <p:spPr>
          <a:xfrm>
            <a:off x="768096" y="4663440"/>
            <a:ext cx="10661904" cy="530352"/>
          </a:xfrm>
          <a:prstGeom prst="rect">
            <a:avLst/>
          </a:prstGeom>
          <a:noFill/>
          <a:ln/>
        </p:spPr>
        <p:txBody>
          <a:bodyPr wrap="square" lIns="0" tIns="0" rIns="0" bIns="0" rtlCol="0" anchor="t"/>
          <a:lstStyle/>
          <a:p>
            <a:pPr indent="0" marL="0">
              <a:lnSpc>
                <a:spcPts val="1344"/>
              </a:lnSpc>
              <a:buNone/>
            </a:pPr>
            <a:r>
              <a:rPr lang="en-US" sz="1050" dirty="0">
                <a:solidFill>
                  <a:srgbClr val="0F3D3E"/>
                </a:solidFill>
                <a:latin typeface="Calibri" pitchFamily="34" charset="0"/>
                <a:ea typeface="Calibri" pitchFamily="34" charset="-122"/>
                <a:cs typeface="Calibri" pitchFamily="34" charset="-120"/>
              </a:rPr>
              <a:t>Recording and reconciling carry four bars each — they are the stations where a practice's hours actually disappear, and they repeat identically every month for every client. Part 2 goes station by station and shows exactly what CAOS takes over at each one, and what stays with a person.</a:t>
            </a:r>
            <a:endParaRPr lang="en-US" sz="1050" dirty="0"/>
          </a:p>
        </p:txBody>
      </p:sp>
      <p:sp>
        <p:nvSpPr>
          <p:cNvPr id="77" name="Text 75"/>
          <p:cNvSpPr/>
          <p:nvPr/>
        </p:nvSpPr>
        <p:spPr>
          <a:xfrm>
            <a:off x="566928" y="5577840"/>
            <a:ext cx="11064240" cy="329184"/>
          </a:xfrm>
          <a:prstGeom prst="rect">
            <a:avLst/>
          </a:prstGeom>
          <a:noFill/>
          <a:ln/>
        </p:spPr>
        <p:txBody>
          <a:bodyPr wrap="square" lIns="0" tIns="0" rIns="0" bIns="0" rtlCol="0" anchor="ctr"/>
          <a:lstStyle/>
          <a:p>
            <a:pPr indent="0" marL="0">
              <a:buNone/>
            </a:pPr>
            <a:r>
              <a:rPr lang="en-US" sz="1100" i="1" dirty="0">
                <a:solidFill>
                  <a:srgbClr val="5C6B6A"/>
                </a:solidFill>
                <a:latin typeface="Calibri" pitchFamily="34" charset="0"/>
                <a:ea typeface="Calibri" pitchFamily="34" charset="-122"/>
                <a:cs typeface="Calibri" pitchFamily="34" charset="-120"/>
              </a:rPr>
              <a:t>End of Part 1.  Part 2 begins on the next slide.</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3D3E"/>
        </a:solidFill>
      </p:bgPr>
    </p:bg>
    <p:spTree>
      <p:nvGrpSpPr>
        <p:cNvPr id="1" name=""/>
        <p:cNvGrpSpPr/>
        <p:nvPr/>
      </p:nvGrpSpPr>
      <p:grpSpPr>
        <a:xfrm>
          <a:off x="0" y="0"/>
          <a:ext cx="0" cy="0"/>
          <a:chOff x="0" y="0"/>
          <a:chExt cx="0" cy="0"/>
        </a:xfrm>
      </p:grpSpPr>
      <p:sp>
        <p:nvSpPr>
          <p:cNvPr id="2" name="Text 0"/>
          <p:cNvSpPr/>
          <p:nvPr/>
        </p:nvSpPr>
        <p:spPr>
          <a:xfrm>
            <a:off x="566928" y="2286000"/>
            <a:ext cx="7315200" cy="365760"/>
          </a:xfrm>
          <a:prstGeom prst="rect">
            <a:avLst/>
          </a:prstGeom>
          <a:noFill/>
          <a:ln/>
        </p:spPr>
        <p:txBody>
          <a:bodyPr wrap="square" lIns="0" tIns="0" rIns="0" bIns="0" rtlCol="0" anchor="ctr"/>
          <a:lstStyle/>
          <a:p>
            <a:pPr indent="0" marL="0">
              <a:buNone/>
            </a:pPr>
            <a:r>
              <a:rPr lang="en-US" sz="1300" b="1" spc="240" kern="0" dirty="0">
                <a:solidFill>
                  <a:srgbClr val="C08428"/>
                </a:solidFill>
                <a:latin typeface="Calibri" pitchFamily="34" charset="0"/>
                <a:ea typeface="Calibri" pitchFamily="34" charset="-122"/>
                <a:cs typeface="Calibri" pitchFamily="34" charset="-120"/>
              </a:rPr>
              <a:t>PART 2</a:t>
            </a:r>
            <a:endParaRPr lang="en-US" sz="1300" dirty="0"/>
          </a:p>
        </p:txBody>
      </p:sp>
      <p:sp>
        <p:nvSpPr>
          <p:cNvPr id="3" name="Text 1"/>
          <p:cNvSpPr/>
          <p:nvPr/>
        </p:nvSpPr>
        <p:spPr>
          <a:xfrm>
            <a:off x="566928" y="2688336"/>
            <a:ext cx="8229600" cy="914400"/>
          </a:xfrm>
          <a:prstGeom prst="rect">
            <a:avLst/>
          </a:prstGeom>
          <a:noFill/>
          <a:ln/>
        </p:spPr>
        <p:txBody>
          <a:bodyPr wrap="square" lIns="0" tIns="0" rIns="0" bIns="0" rtlCol="0" anchor="ctr"/>
          <a:lstStyle/>
          <a:p>
            <a:pPr indent="0" marL="0">
              <a:buNone/>
            </a:pPr>
            <a:r>
              <a:rPr lang="en-US" sz="5800" b="1" dirty="0">
                <a:solidFill>
                  <a:srgbClr val="FFFFFF"/>
                </a:solidFill>
                <a:latin typeface="Cambria" pitchFamily="34" charset="0"/>
                <a:ea typeface="Cambria" pitchFamily="34" charset="-122"/>
                <a:cs typeface="Cambria" pitchFamily="34" charset="-120"/>
              </a:rPr>
              <a:t>CAOS</a:t>
            </a:r>
            <a:endParaRPr lang="en-US" sz="5800" dirty="0"/>
          </a:p>
        </p:txBody>
      </p:sp>
      <p:sp>
        <p:nvSpPr>
          <p:cNvPr id="4" name="Text 2"/>
          <p:cNvSpPr/>
          <p:nvPr/>
        </p:nvSpPr>
        <p:spPr>
          <a:xfrm>
            <a:off x="566928" y="3767328"/>
            <a:ext cx="8046720" cy="822960"/>
          </a:xfrm>
          <a:prstGeom prst="rect">
            <a:avLst/>
          </a:prstGeom>
          <a:noFill/>
          <a:ln/>
        </p:spPr>
        <p:txBody>
          <a:bodyPr wrap="square" lIns="0" tIns="0" rIns="0" bIns="0" rtlCol="0" anchor="ctr"/>
          <a:lstStyle/>
          <a:p>
            <a:pPr indent="0" marL="0">
              <a:lnSpc>
                <a:spcPts val="2100"/>
              </a:lnSpc>
              <a:buNone/>
            </a:pPr>
            <a:r>
              <a:rPr lang="en-US" sz="1350" dirty="0">
                <a:solidFill>
                  <a:srgbClr val="A8C3C1"/>
                </a:solidFill>
                <a:latin typeface="Calibri" pitchFamily="34" charset="0"/>
                <a:ea typeface="Calibri" pitchFamily="34" charset="-122"/>
                <a:cs typeface="Calibri" pitchFamily="34" charset="-120"/>
              </a:rPr>
              <a:t>Ten automation agents, one shared task system. Each one targets a specific bottleneck from Part 1,</a:t>
            </a:r>
            <a:endParaRPr lang="en-US" sz="1350" dirty="0"/>
          </a:p>
          <a:p>
            <a:pPr indent="0" marL="0">
              <a:lnSpc>
                <a:spcPts val="2100"/>
              </a:lnSpc>
              <a:buNone/>
            </a:pPr>
            <a:r>
              <a:rPr lang="en-US" sz="1350" dirty="0">
                <a:solidFill>
                  <a:srgbClr val="A8C3C1"/>
                </a:solidFill>
                <a:latin typeface="Calibri" pitchFamily="34" charset="0"/>
                <a:ea typeface="Calibri" pitchFamily="34" charset="-122"/>
                <a:cs typeface="Calibri" pitchFamily="34" charset="-120"/>
              </a:rPr>
              <a:t>and each one names exactly where a human stays in control.</a:t>
            </a:r>
            <a:endParaRPr lang="en-US" sz="1350" dirty="0"/>
          </a:p>
        </p:txBody>
      </p:sp>
      <p:sp>
        <p:nvSpPr>
          <p:cNvPr id="5" name="Shape 3"/>
          <p:cNvSpPr/>
          <p:nvPr/>
        </p:nvSpPr>
        <p:spPr>
          <a:xfrm>
            <a:off x="566928" y="5029200"/>
            <a:ext cx="182880" cy="182880"/>
          </a:xfrm>
          <a:prstGeom prst="roundRect">
            <a:avLst>
              <a:gd name="adj" fmla="val 15000"/>
            </a:avLst>
          </a:prstGeom>
          <a:solidFill>
            <a:srgbClr val="2E7A78"/>
          </a:solidFill>
          <a:ln w="12700">
            <a:solidFill>
              <a:srgbClr val="2E7A78"/>
            </a:solidFill>
            <a:prstDash val="solid"/>
          </a:ln>
        </p:spPr>
      </p:sp>
      <p:sp>
        <p:nvSpPr>
          <p:cNvPr id="6" name="Shape 4"/>
          <p:cNvSpPr/>
          <p:nvPr/>
        </p:nvSpPr>
        <p:spPr>
          <a:xfrm>
            <a:off x="877824" y="5029200"/>
            <a:ext cx="182880" cy="182880"/>
          </a:xfrm>
          <a:prstGeom prst="roundRect">
            <a:avLst>
              <a:gd name="adj" fmla="val 15000"/>
            </a:avLst>
          </a:prstGeom>
          <a:solidFill>
            <a:srgbClr val="2E7A78"/>
          </a:solidFill>
          <a:ln w="12700">
            <a:solidFill>
              <a:srgbClr val="2E7A78"/>
            </a:solidFill>
            <a:prstDash val="solid"/>
          </a:ln>
        </p:spPr>
      </p:sp>
      <p:sp>
        <p:nvSpPr>
          <p:cNvPr id="7" name="Shape 5"/>
          <p:cNvSpPr/>
          <p:nvPr/>
        </p:nvSpPr>
        <p:spPr>
          <a:xfrm>
            <a:off x="1188720" y="5029200"/>
            <a:ext cx="182880" cy="182880"/>
          </a:xfrm>
          <a:prstGeom prst="roundRect">
            <a:avLst>
              <a:gd name="adj" fmla="val 15000"/>
            </a:avLst>
          </a:prstGeom>
          <a:solidFill>
            <a:srgbClr val="2E7A78"/>
          </a:solidFill>
          <a:ln w="12700">
            <a:solidFill>
              <a:srgbClr val="2E7A78"/>
            </a:solidFill>
            <a:prstDash val="solid"/>
          </a:ln>
        </p:spPr>
      </p:sp>
      <p:sp>
        <p:nvSpPr>
          <p:cNvPr id="8" name="Shape 6"/>
          <p:cNvSpPr/>
          <p:nvPr/>
        </p:nvSpPr>
        <p:spPr>
          <a:xfrm>
            <a:off x="1499616" y="5029200"/>
            <a:ext cx="182880" cy="182880"/>
          </a:xfrm>
          <a:prstGeom prst="roundRect">
            <a:avLst>
              <a:gd name="adj" fmla="val 15000"/>
            </a:avLst>
          </a:prstGeom>
          <a:solidFill>
            <a:srgbClr val="2E7A78"/>
          </a:solidFill>
          <a:ln w="12700">
            <a:solidFill>
              <a:srgbClr val="2E7A78"/>
            </a:solidFill>
            <a:prstDash val="solid"/>
          </a:ln>
        </p:spPr>
      </p:sp>
      <p:sp>
        <p:nvSpPr>
          <p:cNvPr id="9" name="Shape 7"/>
          <p:cNvSpPr/>
          <p:nvPr/>
        </p:nvSpPr>
        <p:spPr>
          <a:xfrm>
            <a:off x="1810512" y="5029200"/>
            <a:ext cx="182880" cy="182880"/>
          </a:xfrm>
          <a:prstGeom prst="roundRect">
            <a:avLst>
              <a:gd name="adj" fmla="val 15000"/>
            </a:avLst>
          </a:prstGeom>
          <a:solidFill>
            <a:srgbClr val="C08428"/>
          </a:solidFill>
          <a:ln w="12700">
            <a:solidFill>
              <a:srgbClr val="C08428"/>
            </a:solidFill>
            <a:prstDash val="solid"/>
          </a:ln>
        </p:spPr>
      </p:sp>
      <p:sp>
        <p:nvSpPr>
          <p:cNvPr id="10" name="Shape 8"/>
          <p:cNvSpPr/>
          <p:nvPr/>
        </p:nvSpPr>
        <p:spPr>
          <a:xfrm>
            <a:off x="2121408" y="5029200"/>
            <a:ext cx="182880" cy="182880"/>
          </a:xfrm>
          <a:prstGeom prst="roundRect">
            <a:avLst>
              <a:gd name="adj" fmla="val 15000"/>
            </a:avLst>
          </a:prstGeom>
          <a:solidFill>
            <a:srgbClr val="C08428"/>
          </a:solidFill>
          <a:ln w="12700">
            <a:solidFill>
              <a:srgbClr val="C08428"/>
            </a:solidFill>
            <a:prstDash val="solid"/>
          </a:ln>
        </p:spPr>
      </p:sp>
      <p:sp>
        <p:nvSpPr>
          <p:cNvPr id="11" name="Shape 9"/>
          <p:cNvSpPr/>
          <p:nvPr/>
        </p:nvSpPr>
        <p:spPr>
          <a:xfrm>
            <a:off x="2432304" y="5029200"/>
            <a:ext cx="182880" cy="182880"/>
          </a:xfrm>
          <a:prstGeom prst="roundRect">
            <a:avLst>
              <a:gd name="adj" fmla="val 15000"/>
            </a:avLst>
          </a:prstGeom>
          <a:solidFill>
            <a:srgbClr val="C08428"/>
          </a:solidFill>
          <a:ln w="12700">
            <a:solidFill>
              <a:srgbClr val="C08428"/>
            </a:solidFill>
            <a:prstDash val="solid"/>
          </a:ln>
        </p:spPr>
      </p:sp>
      <p:sp>
        <p:nvSpPr>
          <p:cNvPr id="12" name="Shape 10"/>
          <p:cNvSpPr/>
          <p:nvPr/>
        </p:nvSpPr>
        <p:spPr>
          <a:xfrm>
            <a:off x="2743200" y="5029200"/>
            <a:ext cx="182880" cy="182880"/>
          </a:xfrm>
          <a:prstGeom prst="roundRect">
            <a:avLst>
              <a:gd name="adj" fmla="val 15000"/>
            </a:avLst>
          </a:prstGeom>
          <a:solidFill>
            <a:srgbClr val="C08428"/>
          </a:solidFill>
          <a:ln w="12700">
            <a:solidFill>
              <a:srgbClr val="C08428"/>
            </a:solidFill>
            <a:prstDash val="solid"/>
          </a:ln>
        </p:spPr>
      </p:sp>
      <p:sp>
        <p:nvSpPr>
          <p:cNvPr id="13" name="Shape 11"/>
          <p:cNvSpPr/>
          <p:nvPr/>
        </p:nvSpPr>
        <p:spPr>
          <a:xfrm>
            <a:off x="3054096" y="5029200"/>
            <a:ext cx="182880" cy="182880"/>
          </a:xfrm>
          <a:prstGeom prst="roundRect">
            <a:avLst>
              <a:gd name="adj" fmla="val 15000"/>
            </a:avLst>
          </a:prstGeom>
          <a:solidFill>
            <a:srgbClr val="C08428"/>
          </a:solidFill>
          <a:ln w="12700">
            <a:solidFill>
              <a:srgbClr val="C08428"/>
            </a:solidFill>
            <a:prstDash val="solid"/>
          </a:ln>
        </p:spPr>
      </p:sp>
      <p:sp>
        <p:nvSpPr>
          <p:cNvPr id="14" name="Shape 12"/>
          <p:cNvSpPr/>
          <p:nvPr/>
        </p:nvSpPr>
        <p:spPr>
          <a:xfrm>
            <a:off x="3364992" y="5029200"/>
            <a:ext cx="182880" cy="182880"/>
          </a:xfrm>
          <a:prstGeom prst="roundRect">
            <a:avLst>
              <a:gd name="adj" fmla="val 15000"/>
            </a:avLst>
          </a:prstGeom>
          <a:solidFill>
            <a:srgbClr val="C08428"/>
          </a:solidFill>
          <a:ln w="12700">
            <a:solidFill>
              <a:srgbClr val="C08428"/>
            </a:solidFill>
            <a:prstDash val="solid"/>
          </a:ln>
        </p:spPr>
      </p:sp>
      <p:sp>
        <p:nvSpPr>
          <p:cNvPr id="15" name="Shape 13"/>
          <p:cNvSpPr/>
          <p:nvPr/>
        </p:nvSpPr>
        <p:spPr>
          <a:xfrm>
            <a:off x="3675888" y="5029200"/>
            <a:ext cx="182880" cy="182880"/>
          </a:xfrm>
          <a:prstGeom prst="roundRect">
            <a:avLst>
              <a:gd name="adj" fmla="val 15000"/>
            </a:avLst>
          </a:prstGeom>
          <a:solidFill>
            <a:srgbClr val="C08428"/>
          </a:solidFill>
          <a:ln w="12700">
            <a:solidFill>
              <a:srgbClr val="C08428"/>
            </a:solidFill>
            <a:prstDash val="solid"/>
          </a:ln>
        </p:spPr>
      </p:sp>
      <p:sp>
        <p:nvSpPr>
          <p:cNvPr id="16" name="Shape 14"/>
          <p:cNvSpPr/>
          <p:nvPr/>
        </p:nvSpPr>
        <p:spPr>
          <a:xfrm>
            <a:off x="3986784" y="5029200"/>
            <a:ext cx="182880" cy="182880"/>
          </a:xfrm>
          <a:prstGeom prst="roundRect">
            <a:avLst>
              <a:gd name="adj" fmla="val 15000"/>
            </a:avLst>
          </a:prstGeom>
          <a:solidFill>
            <a:srgbClr val="C08428"/>
          </a:solidFill>
          <a:ln w="12700">
            <a:solidFill>
              <a:srgbClr val="C08428"/>
            </a:solidFill>
            <a:prstDash val="soli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PART 2 · OVERVIEW</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What CAOS is</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The name reflects what it replaces: a set of manual, fragmented processes that don't scale on their own.</a:t>
            </a:r>
            <a:endParaRPr lang="en-US" sz="1300" dirty="0"/>
          </a:p>
        </p:txBody>
      </p:sp>
      <p:sp>
        <p:nvSpPr>
          <p:cNvPr id="5" name="Shape 3"/>
          <p:cNvSpPr/>
          <p:nvPr/>
        </p:nvSpPr>
        <p:spPr>
          <a:xfrm>
            <a:off x="566928" y="1700784"/>
            <a:ext cx="3566160" cy="2615184"/>
          </a:xfrm>
          <a:prstGeom prst="roundRect">
            <a:avLst>
              <a:gd name="adj" fmla="val 2448"/>
            </a:avLst>
          </a:prstGeom>
          <a:solidFill>
            <a:srgbClr val="EFF4F3"/>
          </a:solidFill>
          <a:ln w="12700">
            <a:solidFill>
              <a:srgbClr val="EFF4F3"/>
            </a:solidFill>
            <a:prstDash val="solid"/>
          </a:ln>
          <a:effectLst>
            <a:outerShdw sx="100000" sy="100000" kx="0" ky="0" algn="bl" rotWithShape="0" blurRad="101600" dist="25400" dir="5400000">
              <a:srgbClr val="0F3D3E">
                <a:alpha val="10000"/>
              </a:srgbClr>
            </a:outerShdw>
          </a:effectLst>
        </p:spPr>
      </p:sp>
      <p:sp>
        <p:nvSpPr>
          <p:cNvPr id="6" name="Text 4"/>
          <p:cNvSpPr/>
          <p:nvPr/>
        </p:nvSpPr>
        <p:spPr>
          <a:xfrm>
            <a:off x="822960" y="1883664"/>
            <a:ext cx="347472" cy="347472"/>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822960" y="2340864"/>
            <a:ext cx="3054096" cy="621792"/>
          </a:xfrm>
          <a:prstGeom prst="rect">
            <a:avLst/>
          </a:prstGeom>
          <a:noFill/>
          <a:ln/>
        </p:spPr>
        <p:txBody>
          <a:bodyPr wrap="square" lIns="0" tIns="0" rIns="0" bIns="0" rtlCol="0" anchor="t"/>
          <a:lstStyle/>
          <a:p>
            <a:pPr indent="0" marL="0">
              <a:lnSpc>
                <a:spcPts val="1900"/>
              </a:lnSpc>
              <a:buNone/>
            </a:pPr>
            <a:r>
              <a:rPr lang="en-US" sz="1500" b="1" dirty="0">
                <a:solidFill>
                  <a:srgbClr val="0F3D3E"/>
                </a:solidFill>
                <a:latin typeface="Cambria" pitchFamily="34" charset="0"/>
                <a:ea typeface="Cambria" pitchFamily="34" charset="-122"/>
                <a:cs typeface="Cambria" pitchFamily="34" charset="-120"/>
              </a:rPr>
              <a:t>Purpose-built, not bolted on</a:t>
            </a:r>
            <a:endParaRPr lang="en-US" sz="1500" dirty="0"/>
          </a:p>
        </p:txBody>
      </p:sp>
      <p:sp>
        <p:nvSpPr>
          <p:cNvPr id="8" name="Text 6"/>
          <p:cNvSpPr/>
          <p:nvPr/>
        </p:nvSpPr>
        <p:spPr>
          <a:xfrm>
            <a:off x="822960" y="3017520"/>
            <a:ext cx="3054096" cy="1280160"/>
          </a:xfrm>
          <a:prstGeom prst="rect">
            <a:avLst/>
          </a:prstGeom>
          <a:noFill/>
          <a:ln/>
        </p:spPr>
        <p:txBody>
          <a:bodyPr wrap="square" lIns="0" tIns="0" rIns="0" bIns="0" rtlCol="0" anchor="t"/>
          <a:lstStyle/>
          <a:p>
            <a:pPr indent="0" marL="0">
              <a:lnSpc>
                <a:spcPts val="1400"/>
              </a:lnSpc>
              <a:buNone/>
            </a:pPr>
            <a:r>
              <a:rPr lang="en-US" sz="1050" dirty="0">
                <a:solidFill>
                  <a:srgbClr val="5C6B6A"/>
                </a:solidFill>
                <a:latin typeface="Calibri" pitchFamily="34" charset="0"/>
                <a:ea typeface="Calibri" pitchFamily="34" charset="-122"/>
                <a:cs typeface="Calibri" pitchFamily="34" charset="-120"/>
              </a:rPr>
              <a:t>CAOS is not a single tool added to existing software. It is a set of automation agents, each targeting one specific bottleneck, all working through one shared task system — so nothing depends on someone remembering to check a spreadsheet or a separate inbox.</a:t>
            </a:r>
            <a:endParaRPr lang="en-US" sz="1050" dirty="0"/>
          </a:p>
        </p:txBody>
      </p:sp>
      <p:sp>
        <p:nvSpPr>
          <p:cNvPr id="9" name="Shape 7"/>
          <p:cNvSpPr/>
          <p:nvPr/>
        </p:nvSpPr>
        <p:spPr>
          <a:xfrm>
            <a:off x="4407408" y="1700784"/>
            <a:ext cx="3566160" cy="2615184"/>
          </a:xfrm>
          <a:prstGeom prst="roundRect">
            <a:avLst>
              <a:gd name="adj" fmla="val 2448"/>
            </a:avLst>
          </a:prstGeom>
          <a:solidFill>
            <a:srgbClr val="0F3D3E"/>
          </a:solidFill>
          <a:ln w="12700">
            <a:solidFill>
              <a:srgbClr val="0F3D3E"/>
            </a:solidFill>
            <a:prstDash val="solid"/>
          </a:ln>
        </p:spPr>
      </p:sp>
      <p:sp>
        <p:nvSpPr>
          <p:cNvPr id="10" name="Text 8"/>
          <p:cNvSpPr/>
          <p:nvPr/>
        </p:nvSpPr>
        <p:spPr>
          <a:xfrm>
            <a:off x="4663440" y="1883664"/>
            <a:ext cx="347472" cy="347472"/>
          </a:xfrm>
          <a:prstGeom prst="ellipse">
            <a:avLst/>
          </a:prstGeom>
          <a:solidFill>
            <a:srgbClr val="C08428"/>
          </a:solid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4663440" y="2340864"/>
            <a:ext cx="3054096" cy="621792"/>
          </a:xfrm>
          <a:prstGeom prst="rect">
            <a:avLst/>
          </a:prstGeom>
          <a:noFill/>
          <a:ln/>
        </p:spPr>
        <p:txBody>
          <a:bodyPr wrap="square" lIns="0" tIns="0" rIns="0" bIns="0" rtlCol="0" anchor="t"/>
          <a:lstStyle/>
          <a:p>
            <a:pPr indent="0" marL="0">
              <a:lnSpc>
                <a:spcPts val="1900"/>
              </a:lnSpc>
              <a:buNone/>
            </a:pPr>
            <a:r>
              <a:rPr lang="en-US" sz="1500" b="1" dirty="0">
                <a:solidFill>
                  <a:srgbClr val="FFFFFF"/>
                </a:solidFill>
                <a:latin typeface="Cambria" pitchFamily="34" charset="0"/>
                <a:ea typeface="Cambria" pitchFamily="34" charset="-122"/>
                <a:cs typeface="Cambria" pitchFamily="34" charset="-120"/>
              </a:rPr>
              <a:t>Judgment becomes a task, not a notification</a:t>
            </a:r>
            <a:endParaRPr lang="en-US" sz="1500" dirty="0"/>
          </a:p>
        </p:txBody>
      </p:sp>
      <p:sp>
        <p:nvSpPr>
          <p:cNvPr id="12" name="Text 10"/>
          <p:cNvSpPr/>
          <p:nvPr/>
        </p:nvSpPr>
        <p:spPr>
          <a:xfrm>
            <a:off x="4663440" y="3017520"/>
            <a:ext cx="3054096" cy="1280160"/>
          </a:xfrm>
          <a:prstGeom prst="rect">
            <a:avLst/>
          </a:prstGeom>
          <a:noFill/>
          <a:ln/>
        </p:spPr>
        <p:txBody>
          <a:bodyPr wrap="square" lIns="0" tIns="0" rIns="0" bIns="0" rtlCol="0" anchor="t"/>
          <a:lstStyle/>
          <a:p>
            <a:pPr indent="0" marL="0">
              <a:lnSpc>
                <a:spcPts val="1400"/>
              </a:lnSpc>
              <a:buNone/>
            </a:pPr>
            <a:r>
              <a:rPr lang="en-US" sz="1050" dirty="0">
                <a:solidFill>
                  <a:srgbClr val="BFD4D3"/>
                </a:solidFill>
                <a:latin typeface="Calibri" pitchFamily="34" charset="0"/>
                <a:ea typeface="Calibri" pitchFamily="34" charset="-122"/>
                <a:cs typeface="Calibri" pitchFamily="34" charset="-120"/>
              </a:rPr>
              <a:t>Every call an agent can't make on its own becomes a task, assigned to a specific person, with a due date. Not an alert in an inbox that can be scrolled past. If it isn't resolved in time, it escalates automatically.</a:t>
            </a:r>
            <a:endParaRPr lang="en-US" sz="1050" dirty="0"/>
          </a:p>
        </p:txBody>
      </p:sp>
      <p:sp>
        <p:nvSpPr>
          <p:cNvPr id="13" name="Shape 11"/>
          <p:cNvSpPr/>
          <p:nvPr/>
        </p:nvSpPr>
        <p:spPr>
          <a:xfrm>
            <a:off x="8247888" y="1700784"/>
            <a:ext cx="3566160" cy="2615184"/>
          </a:xfrm>
          <a:prstGeom prst="roundRect">
            <a:avLst>
              <a:gd name="adj" fmla="val 2448"/>
            </a:avLst>
          </a:prstGeom>
          <a:solidFill>
            <a:srgbClr val="E2ECEA"/>
          </a:solidFill>
          <a:ln w="12700">
            <a:solidFill>
              <a:srgbClr val="E2ECEA"/>
            </a:solidFill>
            <a:prstDash val="solid"/>
          </a:ln>
          <a:effectLst>
            <a:outerShdw sx="100000" sy="100000" kx="0" ky="0" algn="bl" rotWithShape="0" blurRad="101600" dist="25400" dir="5400000">
              <a:srgbClr val="0F3D3E">
                <a:alpha val="10000"/>
              </a:srgbClr>
            </a:outerShdw>
          </a:effectLst>
        </p:spPr>
      </p:sp>
      <p:sp>
        <p:nvSpPr>
          <p:cNvPr id="14" name="Text 12"/>
          <p:cNvSpPr/>
          <p:nvPr/>
        </p:nvSpPr>
        <p:spPr>
          <a:xfrm>
            <a:off x="8503920" y="1883664"/>
            <a:ext cx="347472" cy="347472"/>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8503920" y="2340864"/>
            <a:ext cx="3054096" cy="621792"/>
          </a:xfrm>
          <a:prstGeom prst="rect">
            <a:avLst/>
          </a:prstGeom>
          <a:noFill/>
          <a:ln/>
        </p:spPr>
        <p:txBody>
          <a:bodyPr wrap="square" lIns="0" tIns="0" rIns="0" bIns="0" rtlCol="0" anchor="t"/>
          <a:lstStyle/>
          <a:p>
            <a:pPr indent="0" marL="0">
              <a:lnSpc>
                <a:spcPts val="1900"/>
              </a:lnSpc>
              <a:buNone/>
            </a:pPr>
            <a:r>
              <a:rPr lang="en-US" sz="1500" b="1" dirty="0">
                <a:solidFill>
                  <a:srgbClr val="0F3D3E"/>
                </a:solidFill>
                <a:latin typeface="Cambria" pitchFamily="34" charset="0"/>
                <a:ea typeface="Cambria" pitchFamily="34" charset="-122"/>
                <a:cs typeface="Cambria" pitchFamily="34" charset="-120"/>
              </a:rPr>
              <a:t>Built against this practice's numbers</a:t>
            </a:r>
            <a:endParaRPr lang="en-US" sz="1500" dirty="0"/>
          </a:p>
        </p:txBody>
      </p:sp>
      <p:sp>
        <p:nvSpPr>
          <p:cNvPr id="16" name="Text 14"/>
          <p:cNvSpPr/>
          <p:nvPr/>
        </p:nvSpPr>
        <p:spPr>
          <a:xfrm>
            <a:off x="8503920" y="3017520"/>
            <a:ext cx="3054096" cy="1280160"/>
          </a:xfrm>
          <a:prstGeom prst="rect">
            <a:avLst/>
          </a:prstGeom>
          <a:noFill/>
          <a:ln/>
        </p:spPr>
        <p:txBody>
          <a:bodyPr wrap="square" lIns="0" tIns="0" rIns="0" bIns="0" rtlCol="0" anchor="t"/>
          <a:lstStyle/>
          <a:p>
            <a:pPr indent="0" marL="0">
              <a:lnSpc>
                <a:spcPts val="1400"/>
              </a:lnSpc>
              <a:buNone/>
            </a:pPr>
            <a:r>
              <a:rPr lang="en-US" sz="1050" dirty="0">
                <a:solidFill>
                  <a:srgbClr val="5C6B6A"/>
                </a:solidFill>
                <a:latin typeface="Calibri" pitchFamily="34" charset="0"/>
                <a:ea typeface="Calibri" pitchFamily="34" charset="-122"/>
                <a:cs typeface="Calibri" pitchFamily="34" charset="-120"/>
              </a:rPr>
              <a:t>Roughly 100 GST returns a month today, with a target of 500 within six months and no additional headcount. Every process below is designed against that specific constraint, not a generic industry benchmark.</a:t>
            </a:r>
            <a:endParaRPr lang="en-US" sz="1050" dirty="0"/>
          </a:p>
        </p:txBody>
      </p:sp>
      <p:sp>
        <p:nvSpPr>
          <p:cNvPr id="17" name="Shape 15"/>
          <p:cNvSpPr/>
          <p:nvPr/>
        </p:nvSpPr>
        <p:spPr>
          <a:xfrm>
            <a:off x="566928" y="4553712"/>
            <a:ext cx="11064240" cy="1225296"/>
          </a:xfrm>
          <a:prstGeom prst="roundRect">
            <a:avLst>
              <a:gd name="adj" fmla="val 5224"/>
            </a:avLst>
          </a:prstGeom>
          <a:solidFill>
            <a:srgbClr val="F3E7CE"/>
          </a:solidFill>
          <a:ln w="12700">
            <a:solidFill>
              <a:srgbClr val="F3E7CE"/>
            </a:solidFill>
            <a:prstDash val="solid"/>
          </a:ln>
        </p:spPr>
      </p:sp>
      <p:sp>
        <p:nvSpPr>
          <p:cNvPr id="18" name="Text 16"/>
          <p:cNvSpPr/>
          <p:nvPr/>
        </p:nvSpPr>
        <p:spPr>
          <a:xfrm>
            <a:off x="768096" y="4636008"/>
            <a:ext cx="1066190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THE REAL BOTTLENECK</a:t>
            </a:r>
            <a:endParaRPr lang="en-US" sz="900" dirty="0"/>
          </a:p>
        </p:txBody>
      </p:sp>
      <p:sp>
        <p:nvSpPr>
          <p:cNvPr id="19" name="Text 17"/>
          <p:cNvSpPr/>
          <p:nvPr/>
        </p:nvSpPr>
        <p:spPr>
          <a:xfrm>
            <a:off x="768096" y="4846320"/>
            <a:ext cx="10661904" cy="822960"/>
          </a:xfrm>
          <a:prstGeom prst="rect">
            <a:avLst/>
          </a:prstGeom>
          <a:noFill/>
          <a:ln/>
        </p:spPr>
        <p:txBody>
          <a:bodyPr wrap="square" lIns="0" tIns="0" rIns="0" bIns="0" rtlCol="0" anchor="t"/>
          <a:lstStyle/>
          <a:p>
            <a:pPr indent="0" marL="0">
              <a:lnSpc>
                <a:spcPts val="1408"/>
              </a:lnSpc>
              <a:buNone/>
            </a:pPr>
            <a:r>
              <a:rPr lang="en-US" sz="1100" dirty="0">
                <a:solidFill>
                  <a:srgbClr val="0F3D3E"/>
                </a:solidFill>
                <a:latin typeface="Calibri" pitchFamily="34" charset="0"/>
                <a:ea typeface="Calibri" pitchFamily="34" charset="-122"/>
                <a:cs typeface="Calibri" pitchFamily="34" charset="-120"/>
              </a:rPr>
              <a:t>Discovery found the constraint was not technology resistance — it was inconsistent follow-through on process. CAOS is built to enforce that discipline structurally, rather than depend on everyone remembering to check the task sheet at 10am every day. This document walks through each part in detail — what it does, how the process flows, and exactly where a human stays in control — so the practice can see precisely how the system will work before it is built, not just what it is meant to achieve.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PART 2 · THE CASE</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Why this matters — in numbers</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Using the practice's own numbers as the baseline, not generic industry estimates.</a:t>
            </a:r>
            <a:endParaRPr lang="en-US" sz="1300" dirty="0"/>
          </a:p>
        </p:txBody>
      </p:sp>
      <p:sp>
        <p:nvSpPr>
          <p:cNvPr id="5" name="Shape 3"/>
          <p:cNvSpPr/>
          <p:nvPr/>
        </p:nvSpPr>
        <p:spPr>
          <a:xfrm>
            <a:off x="566928" y="1700784"/>
            <a:ext cx="3200400" cy="3602736"/>
          </a:xfrm>
          <a:prstGeom prst="roundRect">
            <a:avLst>
              <a:gd name="adj" fmla="val 2000"/>
            </a:avLst>
          </a:prstGeom>
          <a:solidFill>
            <a:srgbClr val="0F3D3E"/>
          </a:solidFill>
          <a:ln w="12700">
            <a:solidFill>
              <a:srgbClr val="0F3D3E"/>
            </a:solidFill>
            <a:prstDash val="solid"/>
          </a:ln>
        </p:spPr>
      </p:sp>
      <p:sp>
        <p:nvSpPr>
          <p:cNvPr id="6" name="Text 4"/>
          <p:cNvSpPr/>
          <p:nvPr/>
        </p:nvSpPr>
        <p:spPr>
          <a:xfrm>
            <a:off x="841248" y="1920240"/>
            <a:ext cx="2651760" cy="219456"/>
          </a:xfrm>
          <a:prstGeom prst="rect">
            <a:avLst/>
          </a:prstGeom>
          <a:noFill/>
          <a:ln/>
        </p:spPr>
        <p:txBody>
          <a:bodyPr wrap="square" lIns="0" tIns="0" rIns="0" bIns="0" rtlCol="0" anchor="ctr"/>
          <a:lstStyle/>
          <a:p>
            <a:pPr indent="0" marL="0">
              <a:buNone/>
            </a:pPr>
            <a:r>
              <a:rPr lang="en-US" sz="900" b="1" spc="140" kern="0" dirty="0">
                <a:solidFill>
                  <a:srgbClr val="C08428"/>
                </a:solidFill>
                <a:latin typeface="Calibri" pitchFamily="34" charset="0"/>
                <a:ea typeface="Calibri" pitchFamily="34" charset="-122"/>
                <a:cs typeface="Calibri" pitchFamily="34" charset="-120"/>
              </a:rPr>
              <a:t>TODAY</a:t>
            </a:r>
            <a:endParaRPr lang="en-US" sz="900" dirty="0"/>
          </a:p>
        </p:txBody>
      </p:sp>
      <p:sp>
        <p:nvSpPr>
          <p:cNvPr id="7" name="Text 5"/>
          <p:cNvSpPr/>
          <p:nvPr/>
        </p:nvSpPr>
        <p:spPr>
          <a:xfrm>
            <a:off x="841248" y="2139696"/>
            <a:ext cx="2651760" cy="822960"/>
          </a:xfrm>
          <a:prstGeom prst="rect">
            <a:avLst/>
          </a:prstGeom>
          <a:noFill/>
          <a:ln/>
        </p:spPr>
        <p:txBody>
          <a:bodyPr wrap="square" lIns="0" tIns="0" rIns="0" bIns="0" rtlCol="0" anchor="ctr"/>
          <a:lstStyle/>
          <a:p>
            <a:pPr indent="0" marL="0">
              <a:buNone/>
            </a:pPr>
            <a:r>
              <a:rPr lang="en-US" sz="6200" b="1" dirty="0">
                <a:solidFill>
                  <a:srgbClr val="FFFFFF"/>
                </a:solidFill>
                <a:latin typeface="Cambria" pitchFamily="34" charset="0"/>
                <a:ea typeface="Cambria" pitchFamily="34" charset="-122"/>
                <a:cs typeface="Cambria" pitchFamily="34" charset="-120"/>
              </a:rPr>
              <a:t>100</a:t>
            </a:r>
            <a:endParaRPr lang="en-US" sz="6200" dirty="0"/>
          </a:p>
        </p:txBody>
      </p:sp>
      <p:sp>
        <p:nvSpPr>
          <p:cNvPr id="8" name="Text 6"/>
          <p:cNvSpPr/>
          <p:nvPr/>
        </p:nvSpPr>
        <p:spPr>
          <a:xfrm>
            <a:off x="841248" y="2962656"/>
            <a:ext cx="2651760" cy="274320"/>
          </a:xfrm>
          <a:prstGeom prst="rect">
            <a:avLst/>
          </a:prstGeom>
          <a:noFill/>
          <a:ln/>
        </p:spPr>
        <p:txBody>
          <a:bodyPr wrap="square" lIns="0" tIns="0" rIns="0" bIns="0" rtlCol="0" anchor="ctr"/>
          <a:lstStyle/>
          <a:p>
            <a:pPr indent="0" marL="0">
              <a:buNone/>
            </a:pPr>
            <a:r>
              <a:rPr lang="en-US" sz="1100" dirty="0">
                <a:solidFill>
                  <a:srgbClr val="AFC7C6"/>
                </a:solidFill>
                <a:latin typeface="Calibri" pitchFamily="34" charset="0"/>
                <a:ea typeface="Calibri" pitchFamily="34" charset="-122"/>
                <a:cs typeface="Calibri" pitchFamily="34" charset="-120"/>
              </a:rPr>
              <a:t>GST returns per month</a:t>
            </a:r>
            <a:endParaRPr lang="en-US" sz="1100" dirty="0"/>
          </a:p>
        </p:txBody>
      </p:sp>
      <p:sp>
        <p:nvSpPr>
          <p:cNvPr id="9" name="Shape 7"/>
          <p:cNvSpPr/>
          <p:nvPr/>
        </p:nvSpPr>
        <p:spPr>
          <a:xfrm>
            <a:off x="2167128" y="3346704"/>
            <a:ext cx="0" cy="365760"/>
          </a:xfrm>
          <a:prstGeom prst="line">
            <a:avLst/>
          </a:prstGeom>
          <a:noFill/>
          <a:ln w="15875">
            <a:solidFill>
              <a:srgbClr val="C08428"/>
            </a:solidFill>
            <a:prstDash val="solid"/>
            <a:tailEnd type="triangle"/>
          </a:ln>
        </p:spPr>
      </p:sp>
      <p:sp>
        <p:nvSpPr>
          <p:cNvPr id="10" name="Text 8"/>
          <p:cNvSpPr/>
          <p:nvPr/>
        </p:nvSpPr>
        <p:spPr>
          <a:xfrm>
            <a:off x="841248" y="3785616"/>
            <a:ext cx="2651760" cy="219456"/>
          </a:xfrm>
          <a:prstGeom prst="rect">
            <a:avLst/>
          </a:prstGeom>
          <a:noFill/>
          <a:ln/>
        </p:spPr>
        <p:txBody>
          <a:bodyPr wrap="square" lIns="0" tIns="0" rIns="0" bIns="0" rtlCol="0" anchor="ctr"/>
          <a:lstStyle/>
          <a:p>
            <a:pPr indent="0" marL="0">
              <a:buNone/>
            </a:pPr>
            <a:r>
              <a:rPr lang="en-US" sz="900" b="1" spc="140" kern="0" dirty="0">
                <a:solidFill>
                  <a:srgbClr val="C08428"/>
                </a:solidFill>
                <a:latin typeface="Calibri" pitchFamily="34" charset="0"/>
                <a:ea typeface="Calibri" pitchFamily="34" charset="-122"/>
                <a:cs typeface="Calibri" pitchFamily="34" charset="-120"/>
              </a:rPr>
              <a:t>TARGET — 6 MONTHS</a:t>
            </a:r>
            <a:endParaRPr lang="en-US" sz="900" dirty="0"/>
          </a:p>
        </p:txBody>
      </p:sp>
      <p:sp>
        <p:nvSpPr>
          <p:cNvPr id="11" name="Text 9"/>
          <p:cNvSpPr/>
          <p:nvPr/>
        </p:nvSpPr>
        <p:spPr>
          <a:xfrm>
            <a:off x="841248" y="4005072"/>
            <a:ext cx="2651760" cy="822960"/>
          </a:xfrm>
          <a:prstGeom prst="rect">
            <a:avLst/>
          </a:prstGeom>
          <a:noFill/>
          <a:ln/>
        </p:spPr>
        <p:txBody>
          <a:bodyPr wrap="square" lIns="0" tIns="0" rIns="0" bIns="0" rtlCol="0" anchor="ctr"/>
          <a:lstStyle/>
          <a:p>
            <a:pPr indent="0" marL="0">
              <a:buNone/>
            </a:pPr>
            <a:r>
              <a:rPr lang="en-US" sz="6200" b="1" dirty="0">
                <a:solidFill>
                  <a:srgbClr val="C08428"/>
                </a:solidFill>
                <a:latin typeface="Cambria" pitchFamily="34" charset="0"/>
                <a:ea typeface="Cambria" pitchFamily="34" charset="-122"/>
                <a:cs typeface="Cambria" pitchFamily="34" charset="-120"/>
              </a:rPr>
              <a:t>500</a:t>
            </a:r>
            <a:endParaRPr lang="en-US" sz="6200" dirty="0"/>
          </a:p>
        </p:txBody>
      </p:sp>
      <p:sp>
        <p:nvSpPr>
          <p:cNvPr id="12" name="Text 10"/>
          <p:cNvSpPr/>
          <p:nvPr/>
        </p:nvSpPr>
        <p:spPr>
          <a:xfrm>
            <a:off x="841248" y="4828032"/>
            <a:ext cx="2651760" cy="274320"/>
          </a:xfrm>
          <a:prstGeom prst="rect">
            <a:avLst/>
          </a:prstGeom>
          <a:noFill/>
          <a:ln/>
        </p:spPr>
        <p:txBody>
          <a:bodyPr wrap="square" lIns="0" tIns="0" rIns="0" bIns="0" rtlCol="0" anchor="ctr"/>
          <a:lstStyle/>
          <a:p>
            <a:pPr indent="0" marL="0">
              <a:buNone/>
            </a:pPr>
            <a:r>
              <a:rPr lang="en-US" sz="1100" dirty="0">
                <a:solidFill>
                  <a:srgbClr val="AFC7C6"/>
                </a:solidFill>
                <a:latin typeface="Calibri" pitchFamily="34" charset="0"/>
                <a:ea typeface="Calibri" pitchFamily="34" charset="-122"/>
                <a:cs typeface="Calibri" pitchFamily="34" charset="-120"/>
              </a:rPr>
              <a:t>with the same 10-person team</a:t>
            </a:r>
            <a:endParaRPr lang="en-US" sz="1100" dirty="0"/>
          </a:p>
        </p:txBody>
      </p:sp>
      <p:sp>
        <p:nvSpPr>
          <p:cNvPr id="13" name="Text 11"/>
          <p:cNvSpPr/>
          <p:nvPr/>
        </p:nvSpPr>
        <p:spPr>
          <a:xfrm>
            <a:off x="4041648" y="1700784"/>
            <a:ext cx="2651760" cy="201168"/>
          </a:xfrm>
          <a:prstGeom prst="rect">
            <a:avLst/>
          </a:prstGeom>
          <a:noFill/>
          <a:ln/>
        </p:spPr>
        <p:txBody>
          <a:bodyPr wrap="square" lIns="0" tIns="0" rIns="0" bIns="0" rtlCol="0" anchor="ctr"/>
          <a:lstStyle/>
          <a:p>
            <a:pPr indent="0" marL="0">
              <a:buNone/>
            </a:pPr>
            <a:r>
              <a:rPr lang="en-US" sz="850" b="1" spc="120" kern="0" dirty="0">
                <a:solidFill>
                  <a:srgbClr val="8FA09E"/>
                </a:solidFill>
                <a:latin typeface="Calibri" pitchFamily="34" charset="0"/>
                <a:ea typeface="Calibri" pitchFamily="34" charset="-122"/>
                <a:cs typeface="Calibri" pitchFamily="34" charset="-120"/>
              </a:rPr>
              <a:t>AREA</a:t>
            </a:r>
            <a:endParaRPr lang="en-US" sz="850" dirty="0"/>
          </a:p>
        </p:txBody>
      </p:sp>
      <p:sp>
        <p:nvSpPr>
          <p:cNvPr id="14" name="Text 12"/>
          <p:cNvSpPr/>
          <p:nvPr/>
        </p:nvSpPr>
        <p:spPr>
          <a:xfrm>
            <a:off x="6784848" y="1700784"/>
            <a:ext cx="2286000" cy="201168"/>
          </a:xfrm>
          <a:prstGeom prst="rect">
            <a:avLst/>
          </a:prstGeom>
          <a:noFill/>
          <a:ln/>
        </p:spPr>
        <p:txBody>
          <a:bodyPr wrap="square" lIns="0" tIns="0" rIns="0" bIns="0" rtlCol="0" anchor="ctr"/>
          <a:lstStyle/>
          <a:p>
            <a:pPr indent="0" marL="0">
              <a:buNone/>
            </a:pPr>
            <a:r>
              <a:rPr lang="en-US" sz="850" b="1" spc="120" kern="0" dirty="0">
                <a:solidFill>
                  <a:srgbClr val="8FA09E"/>
                </a:solidFill>
                <a:latin typeface="Calibri" pitchFamily="34" charset="0"/>
                <a:ea typeface="Calibri" pitchFamily="34" charset="-122"/>
                <a:cs typeface="Calibri" pitchFamily="34" charset="-120"/>
              </a:rPr>
              <a:t>TYPICAL TIME TODAY</a:t>
            </a:r>
            <a:endParaRPr lang="en-US" sz="850" dirty="0"/>
          </a:p>
        </p:txBody>
      </p:sp>
      <p:sp>
        <p:nvSpPr>
          <p:cNvPr id="15" name="Text 13"/>
          <p:cNvSpPr/>
          <p:nvPr/>
        </p:nvSpPr>
        <p:spPr>
          <a:xfrm>
            <a:off x="9253728" y="1700784"/>
            <a:ext cx="2377440" cy="201168"/>
          </a:xfrm>
          <a:prstGeom prst="rect">
            <a:avLst/>
          </a:prstGeom>
          <a:noFill/>
          <a:ln/>
        </p:spPr>
        <p:txBody>
          <a:bodyPr wrap="square" lIns="0" tIns="0" rIns="0" bIns="0" rtlCol="0" anchor="ctr"/>
          <a:lstStyle/>
          <a:p>
            <a:pPr indent="0" marL="0">
              <a:buNone/>
            </a:pPr>
            <a:r>
              <a:rPr lang="en-US" sz="850" b="1" spc="120" kern="0" dirty="0">
                <a:solidFill>
                  <a:srgbClr val="8FA09E"/>
                </a:solidFill>
                <a:latin typeface="Calibri" pitchFamily="34" charset="0"/>
                <a:ea typeface="Calibri" pitchFamily="34" charset="-122"/>
                <a:cs typeface="Calibri" pitchFamily="34" charset="-120"/>
              </a:rPr>
              <a:t>REALISTIC AUTOMATED TIME</a:t>
            </a:r>
            <a:endParaRPr lang="en-US" sz="850" dirty="0"/>
          </a:p>
        </p:txBody>
      </p:sp>
      <p:sp>
        <p:nvSpPr>
          <p:cNvPr id="16" name="Shape 14"/>
          <p:cNvSpPr/>
          <p:nvPr/>
        </p:nvSpPr>
        <p:spPr>
          <a:xfrm>
            <a:off x="4041648" y="1975104"/>
            <a:ext cx="7589520" cy="603504"/>
          </a:xfrm>
          <a:prstGeom prst="roundRect">
            <a:avLst>
              <a:gd name="adj" fmla="val 10606"/>
            </a:avLst>
          </a:prstGeom>
          <a:solidFill>
            <a:srgbClr val="EFF4F3"/>
          </a:solidFill>
          <a:ln w="12700">
            <a:solidFill>
              <a:srgbClr val="EFF4F3"/>
            </a:solidFill>
            <a:prstDash val="solid"/>
          </a:ln>
        </p:spPr>
      </p:sp>
      <p:sp>
        <p:nvSpPr>
          <p:cNvPr id="17" name="Text 15"/>
          <p:cNvSpPr/>
          <p:nvPr/>
        </p:nvSpPr>
        <p:spPr>
          <a:xfrm>
            <a:off x="4224528" y="1975104"/>
            <a:ext cx="2560320" cy="603504"/>
          </a:xfrm>
          <a:prstGeom prst="rect">
            <a:avLst/>
          </a:prstGeom>
          <a:noFill/>
          <a:ln/>
        </p:spPr>
        <p:txBody>
          <a:bodyPr wrap="square" lIns="0" tIns="0" rIns="0" bIns="0" rtlCol="0" anchor="ctr"/>
          <a:lstStyle/>
          <a:p>
            <a:pPr indent="0" marL="0">
              <a:lnSpc>
                <a:spcPts val="1300"/>
              </a:lnSpc>
              <a:buNone/>
            </a:pPr>
            <a:r>
              <a:rPr lang="en-US" sz="1050" b="1" dirty="0">
                <a:solidFill>
                  <a:srgbClr val="0F3D3E"/>
                </a:solidFill>
                <a:latin typeface="Calibri" pitchFamily="34" charset="0"/>
                <a:ea typeface="Calibri" pitchFamily="34" charset="-122"/>
                <a:cs typeface="Calibri" pitchFamily="34" charset="-120"/>
              </a:rPr>
              <a:t>GSTR-2A/2B reconciliation</a:t>
            </a:r>
            <a:endParaRPr lang="en-US" sz="1050" dirty="0"/>
          </a:p>
        </p:txBody>
      </p:sp>
      <p:sp>
        <p:nvSpPr>
          <p:cNvPr id="18" name="Text 16"/>
          <p:cNvSpPr/>
          <p:nvPr/>
        </p:nvSpPr>
        <p:spPr>
          <a:xfrm>
            <a:off x="6784848" y="1975104"/>
            <a:ext cx="2286000" cy="603504"/>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1–2 hrs per client, per month</a:t>
            </a:r>
            <a:endParaRPr lang="en-US" sz="1000" dirty="0"/>
          </a:p>
        </p:txBody>
      </p:sp>
      <p:sp>
        <p:nvSpPr>
          <p:cNvPr id="19" name="Shape 17"/>
          <p:cNvSpPr/>
          <p:nvPr/>
        </p:nvSpPr>
        <p:spPr>
          <a:xfrm>
            <a:off x="9089136" y="2276856"/>
            <a:ext cx="146304" cy="0"/>
          </a:xfrm>
          <a:prstGeom prst="line">
            <a:avLst/>
          </a:prstGeom>
          <a:noFill/>
          <a:ln w="15875">
            <a:solidFill>
              <a:srgbClr val="C08428"/>
            </a:solidFill>
            <a:prstDash val="solid"/>
            <a:tailEnd type="triangle"/>
          </a:ln>
        </p:spPr>
      </p:sp>
      <p:sp>
        <p:nvSpPr>
          <p:cNvPr id="20" name="Shape 18"/>
          <p:cNvSpPr/>
          <p:nvPr/>
        </p:nvSpPr>
        <p:spPr>
          <a:xfrm>
            <a:off x="9217152" y="2002536"/>
            <a:ext cx="2414016" cy="548640"/>
          </a:xfrm>
          <a:prstGeom prst="roundRect">
            <a:avLst>
              <a:gd name="adj" fmla="val 11667"/>
            </a:avLst>
          </a:prstGeom>
          <a:solidFill>
            <a:srgbClr val="E2ECEA"/>
          </a:solidFill>
          <a:ln w="12700">
            <a:solidFill>
              <a:srgbClr val="E2ECEA"/>
            </a:solidFill>
            <a:prstDash val="solid"/>
          </a:ln>
        </p:spPr>
      </p:sp>
      <p:sp>
        <p:nvSpPr>
          <p:cNvPr id="21" name="Text 19"/>
          <p:cNvSpPr/>
          <p:nvPr/>
        </p:nvSpPr>
        <p:spPr>
          <a:xfrm>
            <a:off x="9363456" y="2002536"/>
            <a:ext cx="2121408" cy="548640"/>
          </a:xfrm>
          <a:prstGeom prst="rect">
            <a:avLst/>
          </a:prstGeom>
          <a:noFill/>
          <a:ln/>
        </p:spPr>
        <p:txBody>
          <a:bodyPr wrap="square" lIns="0" tIns="0" rIns="0" bIns="0" rtlCol="0" anchor="ctr"/>
          <a:lstStyle/>
          <a:p>
            <a:pPr indent="0" marL="0">
              <a:lnSpc>
                <a:spcPts val="1300"/>
              </a:lnSpc>
              <a:buNone/>
            </a:pPr>
            <a:r>
              <a:rPr lang="en-US" sz="1000" b="1" dirty="0">
                <a:solidFill>
                  <a:srgbClr val="0F3D3E"/>
                </a:solidFill>
                <a:latin typeface="Calibri" pitchFamily="34" charset="0"/>
                <a:ea typeface="Calibri" pitchFamily="34" charset="-122"/>
                <a:cs typeface="Calibri" pitchFamily="34" charset="-120"/>
              </a:rPr>
              <a:t>Minutes — review only</a:t>
            </a:r>
            <a:endParaRPr lang="en-US" sz="1000" dirty="0"/>
          </a:p>
        </p:txBody>
      </p:sp>
      <p:sp>
        <p:nvSpPr>
          <p:cNvPr id="22" name="Shape 20"/>
          <p:cNvSpPr/>
          <p:nvPr/>
        </p:nvSpPr>
        <p:spPr>
          <a:xfrm>
            <a:off x="4041648" y="2670048"/>
            <a:ext cx="7589520" cy="603504"/>
          </a:xfrm>
          <a:prstGeom prst="roundRect">
            <a:avLst>
              <a:gd name="adj" fmla="val 10606"/>
            </a:avLst>
          </a:prstGeom>
          <a:solidFill>
            <a:srgbClr val="EFF4F3"/>
          </a:solidFill>
          <a:ln w="12700">
            <a:solidFill>
              <a:srgbClr val="EFF4F3"/>
            </a:solidFill>
            <a:prstDash val="solid"/>
          </a:ln>
        </p:spPr>
      </p:sp>
      <p:sp>
        <p:nvSpPr>
          <p:cNvPr id="23" name="Text 21"/>
          <p:cNvSpPr/>
          <p:nvPr/>
        </p:nvSpPr>
        <p:spPr>
          <a:xfrm>
            <a:off x="4224528" y="2670048"/>
            <a:ext cx="2560320" cy="603504"/>
          </a:xfrm>
          <a:prstGeom prst="rect">
            <a:avLst/>
          </a:prstGeom>
          <a:noFill/>
          <a:ln/>
        </p:spPr>
        <p:txBody>
          <a:bodyPr wrap="square" lIns="0" tIns="0" rIns="0" bIns="0" rtlCol="0" anchor="ctr"/>
          <a:lstStyle/>
          <a:p>
            <a:pPr indent="0" marL="0">
              <a:lnSpc>
                <a:spcPts val="1300"/>
              </a:lnSpc>
              <a:buNone/>
            </a:pPr>
            <a:r>
              <a:rPr lang="en-US" sz="1050" b="1" dirty="0">
                <a:solidFill>
                  <a:srgbClr val="0F3D3E"/>
                </a:solidFill>
                <a:latin typeface="Calibri" pitchFamily="34" charset="0"/>
                <a:ea typeface="Calibri" pitchFamily="34" charset="-122"/>
                <a:cs typeface="Calibri" pitchFamily="34" charset="-120"/>
              </a:rPr>
              <a:t>Bookkeeping / voucher entry</a:t>
            </a:r>
            <a:endParaRPr lang="en-US" sz="1050" dirty="0"/>
          </a:p>
        </p:txBody>
      </p:sp>
      <p:sp>
        <p:nvSpPr>
          <p:cNvPr id="24" name="Text 22"/>
          <p:cNvSpPr/>
          <p:nvPr/>
        </p:nvSpPr>
        <p:spPr>
          <a:xfrm>
            <a:off x="6784848" y="2670048"/>
            <a:ext cx="2286000" cy="603504"/>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The largest manual labour pool today</a:t>
            </a:r>
            <a:endParaRPr lang="en-US" sz="1000" dirty="0"/>
          </a:p>
        </p:txBody>
      </p:sp>
      <p:sp>
        <p:nvSpPr>
          <p:cNvPr id="25" name="Shape 23"/>
          <p:cNvSpPr/>
          <p:nvPr/>
        </p:nvSpPr>
        <p:spPr>
          <a:xfrm>
            <a:off x="9089136" y="2971800"/>
            <a:ext cx="146304" cy="0"/>
          </a:xfrm>
          <a:prstGeom prst="line">
            <a:avLst/>
          </a:prstGeom>
          <a:noFill/>
          <a:ln w="15875">
            <a:solidFill>
              <a:srgbClr val="C08428"/>
            </a:solidFill>
            <a:prstDash val="solid"/>
            <a:tailEnd type="triangle"/>
          </a:ln>
        </p:spPr>
      </p:sp>
      <p:sp>
        <p:nvSpPr>
          <p:cNvPr id="26" name="Shape 24"/>
          <p:cNvSpPr/>
          <p:nvPr/>
        </p:nvSpPr>
        <p:spPr>
          <a:xfrm>
            <a:off x="9217152" y="2697480"/>
            <a:ext cx="2414016" cy="548640"/>
          </a:xfrm>
          <a:prstGeom prst="roundRect">
            <a:avLst>
              <a:gd name="adj" fmla="val 11667"/>
            </a:avLst>
          </a:prstGeom>
          <a:solidFill>
            <a:srgbClr val="E2ECEA"/>
          </a:solidFill>
          <a:ln w="12700">
            <a:solidFill>
              <a:srgbClr val="E2ECEA"/>
            </a:solidFill>
            <a:prstDash val="solid"/>
          </a:ln>
        </p:spPr>
      </p:sp>
      <p:sp>
        <p:nvSpPr>
          <p:cNvPr id="27" name="Text 25"/>
          <p:cNvSpPr/>
          <p:nvPr/>
        </p:nvSpPr>
        <p:spPr>
          <a:xfrm>
            <a:off x="9363456" y="2697480"/>
            <a:ext cx="2121408" cy="548640"/>
          </a:xfrm>
          <a:prstGeom prst="rect">
            <a:avLst/>
          </a:prstGeom>
          <a:noFill/>
          <a:ln/>
        </p:spPr>
        <p:txBody>
          <a:bodyPr wrap="square" lIns="0" tIns="0" rIns="0" bIns="0" rtlCol="0" anchor="ctr"/>
          <a:lstStyle/>
          <a:p>
            <a:pPr indent="0" marL="0">
              <a:lnSpc>
                <a:spcPts val="1300"/>
              </a:lnSpc>
              <a:buNone/>
            </a:pPr>
            <a:r>
              <a:rPr lang="en-US" sz="1000" b="1" dirty="0">
                <a:solidFill>
                  <a:srgbClr val="0F3D3E"/>
                </a:solidFill>
                <a:latin typeface="Calibri" pitchFamily="34" charset="0"/>
                <a:ea typeface="Calibri" pitchFamily="34" charset="-122"/>
                <a:cs typeface="Calibri" pitchFamily="34" charset="-120"/>
              </a:rPr>
              <a:t>Review only, exceptions flagged</a:t>
            </a:r>
            <a:endParaRPr lang="en-US" sz="1000" dirty="0"/>
          </a:p>
        </p:txBody>
      </p:sp>
      <p:sp>
        <p:nvSpPr>
          <p:cNvPr id="28" name="Shape 26"/>
          <p:cNvSpPr/>
          <p:nvPr/>
        </p:nvSpPr>
        <p:spPr>
          <a:xfrm>
            <a:off x="4041648" y="3364992"/>
            <a:ext cx="7589520" cy="603504"/>
          </a:xfrm>
          <a:prstGeom prst="roundRect">
            <a:avLst>
              <a:gd name="adj" fmla="val 10606"/>
            </a:avLst>
          </a:prstGeom>
          <a:solidFill>
            <a:srgbClr val="EFF4F3"/>
          </a:solidFill>
          <a:ln w="12700">
            <a:solidFill>
              <a:srgbClr val="EFF4F3"/>
            </a:solidFill>
            <a:prstDash val="solid"/>
          </a:ln>
        </p:spPr>
      </p:sp>
      <p:sp>
        <p:nvSpPr>
          <p:cNvPr id="29" name="Text 27"/>
          <p:cNvSpPr/>
          <p:nvPr/>
        </p:nvSpPr>
        <p:spPr>
          <a:xfrm>
            <a:off x="4224528" y="3364992"/>
            <a:ext cx="2560320" cy="603504"/>
          </a:xfrm>
          <a:prstGeom prst="rect">
            <a:avLst/>
          </a:prstGeom>
          <a:noFill/>
          <a:ln/>
        </p:spPr>
        <p:txBody>
          <a:bodyPr wrap="square" lIns="0" tIns="0" rIns="0" bIns="0" rtlCol="0" anchor="ctr"/>
          <a:lstStyle/>
          <a:p>
            <a:pPr indent="0" marL="0">
              <a:lnSpc>
                <a:spcPts val="1300"/>
              </a:lnSpc>
              <a:buNone/>
            </a:pPr>
            <a:r>
              <a:rPr lang="en-US" sz="1050" b="1" dirty="0">
                <a:solidFill>
                  <a:srgbClr val="0F3D3E"/>
                </a:solidFill>
                <a:latin typeface="Calibri" pitchFamily="34" charset="0"/>
                <a:ea typeface="Calibri" pitchFamily="34" charset="-122"/>
                <a:cs typeface="Calibri" pitchFamily="34" charset="-120"/>
              </a:rPr>
              <a:t>Document chasing &amp; collection</a:t>
            </a:r>
            <a:endParaRPr lang="en-US" sz="1050" dirty="0"/>
          </a:p>
        </p:txBody>
      </p:sp>
      <p:sp>
        <p:nvSpPr>
          <p:cNvPr id="30" name="Text 28"/>
          <p:cNvSpPr/>
          <p:nvPr/>
        </p:nvSpPr>
        <p:spPr>
          <a:xfrm>
            <a:off x="6784848" y="3364992"/>
            <a:ext cx="2286000" cy="603504"/>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A daily, unbilled time sink</a:t>
            </a:r>
            <a:endParaRPr lang="en-US" sz="1000" dirty="0"/>
          </a:p>
        </p:txBody>
      </p:sp>
      <p:sp>
        <p:nvSpPr>
          <p:cNvPr id="31" name="Shape 29"/>
          <p:cNvSpPr/>
          <p:nvPr/>
        </p:nvSpPr>
        <p:spPr>
          <a:xfrm>
            <a:off x="9089136" y="3666744"/>
            <a:ext cx="146304" cy="0"/>
          </a:xfrm>
          <a:prstGeom prst="line">
            <a:avLst/>
          </a:prstGeom>
          <a:noFill/>
          <a:ln w="15875">
            <a:solidFill>
              <a:srgbClr val="C08428"/>
            </a:solidFill>
            <a:prstDash val="solid"/>
            <a:tailEnd type="triangle"/>
          </a:ln>
        </p:spPr>
      </p:sp>
      <p:sp>
        <p:nvSpPr>
          <p:cNvPr id="32" name="Shape 30"/>
          <p:cNvSpPr/>
          <p:nvPr/>
        </p:nvSpPr>
        <p:spPr>
          <a:xfrm>
            <a:off x="9217152" y="3392424"/>
            <a:ext cx="2414016" cy="548640"/>
          </a:xfrm>
          <a:prstGeom prst="roundRect">
            <a:avLst>
              <a:gd name="adj" fmla="val 11667"/>
            </a:avLst>
          </a:prstGeom>
          <a:solidFill>
            <a:srgbClr val="E2ECEA"/>
          </a:solidFill>
          <a:ln w="12700">
            <a:solidFill>
              <a:srgbClr val="E2ECEA"/>
            </a:solidFill>
            <a:prstDash val="solid"/>
          </a:ln>
        </p:spPr>
      </p:sp>
      <p:sp>
        <p:nvSpPr>
          <p:cNvPr id="33" name="Text 31"/>
          <p:cNvSpPr/>
          <p:nvPr/>
        </p:nvSpPr>
        <p:spPr>
          <a:xfrm>
            <a:off x="9363456" y="3392424"/>
            <a:ext cx="2121408" cy="548640"/>
          </a:xfrm>
          <a:prstGeom prst="rect">
            <a:avLst/>
          </a:prstGeom>
          <a:noFill/>
          <a:ln/>
        </p:spPr>
        <p:txBody>
          <a:bodyPr wrap="square" lIns="0" tIns="0" rIns="0" bIns="0" rtlCol="0" anchor="ctr"/>
          <a:lstStyle/>
          <a:p>
            <a:pPr indent="0" marL="0">
              <a:lnSpc>
                <a:spcPts val="1300"/>
              </a:lnSpc>
              <a:buNone/>
            </a:pPr>
            <a:r>
              <a:rPr lang="en-US" sz="1000" b="1" dirty="0">
                <a:solidFill>
                  <a:srgbClr val="0F3D3E"/>
                </a:solidFill>
                <a:latin typeface="Calibri" pitchFamily="34" charset="0"/>
                <a:ea typeface="Calibri" pitchFamily="34" charset="-122"/>
                <a:cs typeface="Calibri" pitchFamily="34" charset="-120"/>
              </a:rPr>
              <a:t>Near-zero — auto-filed and tracked</a:t>
            </a:r>
            <a:endParaRPr lang="en-US" sz="1000" dirty="0"/>
          </a:p>
        </p:txBody>
      </p:sp>
      <p:sp>
        <p:nvSpPr>
          <p:cNvPr id="34" name="Shape 32"/>
          <p:cNvSpPr/>
          <p:nvPr/>
        </p:nvSpPr>
        <p:spPr>
          <a:xfrm>
            <a:off x="4041648" y="4059936"/>
            <a:ext cx="7589520" cy="603504"/>
          </a:xfrm>
          <a:prstGeom prst="roundRect">
            <a:avLst>
              <a:gd name="adj" fmla="val 10606"/>
            </a:avLst>
          </a:prstGeom>
          <a:solidFill>
            <a:srgbClr val="EFF4F3"/>
          </a:solidFill>
          <a:ln w="12700">
            <a:solidFill>
              <a:srgbClr val="EFF4F3"/>
            </a:solidFill>
            <a:prstDash val="solid"/>
          </a:ln>
        </p:spPr>
      </p:sp>
      <p:sp>
        <p:nvSpPr>
          <p:cNvPr id="35" name="Text 33"/>
          <p:cNvSpPr/>
          <p:nvPr/>
        </p:nvSpPr>
        <p:spPr>
          <a:xfrm>
            <a:off x="4224528" y="4059936"/>
            <a:ext cx="2560320" cy="603504"/>
          </a:xfrm>
          <a:prstGeom prst="rect">
            <a:avLst/>
          </a:prstGeom>
          <a:noFill/>
          <a:ln/>
        </p:spPr>
        <p:txBody>
          <a:bodyPr wrap="square" lIns="0" tIns="0" rIns="0" bIns="0" rtlCol="0" anchor="ctr"/>
          <a:lstStyle/>
          <a:p>
            <a:pPr indent="0" marL="0">
              <a:lnSpc>
                <a:spcPts val="1300"/>
              </a:lnSpc>
              <a:buNone/>
            </a:pPr>
            <a:r>
              <a:rPr lang="en-US" sz="1050" b="1" dirty="0">
                <a:solidFill>
                  <a:srgbClr val="0F3D3E"/>
                </a:solidFill>
                <a:latin typeface="Calibri" pitchFamily="34" charset="0"/>
                <a:ea typeface="Calibri" pitchFamily="34" charset="-122"/>
                <a:cs typeface="Calibri" pitchFamily="34" charset="-120"/>
              </a:rPr>
              <a:t>Client follow-up</a:t>
            </a:r>
            <a:endParaRPr lang="en-US" sz="1050" dirty="0"/>
          </a:p>
        </p:txBody>
      </p:sp>
      <p:sp>
        <p:nvSpPr>
          <p:cNvPr id="36" name="Text 34"/>
          <p:cNvSpPr/>
          <p:nvPr/>
        </p:nvSpPr>
        <p:spPr>
          <a:xfrm>
            <a:off x="6784848" y="4059936"/>
            <a:ext cx="2286000" cy="603504"/>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The single biggest stated pain point</a:t>
            </a:r>
            <a:endParaRPr lang="en-US" sz="1000" dirty="0"/>
          </a:p>
        </p:txBody>
      </p:sp>
      <p:sp>
        <p:nvSpPr>
          <p:cNvPr id="37" name="Shape 35"/>
          <p:cNvSpPr/>
          <p:nvPr/>
        </p:nvSpPr>
        <p:spPr>
          <a:xfrm>
            <a:off x="9089136" y="4361688"/>
            <a:ext cx="146304" cy="0"/>
          </a:xfrm>
          <a:prstGeom prst="line">
            <a:avLst/>
          </a:prstGeom>
          <a:noFill/>
          <a:ln w="15875">
            <a:solidFill>
              <a:srgbClr val="C08428"/>
            </a:solidFill>
            <a:prstDash val="solid"/>
            <a:tailEnd type="triangle"/>
          </a:ln>
        </p:spPr>
      </p:sp>
      <p:sp>
        <p:nvSpPr>
          <p:cNvPr id="38" name="Shape 36"/>
          <p:cNvSpPr/>
          <p:nvPr/>
        </p:nvSpPr>
        <p:spPr>
          <a:xfrm>
            <a:off x="9217152" y="4087368"/>
            <a:ext cx="2414016" cy="548640"/>
          </a:xfrm>
          <a:prstGeom prst="roundRect">
            <a:avLst>
              <a:gd name="adj" fmla="val 11667"/>
            </a:avLst>
          </a:prstGeom>
          <a:solidFill>
            <a:srgbClr val="E2ECEA"/>
          </a:solidFill>
          <a:ln w="12700">
            <a:solidFill>
              <a:srgbClr val="E2ECEA"/>
            </a:solidFill>
            <a:prstDash val="solid"/>
          </a:ln>
        </p:spPr>
      </p:sp>
      <p:sp>
        <p:nvSpPr>
          <p:cNvPr id="39" name="Text 37"/>
          <p:cNvSpPr/>
          <p:nvPr/>
        </p:nvSpPr>
        <p:spPr>
          <a:xfrm>
            <a:off x="9363456" y="4087368"/>
            <a:ext cx="2121408" cy="548640"/>
          </a:xfrm>
          <a:prstGeom prst="rect">
            <a:avLst/>
          </a:prstGeom>
          <a:noFill/>
          <a:ln/>
        </p:spPr>
        <p:txBody>
          <a:bodyPr wrap="square" lIns="0" tIns="0" rIns="0" bIns="0" rtlCol="0" anchor="ctr"/>
          <a:lstStyle/>
          <a:p>
            <a:pPr indent="0" marL="0">
              <a:lnSpc>
                <a:spcPts val="1300"/>
              </a:lnSpc>
              <a:buNone/>
            </a:pPr>
            <a:r>
              <a:rPr lang="en-US" sz="1000" b="1" dirty="0">
                <a:solidFill>
                  <a:srgbClr val="0F3D3E"/>
                </a:solidFill>
                <a:latin typeface="Calibri" pitchFamily="34" charset="0"/>
                <a:ea typeface="Calibri" pitchFamily="34" charset="-122"/>
                <a:cs typeface="Calibri" pitchFamily="34" charset="-120"/>
              </a:rPr>
              <a:t>Automated reminders, exceptions only</a:t>
            </a:r>
            <a:endParaRPr lang="en-US" sz="1000" dirty="0"/>
          </a:p>
        </p:txBody>
      </p:sp>
      <p:sp>
        <p:nvSpPr>
          <p:cNvPr id="40" name="Shape 38"/>
          <p:cNvSpPr/>
          <p:nvPr/>
        </p:nvSpPr>
        <p:spPr>
          <a:xfrm>
            <a:off x="4041648" y="4754880"/>
            <a:ext cx="7589520" cy="603504"/>
          </a:xfrm>
          <a:prstGeom prst="roundRect">
            <a:avLst>
              <a:gd name="adj" fmla="val 10606"/>
            </a:avLst>
          </a:prstGeom>
          <a:solidFill>
            <a:srgbClr val="EFF4F3"/>
          </a:solidFill>
          <a:ln w="12700">
            <a:solidFill>
              <a:srgbClr val="EFF4F3"/>
            </a:solidFill>
            <a:prstDash val="solid"/>
          </a:ln>
        </p:spPr>
      </p:sp>
      <p:sp>
        <p:nvSpPr>
          <p:cNvPr id="41" name="Text 39"/>
          <p:cNvSpPr/>
          <p:nvPr/>
        </p:nvSpPr>
        <p:spPr>
          <a:xfrm>
            <a:off x="4224528" y="4754880"/>
            <a:ext cx="2560320" cy="603504"/>
          </a:xfrm>
          <a:prstGeom prst="rect">
            <a:avLst/>
          </a:prstGeom>
          <a:noFill/>
          <a:ln/>
        </p:spPr>
        <p:txBody>
          <a:bodyPr wrap="square" lIns="0" tIns="0" rIns="0" bIns="0" rtlCol="0" anchor="ctr"/>
          <a:lstStyle/>
          <a:p>
            <a:pPr indent="0" marL="0">
              <a:lnSpc>
                <a:spcPts val="1300"/>
              </a:lnSpc>
              <a:buNone/>
            </a:pPr>
            <a:r>
              <a:rPr lang="en-US" sz="1050" b="1" dirty="0">
                <a:solidFill>
                  <a:srgbClr val="0F3D3E"/>
                </a:solidFill>
                <a:latin typeface="Calibri" pitchFamily="34" charset="0"/>
                <a:ea typeface="Calibri" pitchFamily="34" charset="-122"/>
                <a:cs typeface="Calibri" pitchFamily="34" charset="-120"/>
              </a:rPr>
              <a:t>Working papers</a:t>
            </a:r>
            <a:endParaRPr lang="en-US" sz="1050" dirty="0"/>
          </a:p>
        </p:txBody>
      </p:sp>
      <p:sp>
        <p:nvSpPr>
          <p:cNvPr id="42" name="Text 40"/>
          <p:cNvSpPr/>
          <p:nvPr/>
        </p:nvSpPr>
        <p:spPr>
          <a:xfrm>
            <a:off x="6784848" y="4754880"/>
            <a:ext cx="2286000" cy="603504"/>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Assembled manually per engagement</a:t>
            </a:r>
            <a:endParaRPr lang="en-US" sz="1000" dirty="0"/>
          </a:p>
        </p:txBody>
      </p:sp>
      <p:sp>
        <p:nvSpPr>
          <p:cNvPr id="43" name="Shape 41"/>
          <p:cNvSpPr/>
          <p:nvPr/>
        </p:nvSpPr>
        <p:spPr>
          <a:xfrm>
            <a:off x="9089136" y="5056632"/>
            <a:ext cx="146304" cy="0"/>
          </a:xfrm>
          <a:prstGeom prst="line">
            <a:avLst/>
          </a:prstGeom>
          <a:noFill/>
          <a:ln w="15875">
            <a:solidFill>
              <a:srgbClr val="C08428"/>
            </a:solidFill>
            <a:prstDash val="solid"/>
            <a:tailEnd type="triangle"/>
          </a:ln>
        </p:spPr>
      </p:sp>
      <p:sp>
        <p:nvSpPr>
          <p:cNvPr id="44" name="Shape 42"/>
          <p:cNvSpPr/>
          <p:nvPr/>
        </p:nvSpPr>
        <p:spPr>
          <a:xfrm>
            <a:off x="9217152" y="4782312"/>
            <a:ext cx="2414016" cy="548640"/>
          </a:xfrm>
          <a:prstGeom prst="roundRect">
            <a:avLst>
              <a:gd name="adj" fmla="val 11667"/>
            </a:avLst>
          </a:prstGeom>
          <a:solidFill>
            <a:srgbClr val="E2ECEA"/>
          </a:solidFill>
          <a:ln w="12700">
            <a:solidFill>
              <a:srgbClr val="E2ECEA"/>
            </a:solidFill>
            <a:prstDash val="solid"/>
          </a:ln>
        </p:spPr>
      </p:sp>
      <p:sp>
        <p:nvSpPr>
          <p:cNvPr id="45" name="Text 43"/>
          <p:cNvSpPr/>
          <p:nvPr/>
        </p:nvSpPr>
        <p:spPr>
          <a:xfrm>
            <a:off x="9363456" y="4782312"/>
            <a:ext cx="2121408" cy="548640"/>
          </a:xfrm>
          <a:prstGeom prst="rect">
            <a:avLst/>
          </a:prstGeom>
          <a:noFill/>
          <a:ln/>
        </p:spPr>
        <p:txBody>
          <a:bodyPr wrap="square" lIns="0" tIns="0" rIns="0" bIns="0" rtlCol="0" anchor="ctr"/>
          <a:lstStyle/>
          <a:p>
            <a:pPr indent="0" marL="0">
              <a:lnSpc>
                <a:spcPts val="1300"/>
              </a:lnSpc>
              <a:buNone/>
            </a:pPr>
            <a:r>
              <a:rPr lang="en-US" sz="1000" b="1" dirty="0">
                <a:solidFill>
                  <a:srgbClr val="0F3D3E"/>
                </a:solidFill>
                <a:latin typeface="Calibri" pitchFamily="34" charset="0"/>
                <a:ea typeface="Calibri" pitchFamily="34" charset="-122"/>
                <a:cs typeface="Calibri" pitchFamily="34" charset="-120"/>
              </a:rPr>
              <a:t>Auto-populated, auditor adds judgment</a:t>
            </a:r>
            <a:endParaRPr lang="en-US" sz="1000" dirty="0"/>
          </a:p>
        </p:txBody>
      </p:sp>
      <p:sp>
        <p:nvSpPr>
          <p:cNvPr id="46" name="Shape 44"/>
          <p:cNvSpPr/>
          <p:nvPr/>
        </p:nvSpPr>
        <p:spPr>
          <a:xfrm>
            <a:off x="566928" y="5468112"/>
            <a:ext cx="11064240" cy="749808"/>
          </a:xfrm>
          <a:prstGeom prst="roundRect">
            <a:avLst>
              <a:gd name="adj" fmla="val 8537"/>
            </a:avLst>
          </a:prstGeom>
          <a:solidFill>
            <a:srgbClr val="F3E7CE"/>
          </a:solidFill>
          <a:ln w="12700">
            <a:solidFill>
              <a:srgbClr val="F3E7CE"/>
            </a:solidFill>
            <a:prstDash val="solid"/>
          </a:ln>
        </p:spPr>
      </p:sp>
      <p:sp>
        <p:nvSpPr>
          <p:cNvPr id="47" name="Text 45"/>
          <p:cNvSpPr/>
          <p:nvPr/>
        </p:nvSpPr>
        <p:spPr>
          <a:xfrm>
            <a:off x="768096" y="5550408"/>
            <a:ext cx="1066190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THE ARITHMETIC</a:t>
            </a:r>
            <a:endParaRPr lang="en-US" sz="900" dirty="0"/>
          </a:p>
        </p:txBody>
      </p:sp>
      <p:sp>
        <p:nvSpPr>
          <p:cNvPr id="48" name="Text 46"/>
          <p:cNvSpPr/>
          <p:nvPr/>
        </p:nvSpPr>
        <p:spPr>
          <a:xfrm>
            <a:off x="768096" y="5760720"/>
            <a:ext cx="10661904" cy="347472"/>
          </a:xfrm>
          <a:prstGeom prst="rect">
            <a:avLst/>
          </a:prstGeom>
          <a:noFill/>
          <a:ln/>
        </p:spPr>
        <p:txBody>
          <a:bodyPr wrap="square" lIns="0" tIns="0" rIns="0" bIns="0" rtlCol="0" anchor="t"/>
          <a:lstStyle/>
          <a:p>
            <a:pPr indent="0" marL="0">
              <a:lnSpc>
                <a:spcPts val="1408"/>
              </a:lnSpc>
              <a:buNone/>
            </a:pPr>
            <a:r>
              <a:rPr lang="en-US" sz="1100" dirty="0">
                <a:solidFill>
                  <a:srgbClr val="0F3D3E"/>
                </a:solidFill>
                <a:latin typeface="Calibri" pitchFamily="34" charset="0"/>
                <a:ea typeface="Calibri" pitchFamily="34" charset="-122"/>
                <a:cs typeface="Calibri" pitchFamily="34" charset="-120"/>
              </a:rPr>
              <a:t>Five times the return volume with the same ten people only works if hours-per-return fall by a proportional amount. That is exactly what each of the ten agents below is built to do.</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PART 2 · THE OPERATING MODEL</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How CAOS keeps work accountable</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Every agent handles the routine part of its job on its own. What it can't decide becomes a task — never a notification.</a:t>
            </a:r>
            <a:endParaRPr lang="en-US" sz="1300" dirty="0"/>
          </a:p>
        </p:txBody>
      </p:sp>
      <p:sp>
        <p:nvSpPr>
          <p:cNvPr id="5" name="Shape 3"/>
          <p:cNvSpPr/>
          <p:nvPr/>
        </p:nvSpPr>
        <p:spPr>
          <a:xfrm>
            <a:off x="566928" y="1737360"/>
            <a:ext cx="5303520" cy="3840480"/>
          </a:xfrm>
          <a:prstGeom prst="roundRect">
            <a:avLst>
              <a:gd name="adj" fmla="val 1667"/>
            </a:avLst>
          </a:prstGeom>
          <a:solidFill>
            <a:srgbClr val="EFF4F3"/>
          </a:solidFill>
          <a:ln w="12700">
            <a:solidFill>
              <a:srgbClr val="D5E0DE"/>
            </a:solidFill>
            <a:prstDash val="solid"/>
          </a:ln>
        </p:spPr>
      </p:sp>
      <p:sp>
        <p:nvSpPr>
          <p:cNvPr id="6" name="Text 4"/>
          <p:cNvSpPr/>
          <p:nvPr/>
        </p:nvSpPr>
        <p:spPr>
          <a:xfrm>
            <a:off x="841248" y="1883664"/>
            <a:ext cx="4754880" cy="237744"/>
          </a:xfrm>
          <a:prstGeom prst="rect">
            <a:avLst/>
          </a:prstGeom>
          <a:noFill/>
          <a:ln/>
        </p:spPr>
        <p:txBody>
          <a:bodyPr wrap="square" lIns="0" tIns="0" rIns="0" bIns="0" rtlCol="0" anchor="ctr"/>
          <a:lstStyle/>
          <a:p>
            <a:pPr indent="0" marL="0">
              <a:buNone/>
            </a:pPr>
            <a:r>
              <a:rPr lang="en-US" sz="950" b="1" spc="120" kern="0" dirty="0">
                <a:solidFill>
                  <a:srgbClr val="C08428"/>
                </a:solidFill>
                <a:latin typeface="Calibri" pitchFamily="34" charset="0"/>
                <a:ea typeface="Calibri" pitchFamily="34" charset="-122"/>
                <a:cs typeface="Calibri" pitchFamily="34" charset="-120"/>
              </a:rPr>
              <a:t>ANATOMY OF A CAOS TASK</a:t>
            </a:r>
            <a:endParaRPr lang="en-US" sz="950" dirty="0"/>
          </a:p>
        </p:txBody>
      </p:sp>
      <p:sp>
        <p:nvSpPr>
          <p:cNvPr id="7" name="Shape 5"/>
          <p:cNvSpPr/>
          <p:nvPr/>
        </p:nvSpPr>
        <p:spPr>
          <a:xfrm>
            <a:off x="841248" y="2249424"/>
            <a:ext cx="4754880" cy="731520"/>
          </a:xfrm>
          <a:prstGeom prst="roundRect">
            <a:avLst>
              <a:gd name="adj" fmla="val 8750"/>
            </a:avLst>
          </a:prstGeom>
          <a:solidFill>
            <a:srgbClr val="FFFFFF"/>
          </a:solidFill>
          <a:ln w="12700">
            <a:solidFill>
              <a:srgbClr val="D5E0DE"/>
            </a:solidFill>
            <a:prstDash val="solid"/>
          </a:ln>
        </p:spPr>
      </p:sp>
      <p:sp>
        <p:nvSpPr>
          <p:cNvPr id="8" name="Text 6"/>
          <p:cNvSpPr/>
          <p:nvPr/>
        </p:nvSpPr>
        <p:spPr>
          <a:xfrm>
            <a:off x="987552" y="2249424"/>
            <a:ext cx="841248" cy="731520"/>
          </a:xfrm>
          <a:prstGeom prst="rect">
            <a:avLst/>
          </a:prstGeom>
          <a:noFill/>
          <a:ln/>
        </p:spPr>
        <p:txBody>
          <a:bodyPr wrap="square" lIns="0" tIns="0" rIns="0" bIns="0" rtlCol="0" anchor="ctr"/>
          <a:lstStyle/>
          <a:p>
            <a:pPr indent="0" marL="0">
              <a:buNone/>
            </a:pPr>
            <a:r>
              <a:rPr lang="en-US" sz="1400" b="1" dirty="0">
                <a:solidFill>
                  <a:srgbClr val="C08428"/>
                </a:solidFill>
                <a:latin typeface="Cambria" pitchFamily="34" charset="0"/>
                <a:ea typeface="Cambria" pitchFamily="34" charset="-122"/>
                <a:cs typeface="Cambria" pitchFamily="34" charset="-120"/>
              </a:rPr>
              <a:t>What</a:t>
            </a:r>
            <a:endParaRPr lang="en-US" sz="1400" dirty="0"/>
          </a:p>
        </p:txBody>
      </p:sp>
      <p:sp>
        <p:nvSpPr>
          <p:cNvPr id="9" name="Text 7"/>
          <p:cNvSpPr/>
          <p:nvPr/>
        </p:nvSpPr>
        <p:spPr>
          <a:xfrm>
            <a:off x="1883664" y="2249424"/>
            <a:ext cx="3566160" cy="731520"/>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The specific judgment call — “confirm the ledger for Coastal Components” — not a vague alert</a:t>
            </a:r>
            <a:endParaRPr lang="en-US" sz="1000" dirty="0"/>
          </a:p>
        </p:txBody>
      </p:sp>
      <p:sp>
        <p:nvSpPr>
          <p:cNvPr id="10" name="Shape 8"/>
          <p:cNvSpPr/>
          <p:nvPr/>
        </p:nvSpPr>
        <p:spPr>
          <a:xfrm>
            <a:off x="841248" y="3054096"/>
            <a:ext cx="4754880" cy="731520"/>
          </a:xfrm>
          <a:prstGeom prst="roundRect">
            <a:avLst>
              <a:gd name="adj" fmla="val 8750"/>
            </a:avLst>
          </a:prstGeom>
          <a:solidFill>
            <a:srgbClr val="FFFFFF"/>
          </a:solidFill>
          <a:ln w="12700">
            <a:solidFill>
              <a:srgbClr val="D5E0DE"/>
            </a:solidFill>
            <a:prstDash val="solid"/>
          </a:ln>
        </p:spPr>
      </p:sp>
      <p:sp>
        <p:nvSpPr>
          <p:cNvPr id="11" name="Text 9"/>
          <p:cNvSpPr/>
          <p:nvPr/>
        </p:nvSpPr>
        <p:spPr>
          <a:xfrm>
            <a:off x="987552" y="3054096"/>
            <a:ext cx="841248" cy="731520"/>
          </a:xfrm>
          <a:prstGeom prst="rect">
            <a:avLst/>
          </a:prstGeom>
          <a:noFill/>
          <a:ln/>
        </p:spPr>
        <p:txBody>
          <a:bodyPr wrap="square" lIns="0" tIns="0" rIns="0" bIns="0" rtlCol="0" anchor="ctr"/>
          <a:lstStyle/>
          <a:p>
            <a:pPr indent="0" marL="0">
              <a:buNone/>
            </a:pPr>
            <a:r>
              <a:rPr lang="en-US" sz="1400" b="1" dirty="0">
                <a:solidFill>
                  <a:srgbClr val="C08428"/>
                </a:solidFill>
                <a:latin typeface="Cambria" pitchFamily="34" charset="0"/>
                <a:ea typeface="Cambria" pitchFamily="34" charset="-122"/>
                <a:cs typeface="Cambria" pitchFamily="34" charset="-120"/>
              </a:rPr>
              <a:t>Who</a:t>
            </a:r>
            <a:endParaRPr lang="en-US" sz="1400" dirty="0"/>
          </a:p>
        </p:txBody>
      </p:sp>
      <p:sp>
        <p:nvSpPr>
          <p:cNvPr id="12" name="Text 10"/>
          <p:cNvSpPr/>
          <p:nvPr/>
        </p:nvSpPr>
        <p:spPr>
          <a:xfrm>
            <a:off x="1883664" y="3054096"/>
            <a:ext cx="3566160" cy="731520"/>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One named owner, assigned by role: junior staff, senior staff, or the proprietor</a:t>
            </a:r>
            <a:endParaRPr lang="en-US" sz="1000" dirty="0"/>
          </a:p>
        </p:txBody>
      </p:sp>
      <p:sp>
        <p:nvSpPr>
          <p:cNvPr id="13" name="Shape 11"/>
          <p:cNvSpPr/>
          <p:nvPr/>
        </p:nvSpPr>
        <p:spPr>
          <a:xfrm>
            <a:off x="841248" y="3858768"/>
            <a:ext cx="4754880" cy="731520"/>
          </a:xfrm>
          <a:prstGeom prst="roundRect">
            <a:avLst>
              <a:gd name="adj" fmla="val 8750"/>
            </a:avLst>
          </a:prstGeom>
          <a:solidFill>
            <a:srgbClr val="FFFFFF"/>
          </a:solidFill>
          <a:ln w="12700">
            <a:solidFill>
              <a:srgbClr val="D5E0DE"/>
            </a:solidFill>
            <a:prstDash val="solid"/>
          </a:ln>
        </p:spPr>
      </p:sp>
      <p:sp>
        <p:nvSpPr>
          <p:cNvPr id="14" name="Text 12"/>
          <p:cNvSpPr/>
          <p:nvPr/>
        </p:nvSpPr>
        <p:spPr>
          <a:xfrm>
            <a:off x="987552" y="3858768"/>
            <a:ext cx="841248" cy="731520"/>
          </a:xfrm>
          <a:prstGeom prst="rect">
            <a:avLst/>
          </a:prstGeom>
          <a:noFill/>
          <a:ln/>
        </p:spPr>
        <p:txBody>
          <a:bodyPr wrap="square" lIns="0" tIns="0" rIns="0" bIns="0" rtlCol="0" anchor="ctr"/>
          <a:lstStyle/>
          <a:p>
            <a:pPr indent="0" marL="0">
              <a:buNone/>
            </a:pPr>
            <a:r>
              <a:rPr lang="en-US" sz="1400" b="1" dirty="0">
                <a:solidFill>
                  <a:srgbClr val="C08428"/>
                </a:solidFill>
                <a:latin typeface="Cambria" pitchFamily="34" charset="0"/>
                <a:ea typeface="Cambria" pitchFamily="34" charset="-122"/>
                <a:cs typeface="Cambria" pitchFamily="34" charset="-120"/>
              </a:rPr>
              <a:t>When</a:t>
            </a:r>
            <a:endParaRPr lang="en-US" sz="1400" dirty="0"/>
          </a:p>
        </p:txBody>
      </p:sp>
      <p:sp>
        <p:nvSpPr>
          <p:cNvPr id="15" name="Text 13"/>
          <p:cNvSpPr/>
          <p:nvPr/>
        </p:nvSpPr>
        <p:spPr>
          <a:xfrm>
            <a:off x="1883664" y="3858768"/>
            <a:ext cx="3566160" cy="731520"/>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A due date, set from the statutory deadline it feeds into</a:t>
            </a:r>
            <a:endParaRPr lang="en-US" sz="1000" dirty="0"/>
          </a:p>
        </p:txBody>
      </p:sp>
      <p:sp>
        <p:nvSpPr>
          <p:cNvPr id="16" name="Shape 14"/>
          <p:cNvSpPr/>
          <p:nvPr/>
        </p:nvSpPr>
        <p:spPr>
          <a:xfrm>
            <a:off x="841248" y="4663440"/>
            <a:ext cx="4754880" cy="731520"/>
          </a:xfrm>
          <a:prstGeom prst="roundRect">
            <a:avLst>
              <a:gd name="adj" fmla="val 8750"/>
            </a:avLst>
          </a:prstGeom>
          <a:solidFill>
            <a:srgbClr val="FFFFFF"/>
          </a:solidFill>
          <a:ln w="12700">
            <a:solidFill>
              <a:srgbClr val="D5E0DE"/>
            </a:solidFill>
            <a:prstDash val="solid"/>
          </a:ln>
        </p:spPr>
      </p:sp>
      <p:sp>
        <p:nvSpPr>
          <p:cNvPr id="17" name="Text 15"/>
          <p:cNvSpPr/>
          <p:nvPr/>
        </p:nvSpPr>
        <p:spPr>
          <a:xfrm>
            <a:off x="987552" y="4663440"/>
            <a:ext cx="841248" cy="731520"/>
          </a:xfrm>
          <a:prstGeom prst="rect">
            <a:avLst/>
          </a:prstGeom>
          <a:noFill/>
          <a:ln/>
        </p:spPr>
        <p:txBody>
          <a:bodyPr wrap="square" lIns="0" tIns="0" rIns="0" bIns="0" rtlCol="0" anchor="ctr"/>
          <a:lstStyle/>
          <a:p>
            <a:pPr indent="0" marL="0">
              <a:buNone/>
            </a:pPr>
            <a:r>
              <a:rPr lang="en-US" sz="1400" b="1" dirty="0">
                <a:solidFill>
                  <a:srgbClr val="C08428"/>
                </a:solidFill>
                <a:latin typeface="Cambria" pitchFamily="34" charset="0"/>
                <a:ea typeface="Cambria" pitchFamily="34" charset="-122"/>
                <a:cs typeface="Cambria" pitchFamily="34" charset="-120"/>
              </a:rPr>
              <a:t>If not</a:t>
            </a:r>
            <a:endParaRPr lang="en-US" sz="1400" dirty="0"/>
          </a:p>
        </p:txBody>
      </p:sp>
      <p:sp>
        <p:nvSpPr>
          <p:cNvPr id="18" name="Text 16"/>
          <p:cNvSpPr/>
          <p:nvPr/>
        </p:nvSpPr>
        <p:spPr>
          <a:xfrm>
            <a:off x="1883664" y="4663440"/>
            <a:ext cx="3566160" cy="731520"/>
          </a:xfrm>
          <a:prstGeom prst="rect">
            <a:avLst/>
          </a:prstGeom>
          <a:noFill/>
          <a:ln/>
        </p:spPr>
        <p:txBody>
          <a:bodyPr wrap="square" lIns="0" tIns="0" rIns="0" bIns="0" rtlCol="0" anchor="ctr"/>
          <a:lstStyle/>
          <a:p>
            <a:pPr indent="0" marL="0">
              <a:lnSpc>
                <a:spcPts val="1300"/>
              </a:lnSpc>
              <a:buNone/>
            </a:pPr>
            <a:r>
              <a:rPr lang="en-US" sz="1000" dirty="0">
                <a:solidFill>
                  <a:srgbClr val="0F3D3E"/>
                </a:solidFill>
                <a:latin typeface="Calibri" pitchFamily="34" charset="0"/>
                <a:ea typeface="Calibri" pitchFamily="34" charset="-122"/>
                <a:cs typeface="Calibri" pitchFamily="34" charset="-120"/>
              </a:rPr>
              <a:t>An escalation path that fires without anyone having to notice</a:t>
            </a:r>
            <a:endParaRPr lang="en-US" sz="1000" dirty="0"/>
          </a:p>
        </p:txBody>
      </p:sp>
      <p:sp>
        <p:nvSpPr>
          <p:cNvPr id="19" name="Text 17"/>
          <p:cNvSpPr/>
          <p:nvPr/>
        </p:nvSpPr>
        <p:spPr>
          <a:xfrm>
            <a:off x="6144768" y="1883664"/>
            <a:ext cx="5486400" cy="237744"/>
          </a:xfrm>
          <a:prstGeom prst="rect">
            <a:avLst/>
          </a:prstGeom>
          <a:noFill/>
          <a:ln/>
        </p:spPr>
        <p:txBody>
          <a:bodyPr wrap="square" lIns="0" tIns="0" rIns="0" bIns="0" rtlCol="0" anchor="ctr"/>
          <a:lstStyle/>
          <a:p>
            <a:pPr indent="0" marL="0">
              <a:buNone/>
            </a:pPr>
            <a:r>
              <a:rPr lang="en-US" sz="950" b="1" spc="120" kern="0" dirty="0">
                <a:solidFill>
                  <a:srgbClr val="C08428"/>
                </a:solidFill>
                <a:latin typeface="Calibri" pitchFamily="34" charset="0"/>
                <a:ea typeface="Calibri" pitchFamily="34" charset="-122"/>
                <a:cs typeface="Calibri" pitchFamily="34" charset="-120"/>
              </a:rPr>
              <a:t>THE ESCALATION LADDER</a:t>
            </a:r>
            <a:endParaRPr lang="en-US" sz="950" dirty="0"/>
          </a:p>
        </p:txBody>
      </p:sp>
      <p:sp>
        <p:nvSpPr>
          <p:cNvPr id="20" name="Text 18"/>
          <p:cNvSpPr/>
          <p:nvPr/>
        </p:nvSpPr>
        <p:spPr>
          <a:xfrm>
            <a:off x="6967728" y="2194560"/>
            <a:ext cx="3840480" cy="475488"/>
          </a:xfrm>
          <a:prstGeom prst="roundRect">
            <a:avLst>
              <a:gd name="adj" fmla="val 9615"/>
            </a:avLst>
          </a:prstGeom>
          <a:solidFill>
            <a:srgbClr val="EFF4F3"/>
          </a:solidFill>
          <a:ln w="12700">
            <a:solidFill>
              <a:srgbClr val="D5E0DE"/>
            </a:solidFill>
            <a:prstDash val="solid"/>
          </a:ln>
        </p:spPr>
        <p:txBody>
          <a:bodyPr wrap="square" lIns="0" tIns="0" rIns="0" bIns="0" rtlCol="0" anchor="ctr"/>
          <a:lstStyle/>
          <a:p>
            <a:pPr algn="ctr" indent="0" marL="0">
              <a:lnSpc>
                <a:spcPts val="1180"/>
              </a:lnSpc>
              <a:buNone/>
            </a:pPr>
            <a:r>
              <a:rPr lang="en-US" sz="1000" b="1" dirty="0">
                <a:solidFill>
                  <a:srgbClr val="0F3D3E"/>
                </a:solidFill>
                <a:latin typeface="Calibri" pitchFamily="34" charset="0"/>
                <a:ea typeface="Calibri" pitchFamily="34" charset="-122"/>
                <a:cs typeface="Calibri" pitchFamily="34" charset="-120"/>
              </a:rPr>
              <a:t>Agent hits something it can't decide</a:t>
            </a:r>
            <a:endParaRPr lang="en-US" sz="1000" dirty="0"/>
          </a:p>
        </p:txBody>
      </p:sp>
      <p:sp>
        <p:nvSpPr>
          <p:cNvPr id="21" name="Shape 19"/>
          <p:cNvSpPr/>
          <p:nvPr/>
        </p:nvSpPr>
        <p:spPr>
          <a:xfrm>
            <a:off x="8887968" y="2688336"/>
            <a:ext cx="0" cy="219456"/>
          </a:xfrm>
          <a:prstGeom prst="line">
            <a:avLst/>
          </a:prstGeom>
          <a:noFill/>
          <a:ln w="15875">
            <a:solidFill>
              <a:srgbClr val="9AB0AE"/>
            </a:solidFill>
            <a:prstDash val="solid"/>
            <a:tailEnd type="triangle"/>
          </a:ln>
        </p:spPr>
      </p:sp>
      <p:sp>
        <p:nvSpPr>
          <p:cNvPr id="22" name="Text 20"/>
          <p:cNvSpPr/>
          <p:nvPr/>
        </p:nvSpPr>
        <p:spPr>
          <a:xfrm>
            <a:off x="6967728" y="2926080"/>
            <a:ext cx="3840480" cy="475488"/>
          </a:xfrm>
          <a:prstGeom prst="roundRect">
            <a:avLst>
              <a:gd name="adj" fmla="val 9615"/>
            </a:avLst>
          </a:prstGeom>
          <a:solidFill>
            <a:srgbClr val="0F3D3E"/>
          </a:solidFill>
          <a:ln w="12700">
            <a:solidFill>
              <a:srgbClr val="0F3D3E"/>
            </a:solidFill>
            <a:prstDash val="solid"/>
          </a:ln>
        </p:spPr>
        <p:txBody>
          <a:bodyPr wrap="square" lIns="0" tIns="0" rIns="0" bIns="0" rtlCol="0" anchor="ctr"/>
          <a:lstStyle/>
          <a:p>
            <a:pPr algn="ctr" indent="0" marL="0">
              <a:lnSpc>
                <a:spcPts val="1180"/>
              </a:lnSpc>
              <a:buNone/>
            </a:pPr>
            <a:r>
              <a:rPr lang="en-US" sz="1000" b="1" dirty="0">
                <a:solidFill>
                  <a:srgbClr val="FFFFFF"/>
                </a:solidFill>
                <a:latin typeface="Calibri" pitchFamily="34" charset="0"/>
                <a:ea typeface="Calibri" pitchFamily="34" charset="-122"/>
                <a:cs typeface="Calibri" pitchFamily="34" charset="-120"/>
              </a:rPr>
              <a:t>Task created — owner + due date</a:t>
            </a:r>
            <a:endParaRPr lang="en-US" sz="1000" dirty="0"/>
          </a:p>
        </p:txBody>
      </p:sp>
      <p:sp>
        <p:nvSpPr>
          <p:cNvPr id="23" name="Shape 21"/>
          <p:cNvSpPr/>
          <p:nvPr/>
        </p:nvSpPr>
        <p:spPr>
          <a:xfrm>
            <a:off x="8887968" y="3419856"/>
            <a:ext cx="0" cy="219456"/>
          </a:xfrm>
          <a:prstGeom prst="line">
            <a:avLst/>
          </a:prstGeom>
          <a:noFill/>
          <a:ln w="15875">
            <a:solidFill>
              <a:srgbClr val="9AB0AE"/>
            </a:solidFill>
            <a:prstDash val="solid"/>
            <a:tailEnd type="triangle"/>
          </a:ln>
        </p:spPr>
      </p:sp>
      <p:sp>
        <p:nvSpPr>
          <p:cNvPr id="24" name="Text 22"/>
          <p:cNvSpPr/>
          <p:nvPr/>
        </p:nvSpPr>
        <p:spPr>
          <a:xfrm>
            <a:off x="7516368" y="3657600"/>
            <a:ext cx="2743200" cy="512064"/>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1180"/>
              </a:lnSpc>
              <a:buNone/>
            </a:pPr>
            <a:r>
              <a:rPr lang="en-US" sz="1000" b="1" dirty="0">
                <a:solidFill>
                  <a:srgbClr val="FFFFFF"/>
                </a:solidFill>
                <a:latin typeface="Calibri" pitchFamily="34" charset="0"/>
                <a:ea typeface="Calibri" pitchFamily="34" charset="-122"/>
                <a:cs typeface="Calibri" pitchFamily="34" charset="-120"/>
              </a:rPr>
              <a:t>Resolved in time?</a:t>
            </a:r>
            <a:endParaRPr lang="en-US" sz="1000" dirty="0"/>
          </a:p>
        </p:txBody>
      </p:sp>
      <p:sp>
        <p:nvSpPr>
          <p:cNvPr id="25" name="Shape 23"/>
          <p:cNvSpPr/>
          <p:nvPr/>
        </p:nvSpPr>
        <p:spPr>
          <a:xfrm flipH="1">
            <a:off x="7379208" y="4187952"/>
            <a:ext cx="1508760" cy="256032"/>
          </a:xfrm>
          <a:prstGeom prst="line">
            <a:avLst/>
          </a:prstGeom>
          <a:noFill/>
          <a:ln w="15875">
            <a:solidFill>
              <a:srgbClr val="9AB0AE"/>
            </a:solidFill>
            <a:prstDash val="solid"/>
            <a:tailEnd type="triangle"/>
          </a:ln>
        </p:spPr>
      </p:sp>
      <p:sp>
        <p:nvSpPr>
          <p:cNvPr id="26" name="Shape 24"/>
          <p:cNvSpPr/>
          <p:nvPr/>
        </p:nvSpPr>
        <p:spPr>
          <a:xfrm>
            <a:off x="8887968" y="4187952"/>
            <a:ext cx="1508760" cy="256032"/>
          </a:xfrm>
          <a:prstGeom prst="line">
            <a:avLst/>
          </a:prstGeom>
          <a:noFill/>
          <a:ln w="15875">
            <a:solidFill>
              <a:srgbClr val="9AB0AE"/>
            </a:solidFill>
            <a:prstDash val="solid"/>
            <a:tailEnd type="triangle"/>
          </a:ln>
        </p:spPr>
      </p:sp>
      <p:sp>
        <p:nvSpPr>
          <p:cNvPr id="27" name="Text 25"/>
          <p:cNvSpPr/>
          <p:nvPr/>
        </p:nvSpPr>
        <p:spPr>
          <a:xfrm>
            <a:off x="7763256" y="4215384"/>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yes</a:t>
            </a:r>
            <a:endParaRPr lang="en-US" sz="750" dirty="0"/>
          </a:p>
        </p:txBody>
      </p:sp>
      <p:sp>
        <p:nvSpPr>
          <p:cNvPr id="28" name="Text 26"/>
          <p:cNvSpPr/>
          <p:nvPr/>
        </p:nvSpPr>
        <p:spPr>
          <a:xfrm>
            <a:off x="9500616" y="4215384"/>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no</a:t>
            </a:r>
            <a:endParaRPr lang="en-US" sz="750" dirty="0"/>
          </a:p>
        </p:txBody>
      </p:sp>
      <p:sp>
        <p:nvSpPr>
          <p:cNvPr id="29" name="Text 27"/>
          <p:cNvSpPr/>
          <p:nvPr/>
        </p:nvSpPr>
        <p:spPr>
          <a:xfrm>
            <a:off x="6236208" y="4462272"/>
            <a:ext cx="2286000" cy="475488"/>
          </a:xfrm>
          <a:prstGeom prst="roundRect">
            <a:avLst>
              <a:gd name="adj" fmla="val 9615"/>
            </a:avLst>
          </a:prstGeom>
          <a:solidFill>
            <a:srgbClr val="2E7D5B"/>
          </a:solidFill>
          <a:ln w="12700">
            <a:solidFill>
              <a:srgbClr val="2E7D5B"/>
            </a:solidFill>
            <a:prstDash val="solid"/>
          </a:ln>
        </p:spPr>
        <p:txBody>
          <a:bodyPr wrap="square" lIns="0" tIns="0" rIns="0" bIns="0" rtlCol="0" anchor="ctr"/>
          <a:lstStyle/>
          <a:p>
            <a:pPr algn="ctr" indent="0" marL="0">
              <a:lnSpc>
                <a:spcPts val="1180"/>
              </a:lnSpc>
              <a:buNone/>
            </a:pPr>
            <a:r>
              <a:rPr lang="en-US" sz="1000" b="1" dirty="0">
                <a:solidFill>
                  <a:srgbClr val="FFFFFF"/>
                </a:solidFill>
                <a:latin typeface="Calibri" pitchFamily="34" charset="0"/>
                <a:ea typeface="Calibri" pitchFamily="34" charset="-122"/>
                <a:cs typeface="Calibri" pitchFamily="34" charset="-120"/>
              </a:rPr>
              <a:t>Closed</a:t>
            </a:r>
            <a:endParaRPr lang="en-US" sz="1000" dirty="0"/>
          </a:p>
        </p:txBody>
      </p:sp>
      <p:sp>
        <p:nvSpPr>
          <p:cNvPr id="30" name="Text 28"/>
          <p:cNvSpPr/>
          <p:nvPr/>
        </p:nvSpPr>
        <p:spPr>
          <a:xfrm>
            <a:off x="9253728" y="4462272"/>
            <a:ext cx="2286000" cy="475488"/>
          </a:xfrm>
          <a:prstGeom prst="roundRect">
            <a:avLst>
              <a:gd name="adj" fmla="val 9615"/>
            </a:avLst>
          </a:prstGeom>
          <a:solidFill>
            <a:srgbClr val="B5563F"/>
          </a:solidFill>
          <a:ln w="12700">
            <a:solidFill>
              <a:srgbClr val="B5563F"/>
            </a:solidFill>
            <a:prstDash val="solid"/>
          </a:ln>
        </p:spPr>
        <p:txBody>
          <a:bodyPr wrap="square" lIns="0" tIns="0" rIns="0" bIns="0" rtlCol="0" anchor="ctr"/>
          <a:lstStyle/>
          <a:p>
            <a:pPr algn="ctr" indent="0" marL="0">
              <a:lnSpc>
                <a:spcPts val="1121"/>
              </a:lnSpc>
              <a:buNone/>
            </a:pPr>
            <a:r>
              <a:rPr lang="en-US" sz="950" b="1" dirty="0">
                <a:solidFill>
                  <a:srgbClr val="FFFFFF"/>
                </a:solidFill>
                <a:latin typeface="Calibri" pitchFamily="34" charset="0"/>
                <a:ea typeface="Calibri" pitchFamily="34" charset="-122"/>
                <a:cs typeface="Calibri" pitchFamily="34" charset="-120"/>
              </a:rPr>
              <a:t>Escalates to a</a:t>
            </a:r>
            <a:endParaRPr lang="en-US" sz="950" dirty="0"/>
          </a:p>
          <a:p>
            <a:pPr algn="ctr" indent="0" marL="0">
              <a:lnSpc>
                <a:spcPts val="1121"/>
              </a:lnSpc>
              <a:buNone/>
            </a:pPr>
            <a:r>
              <a:rPr lang="en-US" sz="950" b="1" dirty="0">
                <a:solidFill>
                  <a:srgbClr val="FFFFFF"/>
                </a:solidFill>
                <a:latin typeface="Calibri" pitchFamily="34" charset="0"/>
                <a:ea typeface="Calibri" pitchFamily="34" charset="-122"/>
                <a:cs typeface="Calibri" pitchFamily="34" charset="-120"/>
              </a:rPr>
              <a:t>senior team member</a:t>
            </a:r>
            <a:endParaRPr lang="en-US" sz="950" dirty="0"/>
          </a:p>
        </p:txBody>
      </p:sp>
      <p:sp>
        <p:nvSpPr>
          <p:cNvPr id="31" name="Shape 29"/>
          <p:cNvSpPr/>
          <p:nvPr/>
        </p:nvSpPr>
        <p:spPr>
          <a:xfrm>
            <a:off x="10396728" y="4956048"/>
            <a:ext cx="0" cy="219456"/>
          </a:xfrm>
          <a:prstGeom prst="line">
            <a:avLst/>
          </a:prstGeom>
          <a:noFill/>
          <a:ln w="15875">
            <a:solidFill>
              <a:srgbClr val="9AB0AE"/>
            </a:solidFill>
            <a:prstDash val="solid"/>
            <a:tailEnd type="triangle"/>
          </a:ln>
        </p:spPr>
      </p:sp>
      <p:sp>
        <p:nvSpPr>
          <p:cNvPr id="32" name="Text 30"/>
          <p:cNvSpPr/>
          <p:nvPr/>
        </p:nvSpPr>
        <p:spPr>
          <a:xfrm>
            <a:off x="8156448" y="5193792"/>
            <a:ext cx="3383280" cy="475488"/>
          </a:xfrm>
          <a:prstGeom prst="roundRect">
            <a:avLst>
              <a:gd name="adj" fmla="val 9615"/>
            </a:avLst>
          </a:prstGeom>
          <a:solidFill>
            <a:srgbClr val="B5563F"/>
          </a:solidFill>
          <a:ln w="12700">
            <a:solidFill>
              <a:srgbClr val="B5563F"/>
            </a:solidFill>
            <a:prstDash val="solid"/>
          </a:ln>
        </p:spPr>
        <p:txBody>
          <a:bodyPr wrap="square" lIns="0" tIns="0" rIns="0" bIns="0" rtlCol="0" anchor="ctr"/>
          <a:lstStyle/>
          <a:p>
            <a:pPr algn="ctr" indent="0" marL="0">
              <a:lnSpc>
                <a:spcPts val="1121"/>
              </a:lnSpc>
              <a:buNone/>
            </a:pPr>
            <a:r>
              <a:rPr lang="en-US" sz="950" b="1" dirty="0">
                <a:solidFill>
                  <a:srgbClr val="FFFFFF"/>
                </a:solidFill>
                <a:latin typeface="Calibri" pitchFamily="34" charset="0"/>
                <a:ea typeface="Calibri" pitchFamily="34" charset="-122"/>
                <a:cs typeface="Calibri" pitchFamily="34" charset="-120"/>
              </a:rPr>
              <a:t>Still unresolved → the proprietor, directly</a:t>
            </a:r>
            <a:endParaRPr lang="en-US" sz="950" dirty="0"/>
          </a:p>
        </p:txBody>
      </p:sp>
      <p:sp>
        <p:nvSpPr>
          <p:cNvPr id="33" name="Text 31"/>
          <p:cNvSpPr/>
          <p:nvPr/>
        </p:nvSpPr>
        <p:spPr>
          <a:xfrm>
            <a:off x="566928" y="5779008"/>
            <a:ext cx="11064240" cy="329184"/>
          </a:xfrm>
          <a:prstGeom prst="rect">
            <a:avLst/>
          </a:prstGeom>
          <a:noFill/>
          <a:ln/>
        </p:spPr>
        <p:txBody>
          <a:bodyPr wrap="square" lIns="0" tIns="0" rIns="0" bIns="0" rtlCol="0" anchor="ctr"/>
          <a:lstStyle/>
          <a:p>
            <a:pPr indent="0" marL="0">
              <a:buNone/>
            </a:pPr>
            <a:r>
              <a:rPr lang="en-US" sz="1200" i="1" dirty="0">
                <a:solidFill>
                  <a:srgbClr val="5C6B6A"/>
                </a:solidFill>
                <a:latin typeface="Calibri" pitchFamily="34" charset="0"/>
                <a:ea typeface="Calibri" pitchFamily="34" charset="-122"/>
                <a:cs typeface="Calibri" pitchFamily="34" charset="-120"/>
              </a:rPr>
              <a:t>Discipline is structural, not personal. The system chases the task; nobody has to remember to.</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PART 2 · MAP</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The ten agents at a glance</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Each one gets a full slide: goal, process flow, step-by-step detail, and the human touchpoint.</a:t>
            </a:r>
            <a:endParaRPr lang="en-US" sz="1300" dirty="0"/>
          </a:p>
        </p:txBody>
      </p:sp>
      <p:sp>
        <p:nvSpPr>
          <p:cNvPr id="5" name="Shape 3"/>
          <p:cNvSpPr/>
          <p:nvPr/>
        </p:nvSpPr>
        <p:spPr>
          <a:xfrm>
            <a:off x="566928" y="1773936"/>
            <a:ext cx="2051914" cy="1828800"/>
          </a:xfrm>
          <a:prstGeom prst="roundRect">
            <a:avLst>
              <a:gd name="adj" fmla="val 3500"/>
            </a:avLst>
          </a:prstGeom>
          <a:solidFill>
            <a:srgbClr val="0F3D3E"/>
          </a:solidFill>
          <a:ln w="12700">
            <a:solidFill>
              <a:srgbClr val="0F3D3E"/>
            </a:solidFill>
            <a:prstDash val="solid"/>
          </a:ln>
        </p:spPr>
      </p:sp>
      <p:sp>
        <p:nvSpPr>
          <p:cNvPr id="6" name="Text 4"/>
          <p:cNvSpPr/>
          <p:nvPr/>
        </p:nvSpPr>
        <p:spPr>
          <a:xfrm>
            <a:off x="749808" y="1938528"/>
            <a:ext cx="329184" cy="329184"/>
          </a:xfrm>
          <a:prstGeom prst="ellipse">
            <a:avLst/>
          </a:prstGeom>
          <a:solidFill>
            <a:srgbClr val="C08428"/>
          </a:solid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749808" y="2340864"/>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FFFFFF"/>
                </a:solidFill>
                <a:latin typeface="Cambria" pitchFamily="34" charset="0"/>
                <a:ea typeface="Cambria" pitchFamily="34" charset="-122"/>
                <a:cs typeface="Cambria" pitchFamily="34" charset="-120"/>
              </a:rPr>
              <a:t>Document Intake</a:t>
            </a:r>
            <a:endParaRPr lang="en-US" sz="1200" dirty="0"/>
          </a:p>
        </p:txBody>
      </p:sp>
      <p:sp>
        <p:nvSpPr>
          <p:cNvPr id="8" name="Text 6"/>
          <p:cNvSpPr/>
          <p:nvPr/>
        </p:nvSpPr>
        <p:spPr>
          <a:xfrm>
            <a:off x="749808" y="2871216"/>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A9C3C2"/>
                </a:solidFill>
                <a:latin typeface="Calibri" pitchFamily="34" charset="0"/>
                <a:ea typeface="Calibri" pitchFamily="34" charset="-122"/>
                <a:cs typeface="Calibri" pitchFamily="34" charset="-120"/>
              </a:rPr>
              <a:t>Documents arrive, get classified, filed and chased — without anyone tracking them.</a:t>
            </a:r>
            <a:endParaRPr lang="en-US" sz="850" dirty="0"/>
          </a:p>
        </p:txBody>
      </p:sp>
      <p:sp>
        <p:nvSpPr>
          <p:cNvPr id="9" name="Shape 7"/>
          <p:cNvSpPr/>
          <p:nvPr/>
        </p:nvSpPr>
        <p:spPr>
          <a:xfrm>
            <a:off x="2820010" y="1773936"/>
            <a:ext cx="2051914" cy="1828800"/>
          </a:xfrm>
          <a:prstGeom prst="roundRect">
            <a:avLst>
              <a:gd name="adj" fmla="val 3500"/>
            </a:avLst>
          </a:prstGeom>
          <a:solidFill>
            <a:srgbClr val="0F3D3E"/>
          </a:solidFill>
          <a:ln w="12700">
            <a:solidFill>
              <a:srgbClr val="0F3D3E"/>
            </a:solidFill>
            <a:prstDash val="solid"/>
          </a:ln>
        </p:spPr>
      </p:sp>
      <p:sp>
        <p:nvSpPr>
          <p:cNvPr id="10" name="Text 8"/>
          <p:cNvSpPr/>
          <p:nvPr/>
        </p:nvSpPr>
        <p:spPr>
          <a:xfrm>
            <a:off x="3002890" y="1938528"/>
            <a:ext cx="329184" cy="329184"/>
          </a:xfrm>
          <a:prstGeom prst="ellipse">
            <a:avLst/>
          </a:prstGeom>
          <a:solidFill>
            <a:srgbClr val="C08428"/>
          </a:solid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2</a:t>
            </a:r>
            <a:endParaRPr lang="en-US" sz="1200" dirty="0"/>
          </a:p>
        </p:txBody>
      </p:sp>
      <p:sp>
        <p:nvSpPr>
          <p:cNvPr id="11" name="Text 9"/>
          <p:cNvSpPr/>
          <p:nvPr/>
        </p:nvSpPr>
        <p:spPr>
          <a:xfrm>
            <a:off x="3002890" y="2340864"/>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FFFFFF"/>
                </a:solidFill>
                <a:latin typeface="Cambria" pitchFamily="34" charset="0"/>
                <a:ea typeface="Cambria" pitchFamily="34" charset="-122"/>
                <a:cs typeface="Cambria" pitchFamily="34" charset="-120"/>
              </a:rPr>
              <a:t>Bookkeeping / Voucher Entry</a:t>
            </a:r>
            <a:endParaRPr lang="en-US" sz="1200" dirty="0"/>
          </a:p>
        </p:txBody>
      </p:sp>
      <p:sp>
        <p:nvSpPr>
          <p:cNvPr id="12" name="Text 10"/>
          <p:cNvSpPr/>
          <p:nvPr/>
        </p:nvSpPr>
        <p:spPr>
          <a:xfrm>
            <a:off x="3002890" y="2871216"/>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A9C3C2"/>
                </a:solidFill>
                <a:latin typeface="Calibri" pitchFamily="34" charset="0"/>
                <a:ea typeface="Calibri" pitchFamily="34" charset="-122"/>
                <a:cs typeface="Calibri" pitchFamily="34" charset="-120"/>
              </a:rPr>
              <a:t>Invoices become draft Tally vouchers, staged for a one-glance human approval.</a:t>
            </a:r>
            <a:endParaRPr lang="en-US" sz="850" dirty="0"/>
          </a:p>
        </p:txBody>
      </p:sp>
      <p:sp>
        <p:nvSpPr>
          <p:cNvPr id="13" name="Shape 11"/>
          <p:cNvSpPr/>
          <p:nvPr/>
        </p:nvSpPr>
        <p:spPr>
          <a:xfrm>
            <a:off x="5073091" y="1773936"/>
            <a:ext cx="2051914" cy="1828800"/>
          </a:xfrm>
          <a:prstGeom prst="roundRect">
            <a:avLst>
              <a:gd name="adj" fmla="val 3500"/>
            </a:avLst>
          </a:prstGeom>
          <a:solidFill>
            <a:srgbClr val="0F3D3E"/>
          </a:solidFill>
          <a:ln w="12700">
            <a:solidFill>
              <a:srgbClr val="0F3D3E"/>
            </a:solidFill>
            <a:prstDash val="solid"/>
          </a:ln>
        </p:spPr>
      </p:sp>
      <p:sp>
        <p:nvSpPr>
          <p:cNvPr id="14" name="Text 12"/>
          <p:cNvSpPr/>
          <p:nvPr/>
        </p:nvSpPr>
        <p:spPr>
          <a:xfrm>
            <a:off x="5255971" y="1938528"/>
            <a:ext cx="329184" cy="329184"/>
          </a:xfrm>
          <a:prstGeom prst="ellipse">
            <a:avLst/>
          </a:prstGeom>
          <a:solidFill>
            <a:srgbClr val="C08428"/>
          </a:solid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3</a:t>
            </a:r>
            <a:endParaRPr lang="en-US" sz="1200" dirty="0"/>
          </a:p>
        </p:txBody>
      </p:sp>
      <p:sp>
        <p:nvSpPr>
          <p:cNvPr id="15" name="Text 13"/>
          <p:cNvSpPr/>
          <p:nvPr/>
        </p:nvSpPr>
        <p:spPr>
          <a:xfrm>
            <a:off x="5255971" y="2340864"/>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FFFFFF"/>
                </a:solidFill>
                <a:latin typeface="Cambria" pitchFamily="34" charset="0"/>
                <a:ea typeface="Cambria" pitchFamily="34" charset="-122"/>
                <a:cs typeface="Cambria" pitchFamily="34" charset="-120"/>
              </a:rPr>
              <a:t>Reconciliation</a:t>
            </a:r>
            <a:endParaRPr lang="en-US" sz="1200" dirty="0"/>
          </a:p>
        </p:txBody>
      </p:sp>
      <p:sp>
        <p:nvSpPr>
          <p:cNvPr id="16" name="Text 14"/>
          <p:cNvSpPr/>
          <p:nvPr/>
        </p:nvSpPr>
        <p:spPr>
          <a:xfrm>
            <a:off x="5255971" y="2871216"/>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A9C3C2"/>
                </a:solidFill>
                <a:latin typeface="Calibri" pitchFamily="34" charset="0"/>
                <a:ea typeface="Calibri" pitchFamily="34" charset="-122"/>
                <a:cs typeface="Calibri" pitchFamily="34" charset="-120"/>
              </a:rPr>
              <a:t>Purchase register vs GSTR-2B, matched line by line; only mismatches reach a person.</a:t>
            </a:r>
            <a:endParaRPr lang="en-US" sz="850" dirty="0"/>
          </a:p>
        </p:txBody>
      </p:sp>
      <p:sp>
        <p:nvSpPr>
          <p:cNvPr id="17" name="Shape 15"/>
          <p:cNvSpPr/>
          <p:nvPr/>
        </p:nvSpPr>
        <p:spPr>
          <a:xfrm>
            <a:off x="7326173" y="1773936"/>
            <a:ext cx="2051914" cy="1828800"/>
          </a:xfrm>
          <a:prstGeom prst="roundRect">
            <a:avLst>
              <a:gd name="adj" fmla="val 3500"/>
            </a:avLst>
          </a:prstGeom>
          <a:solidFill>
            <a:srgbClr val="0F3D3E"/>
          </a:solidFill>
          <a:ln w="12700">
            <a:solidFill>
              <a:srgbClr val="0F3D3E"/>
            </a:solidFill>
            <a:prstDash val="solid"/>
          </a:ln>
        </p:spPr>
      </p:sp>
      <p:sp>
        <p:nvSpPr>
          <p:cNvPr id="18" name="Text 16"/>
          <p:cNvSpPr/>
          <p:nvPr/>
        </p:nvSpPr>
        <p:spPr>
          <a:xfrm>
            <a:off x="7509053" y="1938528"/>
            <a:ext cx="329184" cy="329184"/>
          </a:xfrm>
          <a:prstGeom prst="ellipse">
            <a:avLst/>
          </a:prstGeom>
          <a:solidFill>
            <a:srgbClr val="C08428"/>
          </a:solid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4</a:t>
            </a:r>
            <a:endParaRPr lang="en-US" sz="1200" dirty="0"/>
          </a:p>
        </p:txBody>
      </p:sp>
      <p:sp>
        <p:nvSpPr>
          <p:cNvPr id="19" name="Text 17"/>
          <p:cNvSpPr/>
          <p:nvPr/>
        </p:nvSpPr>
        <p:spPr>
          <a:xfrm>
            <a:off x="7509053" y="2340864"/>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FFFFFF"/>
                </a:solidFill>
                <a:latin typeface="Cambria" pitchFamily="34" charset="0"/>
                <a:ea typeface="Cambria" pitchFamily="34" charset="-122"/>
                <a:cs typeface="Cambria" pitchFamily="34" charset="-120"/>
              </a:rPr>
              <a:t>Validation / Compliance Checks</a:t>
            </a:r>
            <a:endParaRPr lang="en-US" sz="1200" dirty="0"/>
          </a:p>
        </p:txBody>
      </p:sp>
      <p:sp>
        <p:nvSpPr>
          <p:cNvPr id="20" name="Text 18"/>
          <p:cNvSpPr/>
          <p:nvPr/>
        </p:nvSpPr>
        <p:spPr>
          <a:xfrm>
            <a:off x="7509053" y="2871216"/>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A9C3C2"/>
                </a:solidFill>
                <a:latin typeface="Calibri" pitchFamily="34" charset="0"/>
                <a:ea typeface="Calibri" pitchFamily="34" charset="-122"/>
                <a:cs typeface="Calibri" pitchFamily="34" charset="-120"/>
              </a:rPr>
              <a:t>Returns are checked against each other and the books before the deadline, not after.</a:t>
            </a:r>
            <a:endParaRPr lang="en-US" sz="850" dirty="0"/>
          </a:p>
        </p:txBody>
      </p:sp>
      <p:sp>
        <p:nvSpPr>
          <p:cNvPr id="21" name="Shape 19"/>
          <p:cNvSpPr/>
          <p:nvPr/>
        </p:nvSpPr>
        <p:spPr>
          <a:xfrm>
            <a:off x="9579254" y="1773936"/>
            <a:ext cx="2051914" cy="1828800"/>
          </a:xfrm>
          <a:prstGeom prst="roundRect">
            <a:avLst>
              <a:gd name="adj" fmla="val 3500"/>
            </a:avLst>
          </a:prstGeom>
          <a:solidFill>
            <a:srgbClr val="0F3D3E"/>
          </a:solidFill>
          <a:ln w="12700">
            <a:solidFill>
              <a:srgbClr val="0F3D3E"/>
            </a:solidFill>
            <a:prstDash val="solid"/>
          </a:ln>
        </p:spPr>
      </p:sp>
      <p:sp>
        <p:nvSpPr>
          <p:cNvPr id="22" name="Text 20"/>
          <p:cNvSpPr/>
          <p:nvPr/>
        </p:nvSpPr>
        <p:spPr>
          <a:xfrm>
            <a:off x="9762134" y="1938528"/>
            <a:ext cx="329184" cy="329184"/>
          </a:xfrm>
          <a:prstGeom prst="ellipse">
            <a:avLst/>
          </a:prstGeom>
          <a:solidFill>
            <a:srgbClr val="C08428"/>
          </a:solidFill>
          <a:ln/>
        </p:spPr>
        <p:txBody>
          <a:bodyPr wrap="square" lIns="0" tIns="0" rIns="0" bIns="0" rtlCol="0" anchor="ctr"/>
          <a:lstStyle/>
          <a:p>
            <a:pPr algn="ctr" indent="0" marL="0">
              <a:buNone/>
            </a:pPr>
            <a:r>
              <a:rPr lang="en-US" sz="1200" b="1" dirty="0">
                <a:solidFill>
                  <a:srgbClr val="0F3D3E"/>
                </a:solidFill>
                <a:latin typeface="Calibri" pitchFamily="34" charset="0"/>
                <a:ea typeface="Calibri" pitchFamily="34" charset="-122"/>
                <a:cs typeface="Calibri" pitchFamily="34" charset="-120"/>
              </a:rPr>
              <a:t>5</a:t>
            </a:r>
            <a:endParaRPr lang="en-US" sz="1200" dirty="0"/>
          </a:p>
        </p:txBody>
      </p:sp>
      <p:sp>
        <p:nvSpPr>
          <p:cNvPr id="23" name="Text 21"/>
          <p:cNvSpPr/>
          <p:nvPr/>
        </p:nvSpPr>
        <p:spPr>
          <a:xfrm>
            <a:off x="9762134" y="2340864"/>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FFFFFF"/>
                </a:solidFill>
                <a:latin typeface="Cambria" pitchFamily="34" charset="0"/>
                <a:ea typeface="Cambria" pitchFamily="34" charset="-122"/>
                <a:cs typeface="Cambria" pitchFamily="34" charset="-120"/>
              </a:rPr>
              <a:t>Client Communication</a:t>
            </a:r>
            <a:endParaRPr lang="en-US" sz="1200" dirty="0"/>
          </a:p>
        </p:txBody>
      </p:sp>
      <p:sp>
        <p:nvSpPr>
          <p:cNvPr id="24" name="Text 22"/>
          <p:cNvSpPr/>
          <p:nvPr/>
        </p:nvSpPr>
        <p:spPr>
          <a:xfrm>
            <a:off x="9762134" y="2871216"/>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A9C3C2"/>
                </a:solidFill>
                <a:latin typeface="Calibri" pitchFamily="34" charset="0"/>
                <a:ea typeface="Calibri" pitchFamily="34" charset="-122"/>
                <a:cs typeface="Calibri" pitchFamily="34" charset="-120"/>
              </a:rPr>
              <a:t>Deadlines, pending documents and queries trigger the right message automatically.</a:t>
            </a:r>
            <a:endParaRPr lang="en-US" sz="850" dirty="0"/>
          </a:p>
        </p:txBody>
      </p:sp>
      <p:sp>
        <p:nvSpPr>
          <p:cNvPr id="25" name="Shape 23"/>
          <p:cNvSpPr/>
          <p:nvPr/>
        </p:nvSpPr>
        <p:spPr>
          <a:xfrm>
            <a:off x="566928" y="3840480"/>
            <a:ext cx="2051914" cy="1828800"/>
          </a:xfrm>
          <a:prstGeom prst="roundRect">
            <a:avLst>
              <a:gd name="adj" fmla="val 3500"/>
            </a:avLst>
          </a:prstGeom>
          <a:solidFill>
            <a:srgbClr val="EFF4F3"/>
          </a:solidFill>
          <a:ln w="12700">
            <a:solidFill>
              <a:srgbClr val="D5E0DE"/>
            </a:solidFill>
            <a:prstDash val="solid"/>
          </a:ln>
        </p:spPr>
      </p:sp>
      <p:sp>
        <p:nvSpPr>
          <p:cNvPr id="26" name="Text 24"/>
          <p:cNvSpPr/>
          <p:nvPr/>
        </p:nvSpPr>
        <p:spPr>
          <a:xfrm>
            <a:off x="749808" y="4005072"/>
            <a:ext cx="329184" cy="329184"/>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7" name="Text 25"/>
          <p:cNvSpPr/>
          <p:nvPr/>
        </p:nvSpPr>
        <p:spPr>
          <a:xfrm>
            <a:off x="749808" y="4407408"/>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0F3D3E"/>
                </a:solidFill>
                <a:latin typeface="Cambria" pitchFamily="34" charset="0"/>
                <a:ea typeface="Cambria" pitchFamily="34" charset="-122"/>
                <a:cs typeface="Cambria" pitchFamily="34" charset="-120"/>
              </a:rPr>
              <a:t>TDS / TCS Return Automation</a:t>
            </a:r>
            <a:endParaRPr lang="en-US" sz="1200" dirty="0"/>
          </a:p>
        </p:txBody>
      </p:sp>
      <p:sp>
        <p:nvSpPr>
          <p:cNvPr id="28" name="Text 26"/>
          <p:cNvSpPr/>
          <p:nvPr/>
        </p:nvSpPr>
        <p:spPr>
          <a:xfrm>
            <a:off x="749808" y="4937760"/>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5C6B6A"/>
                </a:solidFill>
                <a:latin typeface="Calibri" pitchFamily="34" charset="0"/>
                <a:ea typeface="Calibri" pitchFamily="34" charset="-122"/>
                <a:cs typeface="Calibri" pitchFamily="34" charset="-120"/>
              </a:rPr>
              <a:t>The GST reconciliation engine, pointed at Form 26AS and TRACES data.</a:t>
            </a:r>
            <a:endParaRPr lang="en-US" sz="850" dirty="0"/>
          </a:p>
        </p:txBody>
      </p:sp>
      <p:sp>
        <p:nvSpPr>
          <p:cNvPr id="29" name="Shape 27"/>
          <p:cNvSpPr/>
          <p:nvPr/>
        </p:nvSpPr>
        <p:spPr>
          <a:xfrm>
            <a:off x="2820010" y="3840480"/>
            <a:ext cx="2051914" cy="1828800"/>
          </a:xfrm>
          <a:prstGeom prst="roundRect">
            <a:avLst>
              <a:gd name="adj" fmla="val 3500"/>
            </a:avLst>
          </a:prstGeom>
          <a:solidFill>
            <a:srgbClr val="EFF4F3"/>
          </a:solidFill>
          <a:ln w="12700">
            <a:solidFill>
              <a:srgbClr val="D5E0DE"/>
            </a:solidFill>
            <a:prstDash val="solid"/>
          </a:ln>
        </p:spPr>
      </p:sp>
      <p:sp>
        <p:nvSpPr>
          <p:cNvPr id="30" name="Text 28"/>
          <p:cNvSpPr/>
          <p:nvPr/>
        </p:nvSpPr>
        <p:spPr>
          <a:xfrm>
            <a:off x="3002890" y="4005072"/>
            <a:ext cx="329184" cy="329184"/>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31" name="Text 29"/>
          <p:cNvSpPr/>
          <p:nvPr/>
        </p:nvSpPr>
        <p:spPr>
          <a:xfrm>
            <a:off x="3002890" y="4407408"/>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0F3D3E"/>
                </a:solidFill>
                <a:latin typeface="Cambria" pitchFamily="34" charset="0"/>
                <a:ea typeface="Cambria" pitchFamily="34" charset="-122"/>
                <a:cs typeface="Cambria" pitchFamily="34" charset="-120"/>
              </a:rPr>
              <a:t>Bank Reconciliation</a:t>
            </a:r>
            <a:endParaRPr lang="en-US" sz="1200" dirty="0"/>
          </a:p>
        </p:txBody>
      </p:sp>
      <p:sp>
        <p:nvSpPr>
          <p:cNvPr id="32" name="Text 30"/>
          <p:cNvSpPr/>
          <p:nvPr/>
        </p:nvSpPr>
        <p:spPr>
          <a:xfrm>
            <a:off x="3002890" y="4937760"/>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5C6B6A"/>
                </a:solidFill>
                <a:latin typeface="Calibri" pitchFamily="34" charset="0"/>
                <a:ea typeface="Calibri" pitchFamily="34" charset="-122"/>
                <a:cs typeface="Calibri" pitchFamily="34" charset="-120"/>
              </a:rPr>
              <a:t>Bank statements vs the bank book, across every account, with only gaps surfaced.</a:t>
            </a:r>
            <a:endParaRPr lang="en-US" sz="850" dirty="0"/>
          </a:p>
        </p:txBody>
      </p:sp>
      <p:sp>
        <p:nvSpPr>
          <p:cNvPr id="33" name="Shape 31"/>
          <p:cNvSpPr/>
          <p:nvPr/>
        </p:nvSpPr>
        <p:spPr>
          <a:xfrm>
            <a:off x="5073091" y="3840480"/>
            <a:ext cx="2051914" cy="1828800"/>
          </a:xfrm>
          <a:prstGeom prst="roundRect">
            <a:avLst>
              <a:gd name="adj" fmla="val 3500"/>
            </a:avLst>
          </a:prstGeom>
          <a:solidFill>
            <a:srgbClr val="EFF4F3"/>
          </a:solidFill>
          <a:ln w="12700">
            <a:solidFill>
              <a:srgbClr val="D5E0DE"/>
            </a:solidFill>
            <a:prstDash val="solid"/>
          </a:ln>
        </p:spPr>
      </p:sp>
      <p:sp>
        <p:nvSpPr>
          <p:cNvPr id="34" name="Text 32"/>
          <p:cNvSpPr/>
          <p:nvPr/>
        </p:nvSpPr>
        <p:spPr>
          <a:xfrm>
            <a:off x="5255971" y="4005072"/>
            <a:ext cx="329184" cy="329184"/>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35" name="Text 33"/>
          <p:cNvSpPr/>
          <p:nvPr/>
        </p:nvSpPr>
        <p:spPr>
          <a:xfrm>
            <a:off x="5255971" y="4407408"/>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0F3D3E"/>
                </a:solidFill>
                <a:latin typeface="Cambria" pitchFamily="34" charset="0"/>
                <a:ea typeface="Cambria" pitchFamily="34" charset="-122"/>
                <a:cs typeface="Cambria" pitchFamily="34" charset="-120"/>
              </a:rPr>
              <a:t>Working Papers</a:t>
            </a:r>
            <a:endParaRPr lang="en-US" sz="1200" dirty="0"/>
          </a:p>
        </p:txBody>
      </p:sp>
      <p:sp>
        <p:nvSpPr>
          <p:cNvPr id="36" name="Text 34"/>
          <p:cNvSpPr/>
          <p:nvPr/>
        </p:nvSpPr>
        <p:spPr>
          <a:xfrm>
            <a:off x="5255971" y="4937760"/>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5C6B6A"/>
                </a:solidFill>
                <a:latin typeface="Calibri" pitchFamily="34" charset="0"/>
                <a:ea typeface="Calibri" pitchFamily="34" charset="-122"/>
                <a:cs typeface="Calibri" pitchFamily="34" charset="-120"/>
              </a:rPr>
              <a:t>The factual backbone of every working paper, assembled before the auditor opens it.</a:t>
            </a:r>
            <a:endParaRPr lang="en-US" sz="850" dirty="0"/>
          </a:p>
        </p:txBody>
      </p:sp>
      <p:sp>
        <p:nvSpPr>
          <p:cNvPr id="37" name="Shape 35"/>
          <p:cNvSpPr/>
          <p:nvPr/>
        </p:nvSpPr>
        <p:spPr>
          <a:xfrm>
            <a:off x="7326173" y="3840480"/>
            <a:ext cx="2051914" cy="1828800"/>
          </a:xfrm>
          <a:prstGeom prst="roundRect">
            <a:avLst>
              <a:gd name="adj" fmla="val 3500"/>
            </a:avLst>
          </a:prstGeom>
          <a:solidFill>
            <a:srgbClr val="EFF4F3"/>
          </a:solidFill>
          <a:ln w="12700">
            <a:solidFill>
              <a:srgbClr val="D5E0DE"/>
            </a:solidFill>
            <a:prstDash val="solid"/>
          </a:ln>
        </p:spPr>
      </p:sp>
      <p:sp>
        <p:nvSpPr>
          <p:cNvPr id="38" name="Text 36"/>
          <p:cNvSpPr/>
          <p:nvPr/>
        </p:nvSpPr>
        <p:spPr>
          <a:xfrm>
            <a:off x="7509053" y="4005072"/>
            <a:ext cx="329184" cy="329184"/>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9</a:t>
            </a:r>
            <a:endParaRPr lang="en-US" sz="1200" dirty="0"/>
          </a:p>
        </p:txBody>
      </p:sp>
      <p:sp>
        <p:nvSpPr>
          <p:cNvPr id="39" name="Text 37"/>
          <p:cNvSpPr/>
          <p:nvPr/>
        </p:nvSpPr>
        <p:spPr>
          <a:xfrm>
            <a:off x="7509053" y="4407408"/>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0F3D3E"/>
                </a:solidFill>
                <a:latin typeface="Cambria" pitchFamily="34" charset="0"/>
                <a:ea typeface="Cambria" pitchFamily="34" charset="-122"/>
                <a:cs typeface="Cambria" pitchFamily="34" charset="-120"/>
              </a:rPr>
              <a:t>Practice Visibility</a:t>
            </a:r>
            <a:endParaRPr lang="en-US" sz="1200" dirty="0"/>
          </a:p>
        </p:txBody>
      </p:sp>
      <p:sp>
        <p:nvSpPr>
          <p:cNvPr id="40" name="Text 38"/>
          <p:cNvSpPr/>
          <p:nvPr/>
        </p:nvSpPr>
        <p:spPr>
          <a:xfrm>
            <a:off x="7509053" y="4937760"/>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5C6B6A"/>
                </a:solidFill>
                <a:latin typeface="Calibri" pitchFamily="34" charset="0"/>
                <a:ea typeface="Calibri" pitchFamily="34" charset="-122"/>
                <a:cs typeface="Calibri" pitchFamily="34" charset="-120"/>
              </a:rPr>
              <a:t>One calendar, real workload data, and overload flagged before the crunch arrives.</a:t>
            </a:r>
            <a:endParaRPr lang="en-US" sz="850" dirty="0"/>
          </a:p>
        </p:txBody>
      </p:sp>
      <p:sp>
        <p:nvSpPr>
          <p:cNvPr id="41" name="Shape 39"/>
          <p:cNvSpPr/>
          <p:nvPr/>
        </p:nvSpPr>
        <p:spPr>
          <a:xfrm>
            <a:off x="9579254" y="3840480"/>
            <a:ext cx="2051914" cy="1828800"/>
          </a:xfrm>
          <a:prstGeom prst="roundRect">
            <a:avLst>
              <a:gd name="adj" fmla="val 3500"/>
            </a:avLst>
          </a:prstGeom>
          <a:solidFill>
            <a:srgbClr val="EFF4F3"/>
          </a:solidFill>
          <a:ln w="12700">
            <a:solidFill>
              <a:srgbClr val="D5E0DE"/>
            </a:solidFill>
            <a:prstDash val="solid"/>
          </a:ln>
        </p:spPr>
      </p:sp>
      <p:sp>
        <p:nvSpPr>
          <p:cNvPr id="42" name="Text 40"/>
          <p:cNvSpPr/>
          <p:nvPr/>
        </p:nvSpPr>
        <p:spPr>
          <a:xfrm>
            <a:off x="9762134" y="4005072"/>
            <a:ext cx="329184" cy="329184"/>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3" name="Text 41"/>
          <p:cNvSpPr/>
          <p:nvPr/>
        </p:nvSpPr>
        <p:spPr>
          <a:xfrm>
            <a:off x="9762134" y="4407408"/>
            <a:ext cx="1686154" cy="548640"/>
          </a:xfrm>
          <a:prstGeom prst="rect">
            <a:avLst/>
          </a:prstGeom>
          <a:noFill/>
          <a:ln/>
        </p:spPr>
        <p:txBody>
          <a:bodyPr wrap="square" lIns="0" tIns="0" rIns="0" bIns="0" rtlCol="0" anchor="t"/>
          <a:lstStyle/>
          <a:p>
            <a:pPr indent="0" marL="0">
              <a:lnSpc>
                <a:spcPts val="1500"/>
              </a:lnSpc>
              <a:buNone/>
            </a:pPr>
            <a:r>
              <a:rPr lang="en-US" sz="1200" b="1" dirty="0">
                <a:solidFill>
                  <a:srgbClr val="0F3D3E"/>
                </a:solidFill>
                <a:latin typeface="Cambria" pitchFamily="34" charset="0"/>
                <a:ea typeface="Cambria" pitchFamily="34" charset="-122"/>
                <a:cs typeface="Cambria" pitchFamily="34" charset="-120"/>
              </a:rPr>
              <a:t>Client Billing</a:t>
            </a:r>
            <a:endParaRPr lang="en-US" sz="1200" dirty="0"/>
          </a:p>
        </p:txBody>
      </p:sp>
      <p:sp>
        <p:nvSpPr>
          <p:cNvPr id="44" name="Text 42"/>
          <p:cNvSpPr/>
          <p:nvPr/>
        </p:nvSpPr>
        <p:spPr>
          <a:xfrm>
            <a:off x="9762134" y="4937760"/>
            <a:ext cx="1686154" cy="658368"/>
          </a:xfrm>
          <a:prstGeom prst="rect">
            <a:avLst/>
          </a:prstGeom>
          <a:noFill/>
          <a:ln/>
        </p:spPr>
        <p:txBody>
          <a:bodyPr wrap="square" lIns="0" tIns="0" rIns="0" bIns="0" rtlCol="0" anchor="t"/>
          <a:lstStyle/>
          <a:p>
            <a:pPr indent="0" marL="0">
              <a:lnSpc>
                <a:spcPts val="1100"/>
              </a:lnSpc>
              <a:buNone/>
            </a:pPr>
            <a:r>
              <a:rPr lang="en-US" sz="850" dirty="0">
                <a:solidFill>
                  <a:srgbClr val="5C6B6A"/>
                </a:solidFill>
                <a:latin typeface="Calibri" pitchFamily="34" charset="0"/>
                <a:ea typeface="Calibri" pitchFamily="34" charset="-122"/>
                <a:cs typeface="Calibri" pitchFamily="34" charset="-120"/>
              </a:rPr>
              <a:t>Work delivered becomes a GST-compliant draft invoice, awaiting sign-off.</a:t>
            </a:r>
            <a:endParaRPr lang="en-US" sz="850" dirty="0"/>
          </a:p>
        </p:txBody>
      </p:sp>
      <p:sp>
        <p:nvSpPr>
          <p:cNvPr id="45" name="Text 43"/>
          <p:cNvSpPr/>
          <p:nvPr/>
        </p:nvSpPr>
        <p:spPr>
          <a:xfrm>
            <a:off x="566928" y="5943600"/>
            <a:ext cx="11064240" cy="310896"/>
          </a:xfrm>
          <a:prstGeom prst="rect">
            <a:avLst/>
          </a:prstGeom>
          <a:noFill/>
          <a:ln/>
        </p:spPr>
        <p:txBody>
          <a:bodyPr wrap="square" lIns="0" tIns="0" rIns="0" bIns="0" rtlCol="0" anchor="ctr"/>
          <a:lstStyle/>
          <a:p>
            <a:pPr indent="0" marL="0">
              <a:buNone/>
            </a:pPr>
            <a:r>
              <a:rPr lang="en-US" sz="1100" i="1" dirty="0">
                <a:solidFill>
                  <a:srgbClr val="5C6B6A"/>
                </a:solidFill>
                <a:latin typeface="Calibri" pitchFamily="34" charset="0"/>
                <a:ea typeface="Calibri" pitchFamily="34" charset="-122"/>
                <a:cs typeface="Calibri" pitchFamily="34" charset="-120"/>
              </a:rPr>
              <a:t>Agents 1–5 are the core build. Agents 6–10 reuse the same matching, task and approval machinery on adjacent problems.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01</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1. Document Intake</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Eliminate manual chasing and filing of client documents.</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603504"/>
          </a:xfrm>
          <a:prstGeom prst="rect">
            <a:avLst/>
          </a:prstGeom>
          <a:noFill/>
          <a:ln/>
        </p:spPr>
        <p:txBody>
          <a:bodyPr wrap="square" lIns="0" tIns="0" rIns="0" bIns="0" rtlCol="0" anchor="t"/>
          <a:lstStyle/>
          <a:p>
            <a:pPr indent="0" marL="0">
              <a:lnSpc>
                <a:spcPts val="1280"/>
              </a:lnSpc>
              <a:buNone/>
            </a:pPr>
            <a:r>
              <a:rPr lang="en-US" sz="1000" b="1" dirty="0">
                <a:solidFill>
                  <a:srgbClr val="0F3D3E"/>
                </a:solidFill>
                <a:latin typeface="Calibri" pitchFamily="34" charset="0"/>
                <a:ea typeface="Calibri" pitchFamily="34" charset="-122"/>
                <a:cs typeface="Calibri" pitchFamily="34" charset="-120"/>
              </a:rPr>
              <a:t>Client sends a document</a:t>
            </a:r>
            <a:pPr indent="0" marL="0">
              <a:lnSpc>
                <a:spcPts val="1280"/>
              </a:lnSpc>
              <a:buNone/>
            </a:pPr>
            <a:r>
              <a:rPr lang="en-US" sz="1000" dirty="0">
                <a:solidFill>
                  <a:srgbClr val="5C6B6A"/>
                </a:solidFill>
                <a:latin typeface="Calibri" pitchFamily="34" charset="0"/>
                <a:ea typeface="Calibri" pitchFamily="34" charset="-122"/>
                <a:cs typeface="Calibri" pitchFamily="34" charset="-120"/>
              </a:rPr>
              <a:t> — by email, primarily — over 99% of the practice's document flow already works this way, so nothing changes at the client's end.</a:t>
            </a:r>
            <a:endParaRPr lang="en-US" sz="1000" dirty="0"/>
          </a:p>
        </p:txBody>
      </p:sp>
      <p:sp>
        <p:nvSpPr>
          <p:cNvPr id="8" name="Text 6"/>
          <p:cNvSpPr/>
          <p:nvPr/>
        </p:nvSpPr>
        <p:spPr>
          <a:xfrm>
            <a:off x="566928" y="2560320"/>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505456"/>
            <a:ext cx="6199632" cy="603504"/>
          </a:xfrm>
          <a:prstGeom prst="rect">
            <a:avLst/>
          </a:prstGeom>
          <a:noFill/>
          <a:ln/>
        </p:spPr>
        <p:txBody>
          <a:bodyPr wrap="square" lIns="0" tIns="0" rIns="0" bIns="0" rtlCol="0" anchor="t"/>
          <a:lstStyle/>
          <a:p>
            <a:pPr indent="0" marL="0">
              <a:lnSpc>
                <a:spcPts val="1280"/>
              </a:lnSpc>
              <a:buNone/>
            </a:pPr>
            <a:r>
              <a:rPr lang="en-US" sz="1000" b="1" dirty="0">
                <a:solidFill>
                  <a:srgbClr val="0F3D3E"/>
                </a:solidFill>
                <a:latin typeface="Calibri" pitchFamily="34" charset="0"/>
                <a:ea typeface="Calibri" pitchFamily="34" charset="-122"/>
                <a:cs typeface="Calibri" pitchFamily="34" charset="-120"/>
              </a:rPr>
              <a:t>CAOS identifies client and document type</a:t>
            </a:r>
            <a:pPr indent="0" marL="0">
              <a:lnSpc>
                <a:spcPts val="1280"/>
              </a:lnSpc>
              <a:buNone/>
            </a:pPr>
            <a:r>
              <a:rPr lang="en-US" sz="1000" dirty="0">
                <a:solidFill>
                  <a:srgbClr val="5C6B6A"/>
                </a:solidFill>
                <a:latin typeface="Calibri" pitchFamily="34" charset="0"/>
                <a:ea typeface="Calibri" pitchFamily="34" charset="-122"/>
                <a:cs typeface="Calibri" pitchFamily="34" charset="-120"/>
              </a:rPr>
              <a:t> — it recognises which client the document belongs to and classifies it: invoice, bank statement, GSTR filing, Form 26AS, and so on.</a:t>
            </a:r>
            <a:endParaRPr lang="en-US" sz="1000" dirty="0"/>
          </a:p>
        </p:txBody>
      </p:sp>
      <p:sp>
        <p:nvSpPr>
          <p:cNvPr id="10" name="Text 8"/>
          <p:cNvSpPr/>
          <p:nvPr/>
        </p:nvSpPr>
        <p:spPr>
          <a:xfrm>
            <a:off x="566928" y="3218688"/>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163824"/>
            <a:ext cx="6199632" cy="603504"/>
          </a:xfrm>
          <a:prstGeom prst="rect">
            <a:avLst/>
          </a:prstGeom>
          <a:noFill/>
          <a:ln/>
        </p:spPr>
        <p:txBody>
          <a:bodyPr wrap="square" lIns="0" tIns="0" rIns="0" bIns="0" rtlCol="0" anchor="t"/>
          <a:lstStyle/>
          <a:p>
            <a:pPr indent="0" marL="0">
              <a:lnSpc>
                <a:spcPts val="1280"/>
              </a:lnSpc>
              <a:buNone/>
            </a:pPr>
            <a:r>
              <a:rPr lang="en-US" sz="1000" b="1" dirty="0">
                <a:solidFill>
                  <a:srgbClr val="0F3D3E"/>
                </a:solidFill>
                <a:latin typeface="Calibri" pitchFamily="34" charset="0"/>
                <a:ea typeface="Calibri" pitchFamily="34" charset="-122"/>
                <a:cs typeface="Calibri" pitchFamily="34" charset="-120"/>
              </a:rPr>
              <a:t>Key data is extracted</a:t>
            </a:r>
            <a:pPr indent="0" marL="0">
              <a:lnSpc>
                <a:spcPts val="1280"/>
              </a:lnSpc>
              <a:buNone/>
            </a:pPr>
            <a:r>
              <a:rPr lang="en-US" sz="1000" dirty="0">
                <a:solidFill>
                  <a:srgbClr val="5C6B6A"/>
                </a:solidFill>
                <a:latin typeface="Calibri" pitchFamily="34" charset="0"/>
                <a:ea typeface="Calibri" pitchFamily="34" charset="-122"/>
                <a:cs typeface="Calibri" pitchFamily="34" charset="-120"/>
              </a:rPr>
              <a:t> — amounts, dates, GSTIN and vendor name are pulled out, ready for the next agent (usually Bookkeeping) to use.</a:t>
            </a:r>
            <a:endParaRPr lang="en-US" sz="1000" dirty="0"/>
          </a:p>
        </p:txBody>
      </p:sp>
      <p:sp>
        <p:nvSpPr>
          <p:cNvPr id="12" name="Text 10"/>
          <p:cNvSpPr/>
          <p:nvPr/>
        </p:nvSpPr>
        <p:spPr>
          <a:xfrm>
            <a:off x="566928" y="3877056"/>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 name="Text 11"/>
          <p:cNvSpPr/>
          <p:nvPr/>
        </p:nvSpPr>
        <p:spPr>
          <a:xfrm>
            <a:off x="950976" y="3822192"/>
            <a:ext cx="6199632" cy="603504"/>
          </a:xfrm>
          <a:prstGeom prst="rect">
            <a:avLst/>
          </a:prstGeom>
          <a:noFill/>
          <a:ln/>
        </p:spPr>
        <p:txBody>
          <a:bodyPr wrap="square" lIns="0" tIns="0" rIns="0" bIns="0" rtlCol="0" anchor="t"/>
          <a:lstStyle/>
          <a:p>
            <a:pPr indent="0" marL="0">
              <a:lnSpc>
                <a:spcPts val="1280"/>
              </a:lnSpc>
              <a:buNone/>
            </a:pPr>
            <a:r>
              <a:rPr lang="en-US" sz="1000" b="1" dirty="0">
                <a:solidFill>
                  <a:srgbClr val="0F3D3E"/>
                </a:solidFill>
                <a:latin typeface="Calibri" pitchFamily="34" charset="0"/>
                <a:ea typeface="Calibri" pitchFamily="34" charset="-122"/>
                <a:cs typeface="Calibri" pitchFamily="34" charset="-120"/>
              </a:rPr>
              <a:t>The document is filed automatically</a:t>
            </a:r>
            <a:pPr indent="0" marL="0">
              <a:lnSpc>
                <a:spcPts val="1280"/>
              </a:lnSpc>
              <a:buNone/>
            </a:pPr>
            <a:r>
              <a:rPr lang="en-US" sz="1000" dirty="0">
                <a:solidFill>
                  <a:srgbClr val="5C6B6A"/>
                </a:solidFill>
                <a:latin typeface="Calibri" pitchFamily="34" charset="0"/>
                <a:ea typeface="Calibri" pitchFamily="34" charset="-122"/>
                <a:cs typeface="Calibri" pitchFamily="34" charset="-120"/>
              </a:rPr>
              <a:t> — it lands in the correct client and period folder — no one sorts or renames anything.</a:t>
            </a:r>
            <a:endParaRPr lang="en-US" sz="1000" dirty="0"/>
          </a:p>
        </p:txBody>
      </p:sp>
      <p:sp>
        <p:nvSpPr>
          <p:cNvPr id="14" name="Text 12"/>
          <p:cNvSpPr/>
          <p:nvPr/>
        </p:nvSpPr>
        <p:spPr>
          <a:xfrm>
            <a:off x="566928" y="4535424"/>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5" name="Text 13"/>
          <p:cNvSpPr/>
          <p:nvPr/>
        </p:nvSpPr>
        <p:spPr>
          <a:xfrm>
            <a:off x="950976" y="4480560"/>
            <a:ext cx="6199632" cy="603504"/>
          </a:xfrm>
          <a:prstGeom prst="rect">
            <a:avLst/>
          </a:prstGeom>
          <a:noFill/>
          <a:ln/>
        </p:spPr>
        <p:txBody>
          <a:bodyPr wrap="square" lIns="0" tIns="0" rIns="0" bIns="0" rtlCol="0" anchor="t"/>
          <a:lstStyle/>
          <a:p>
            <a:pPr indent="0" marL="0">
              <a:lnSpc>
                <a:spcPts val="1280"/>
              </a:lnSpc>
              <a:buNone/>
            </a:pPr>
            <a:r>
              <a:rPr lang="en-US" sz="1000" b="1" dirty="0">
                <a:solidFill>
                  <a:srgbClr val="0F3D3E"/>
                </a:solidFill>
                <a:latin typeface="Calibri" pitchFamily="34" charset="0"/>
                <a:ea typeface="Calibri" pitchFamily="34" charset="-122"/>
                <a:cs typeface="Calibri" pitchFamily="34" charset="-120"/>
              </a:rPr>
              <a:t>The checklist stays current</a:t>
            </a:r>
            <a:pPr indent="0" marL="0">
              <a:lnSpc>
                <a:spcPts val="1280"/>
              </a:lnSpc>
              <a:buNone/>
            </a:pPr>
            <a:r>
              <a:rPr lang="en-US" sz="1000" dirty="0">
                <a:solidFill>
                  <a:srgbClr val="5C6B6A"/>
                </a:solidFill>
                <a:latin typeface="Calibri" pitchFamily="34" charset="0"/>
                <a:ea typeface="Calibri" pitchFamily="34" charset="-122"/>
                <a:cs typeface="Calibri" pitchFamily="34" charset="-120"/>
              </a:rPr>
              <a:t> — a running view shows exactly what is still outstanding for each client and period, so nothing quietly falls through.</a:t>
            </a:r>
            <a:endParaRPr lang="en-US" sz="1000" dirty="0"/>
          </a:p>
        </p:txBody>
      </p:sp>
      <p:sp>
        <p:nvSpPr>
          <p:cNvPr id="16" name="Text 14"/>
          <p:cNvSpPr/>
          <p:nvPr/>
        </p:nvSpPr>
        <p:spPr>
          <a:xfrm>
            <a:off x="566928" y="519379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6</a:t>
            </a:r>
            <a:endParaRPr lang="en-US" sz="1000" dirty="0"/>
          </a:p>
        </p:txBody>
      </p:sp>
      <p:sp>
        <p:nvSpPr>
          <p:cNvPr id="17" name="Text 15"/>
          <p:cNvSpPr/>
          <p:nvPr/>
        </p:nvSpPr>
        <p:spPr>
          <a:xfrm>
            <a:off x="950976" y="5138928"/>
            <a:ext cx="6199632" cy="603504"/>
          </a:xfrm>
          <a:prstGeom prst="rect">
            <a:avLst/>
          </a:prstGeom>
          <a:noFill/>
          <a:ln/>
        </p:spPr>
        <p:txBody>
          <a:bodyPr wrap="square" lIns="0" tIns="0" rIns="0" bIns="0" rtlCol="0" anchor="t"/>
          <a:lstStyle/>
          <a:p>
            <a:pPr indent="0" marL="0">
              <a:lnSpc>
                <a:spcPts val="1280"/>
              </a:lnSpc>
              <a:buNone/>
            </a:pPr>
            <a:r>
              <a:rPr lang="en-US" sz="1000" b="1" dirty="0">
                <a:solidFill>
                  <a:srgbClr val="0F3D3E"/>
                </a:solidFill>
                <a:latin typeface="Calibri" pitchFamily="34" charset="0"/>
                <a:ea typeface="Calibri" pitchFamily="34" charset="-122"/>
                <a:cs typeface="Calibri" pitchFamily="34" charset="-120"/>
              </a:rPr>
              <a:t>Reminders go out automatically</a:t>
            </a:r>
            <a:pPr indent="0" marL="0">
              <a:lnSpc>
                <a:spcPts val="1280"/>
              </a:lnSpc>
              <a:buNone/>
            </a:pPr>
            <a:r>
              <a:rPr lang="en-US" sz="1000" dirty="0">
                <a:solidFill>
                  <a:srgbClr val="5C6B6A"/>
                </a:solidFill>
                <a:latin typeface="Calibri" pitchFamily="34" charset="0"/>
                <a:ea typeface="Calibri" pitchFamily="34" charset="-122"/>
                <a:cs typeface="Calibri" pitchFamily="34" charset="-120"/>
              </a:rPr>
              <a:t> — if something is still missing beyond a set number of days, the client is chased without staff tracking it manually.</a:t>
            </a:r>
            <a:endParaRPr lang="en-US" sz="1000" dirty="0"/>
          </a:p>
        </p:txBody>
      </p:sp>
      <p:sp>
        <p:nvSpPr>
          <p:cNvPr id="18" name="Shape 16"/>
          <p:cNvSpPr/>
          <p:nvPr/>
        </p:nvSpPr>
        <p:spPr>
          <a:xfrm>
            <a:off x="566928" y="5724144"/>
            <a:ext cx="6583680" cy="585216"/>
          </a:xfrm>
          <a:prstGeom prst="roundRect">
            <a:avLst>
              <a:gd name="adj" fmla="val 10938"/>
            </a:avLst>
          </a:prstGeom>
          <a:solidFill>
            <a:srgbClr val="E2ECEA"/>
          </a:solidFill>
          <a:ln w="12700">
            <a:solidFill>
              <a:srgbClr val="E2ECEA"/>
            </a:solidFill>
            <a:prstDash val="solid"/>
          </a:ln>
        </p:spPr>
      </p:sp>
      <p:sp>
        <p:nvSpPr>
          <p:cNvPr id="19" name="Text 17"/>
          <p:cNvSpPr/>
          <p:nvPr/>
        </p:nvSpPr>
        <p:spPr>
          <a:xfrm>
            <a:off x="768096" y="5779008"/>
            <a:ext cx="6181344" cy="475488"/>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Staff review only the exceptions — a document CAOS can't confidently classify or read.</a:t>
            </a:r>
            <a:endParaRPr lang="en-US" sz="1000" dirty="0"/>
          </a:p>
        </p:txBody>
      </p:sp>
      <p:sp>
        <p:nvSpPr>
          <p:cNvPr id="20" name="Shape 18"/>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21" name="Text 19"/>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22" name="Text 20"/>
          <p:cNvSpPr/>
          <p:nvPr/>
        </p:nvSpPr>
        <p:spPr>
          <a:xfrm>
            <a:off x="7914132" y="192024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Client sends document</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(email)</a:t>
            </a:r>
            <a:endParaRPr lang="en-US" sz="800" dirty="0"/>
          </a:p>
        </p:txBody>
      </p:sp>
      <p:sp>
        <p:nvSpPr>
          <p:cNvPr id="23" name="Text 21"/>
          <p:cNvSpPr/>
          <p:nvPr/>
        </p:nvSpPr>
        <p:spPr>
          <a:xfrm>
            <a:off x="7914132" y="2557272"/>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CAOS identifies client</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 document type</a:t>
            </a:r>
            <a:endParaRPr lang="en-US" sz="800" dirty="0"/>
          </a:p>
        </p:txBody>
      </p:sp>
      <p:sp>
        <p:nvSpPr>
          <p:cNvPr id="24" name="Shape 22"/>
          <p:cNvSpPr/>
          <p:nvPr/>
        </p:nvSpPr>
        <p:spPr>
          <a:xfrm>
            <a:off x="9560052" y="2414016"/>
            <a:ext cx="0" cy="134112"/>
          </a:xfrm>
          <a:prstGeom prst="line">
            <a:avLst/>
          </a:prstGeom>
          <a:noFill/>
          <a:ln w="15875">
            <a:solidFill>
              <a:srgbClr val="9AB0AE"/>
            </a:solidFill>
            <a:prstDash val="solid"/>
            <a:tailEnd type="triangle"/>
          </a:ln>
        </p:spPr>
      </p:sp>
      <p:sp>
        <p:nvSpPr>
          <p:cNvPr id="25" name="Text 23"/>
          <p:cNvSpPr/>
          <p:nvPr/>
        </p:nvSpPr>
        <p:spPr>
          <a:xfrm>
            <a:off x="7914132" y="3194304"/>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Key data extracted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(amount, date, GSTIN, vendor)</a:t>
            </a:r>
            <a:endParaRPr lang="en-US" sz="800" dirty="0"/>
          </a:p>
        </p:txBody>
      </p:sp>
      <p:sp>
        <p:nvSpPr>
          <p:cNvPr id="26" name="Shape 24"/>
          <p:cNvSpPr/>
          <p:nvPr/>
        </p:nvSpPr>
        <p:spPr>
          <a:xfrm>
            <a:off x="9560052" y="3051048"/>
            <a:ext cx="0" cy="134112"/>
          </a:xfrm>
          <a:prstGeom prst="line">
            <a:avLst/>
          </a:prstGeom>
          <a:noFill/>
          <a:ln w="15875">
            <a:solidFill>
              <a:srgbClr val="9AB0AE"/>
            </a:solidFill>
            <a:prstDash val="solid"/>
            <a:tailEnd type="triangle"/>
          </a:ln>
        </p:spPr>
      </p:sp>
      <p:sp>
        <p:nvSpPr>
          <p:cNvPr id="27" name="Text 25"/>
          <p:cNvSpPr/>
          <p:nvPr/>
        </p:nvSpPr>
        <p:spPr>
          <a:xfrm>
            <a:off x="7914132" y="3831336"/>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Auto-filed to client/period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folder · checklist updated</a:t>
            </a:r>
            <a:endParaRPr lang="en-US" sz="800" dirty="0"/>
          </a:p>
        </p:txBody>
      </p:sp>
      <p:sp>
        <p:nvSpPr>
          <p:cNvPr id="28" name="Shape 26"/>
          <p:cNvSpPr/>
          <p:nvPr/>
        </p:nvSpPr>
        <p:spPr>
          <a:xfrm>
            <a:off x="9560052" y="3688080"/>
            <a:ext cx="0" cy="134112"/>
          </a:xfrm>
          <a:prstGeom prst="line">
            <a:avLst/>
          </a:prstGeom>
          <a:noFill/>
          <a:ln w="15875">
            <a:solidFill>
              <a:srgbClr val="9AB0AE"/>
            </a:solidFill>
            <a:prstDash val="solid"/>
            <a:tailEnd type="triangle"/>
          </a:ln>
        </p:spPr>
      </p:sp>
      <p:sp>
        <p:nvSpPr>
          <p:cNvPr id="29" name="Text 27"/>
          <p:cNvSpPr/>
          <p:nvPr/>
        </p:nvSpPr>
        <p:spPr>
          <a:xfrm>
            <a:off x="8257032" y="4468368"/>
            <a:ext cx="2606040" cy="566928"/>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Missing beyond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X days?</a:t>
            </a:r>
            <a:endParaRPr lang="en-US" sz="800" dirty="0"/>
          </a:p>
        </p:txBody>
      </p:sp>
      <p:sp>
        <p:nvSpPr>
          <p:cNvPr id="30" name="Shape 28"/>
          <p:cNvSpPr/>
          <p:nvPr/>
        </p:nvSpPr>
        <p:spPr>
          <a:xfrm>
            <a:off x="9560052" y="4325112"/>
            <a:ext cx="0" cy="134112"/>
          </a:xfrm>
          <a:prstGeom prst="line">
            <a:avLst/>
          </a:prstGeom>
          <a:noFill/>
          <a:ln w="15875">
            <a:solidFill>
              <a:srgbClr val="9AB0AE"/>
            </a:solidFill>
            <a:prstDash val="solid"/>
            <a:tailEnd type="triangle"/>
          </a:ln>
        </p:spPr>
      </p:sp>
      <p:sp>
        <p:nvSpPr>
          <p:cNvPr id="31" name="Text 29"/>
          <p:cNvSpPr/>
          <p:nvPr/>
        </p:nvSpPr>
        <p:spPr>
          <a:xfrm>
            <a:off x="7479792" y="5178552"/>
            <a:ext cx="1961388" cy="530352"/>
          </a:xfrm>
          <a:prstGeom prst="roundRect">
            <a:avLst>
              <a:gd name="adj" fmla="val 8621"/>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Reminder sent</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to client</a:t>
            </a:r>
            <a:endParaRPr lang="en-US" sz="800" dirty="0"/>
          </a:p>
        </p:txBody>
      </p:sp>
      <p:sp>
        <p:nvSpPr>
          <p:cNvPr id="32" name="Shape 30"/>
          <p:cNvSpPr/>
          <p:nvPr/>
        </p:nvSpPr>
        <p:spPr>
          <a:xfrm flipH="1">
            <a:off x="8460486" y="5035296"/>
            <a:ext cx="1099566" cy="134112"/>
          </a:xfrm>
          <a:prstGeom prst="line">
            <a:avLst/>
          </a:prstGeom>
          <a:noFill/>
          <a:ln w="15875">
            <a:solidFill>
              <a:srgbClr val="9AB0AE"/>
            </a:solidFill>
            <a:prstDash val="solid"/>
            <a:tailEnd type="triangle"/>
          </a:ln>
        </p:spPr>
      </p:sp>
      <p:sp>
        <p:nvSpPr>
          <p:cNvPr id="33" name="Text 31"/>
          <p:cNvSpPr/>
          <p:nvPr/>
        </p:nvSpPr>
        <p:spPr>
          <a:xfrm>
            <a:off x="8607933" y="5006340"/>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yes</a:t>
            </a:r>
            <a:endParaRPr lang="en-US" sz="750" dirty="0"/>
          </a:p>
        </p:txBody>
      </p:sp>
      <p:sp>
        <p:nvSpPr>
          <p:cNvPr id="34" name="Text 32"/>
          <p:cNvSpPr/>
          <p:nvPr/>
        </p:nvSpPr>
        <p:spPr>
          <a:xfrm>
            <a:off x="9678924" y="5178552"/>
            <a:ext cx="1961388" cy="530352"/>
          </a:xfrm>
          <a:prstGeom prst="roundRect">
            <a:avLst>
              <a:gd name="adj" fmla="val 8621"/>
            </a:avLst>
          </a:prstGeom>
          <a:solidFill>
            <a:srgbClr val="EFF4F3"/>
          </a:solidFill>
          <a:ln w="12700">
            <a:solidFill>
              <a:srgbClr val="D5E0DE"/>
            </a:solidFill>
            <a:prstDash val="solid"/>
          </a:ln>
        </p:spPr>
        <p:txBody>
          <a:bodyPr wrap="square" lIns="0" tIns="0" rIns="0" bIns="0" rtlCol="0" anchor="ctr"/>
          <a:lstStyle/>
          <a:p>
            <a:pPr algn="ctr" indent="0" marL="0">
              <a:lnSpc>
                <a:spcPts val="944"/>
              </a:lnSpc>
              <a:buNone/>
            </a:pPr>
            <a:r>
              <a:rPr lang="en-US" sz="800" b="1" dirty="0">
                <a:solidFill>
                  <a:srgbClr val="0F3D3E"/>
                </a:solidFill>
                <a:latin typeface="Calibri" pitchFamily="34" charset="0"/>
                <a:ea typeface="Calibri" pitchFamily="34" charset="-122"/>
                <a:cs typeface="Calibri" pitchFamily="34" charset="-120"/>
              </a:rPr>
              <a:t>Nothing to do</a:t>
            </a:r>
            <a:endParaRPr lang="en-US" sz="800" dirty="0"/>
          </a:p>
        </p:txBody>
      </p:sp>
      <p:sp>
        <p:nvSpPr>
          <p:cNvPr id="35" name="Shape 33"/>
          <p:cNvSpPr/>
          <p:nvPr/>
        </p:nvSpPr>
        <p:spPr>
          <a:xfrm>
            <a:off x="9560052" y="5035296"/>
            <a:ext cx="1099566" cy="134112"/>
          </a:xfrm>
          <a:prstGeom prst="line">
            <a:avLst/>
          </a:prstGeom>
          <a:noFill/>
          <a:ln w="15875">
            <a:solidFill>
              <a:srgbClr val="9AB0AE"/>
            </a:solidFill>
            <a:prstDash val="solid"/>
            <a:tailEnd type="triangle"/>
          </a:ln>
        </p:spPr>
      </p:sp>
      <p:sp>
        <p:nvSpPr>
          <p:cNvPr id="36" name="Text 34"/>
          <p:cNvSpPr/>
          <p:nvPr/>
        </p:nvSpPr>
        <p:spPr>
          <a:xfrm>
            <a:off x="10000107" y="5006340"/>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no</a:t>
            </a:r>
            <a:endParaRPr lang="en-US" sz="750" dirty="0"/>
          </a:p>
        </p:txBody>
      </p:sp>
      <p:sp>
        <p:nvSpPr>
          <p:cNvPr id="37" name="Text 35"/>
          <p:cNvSpPr/>
          <p:nvPr/>
        </p:nvSpPr>
        <p:spPr>
          <a:xfrm>
            <a:off x="7914132" y="5852160"/>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Staff review only unreadable or</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misclassified documents</a:t>
            </a:r>
            <a:endParaRPr lang="en-US" sz="800" dirty="0"/>
          </a:p>
        </p:txBody>
      </p:sp>
      <p:sp>
        <p:nvSpPr>
          <p:cNvPr id="38" name="Shape 36"/>
          <p:cNvSpPr/>
          <p:nvPr/>
        </p:nvSpPr>
        <p:spPr>
          <a:xfrm>
            <a:off x="8460486" y="5708904"/>
            <a:ext cx="1099566" cy="134112"/>
          </a:xfrm>
          <a:prstGeom prst="line">
            <a:avLst/>
          </a:prstGeom>
          <a:noFill/>
          <a:ln w="15875">
            <a:solidFill>
              <a:srgbClr val="9AB0AE"/>
            </a:solidFill>
            <a:prstDash val="solid"/>
            <a:tailEnd type="triangle"/>
          </a:ln>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02</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2. Bookkeeping / Voucher Entry</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Automate the largest manual labour pool in the practice today — entering client purchase and sales records into Tally.</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594360"/>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Line items are extracted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vendor name, date, amount, GST and HSN code are pulled from the intake document.</a:t>
            </a:r>
            <a:endParaRPr lang="en-US" sz="1050" dirty="0"/>
          </a:p>
        </p:txBody>
      </p:sp>
      <p:sp>
        <p:nvSpPr>
          <p:cNvPr id="8" name="Text 6"/>
          <p:cNvSpPr/>
          <p:nvPr/>
        </p:nvSpPr>
        <p:spPr>
          <a:xfrm>
            <a:off x="566928" y="2551176"/>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496312"/>
            <a:ext cx="6199632" cy="594360"/>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Vendor is matched to an existing ledger</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CAOS compares the vendor name against the practice's Tally ledgers, allowing for minor spelling and formatting variations. A confident match stages a draft voucher; no confident match becomes a task to confirm or create a ledger, rather than a guess and a misposted entry.</a:t>
            </a:r>
            <a:endParaRPr lang="en-US" sz="1050" dirty="0"/>
          </a:p>
        </p:txBody>
      </p:sp>
      <p:sp>
        <p:nvSpPr>
          <p:cNvPr id="10" name="Text 8"/>
          <p:cNvSpPr/>
          <p:nvPr/>
        </p:nvSpPr>
        <p:spPr>
          <a:xfrm>
            <a:off x="566928" y="3200400"/>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145536"/>
            <a:ext cx="6199632" cy="594360"/>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Staff review the staged voucher</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the original source document sits alongside the draft on screen, so a quick visual check against the invoice is all it takes.</a:t>
            </a:r>
            <a:endParaRPr lang="en-US" sz="1050" dirty="0"/>
          </a:p>
        </p:txBody>
      </p:sp>
      <p:sp>
        <p:nvSpPr>
          <p:cNvPr id="12" name="Text 10"/>
          <p:cNvSpPr/>
          <p:nvPr/>
        </p:nvSpPr>
        <p:spPr>
          <a:xfrm>
            <a:off x="566928" y="3849624"/>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 name="Text 11"/>
          <p:cNvSpPr/>
          <p:nvPr/>
        </p:nvSpPr>
        <p:spPr>
          <a:xfrm>
            <a:off x="950976" y="3794760"/>
            <a:ext cx="6199632" cy="594360"/>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Approved vouchers post to Tally</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once approved, the voucher is entered directly — no re-typing.</a:t>
            </a:r>
            <a:endParaRPr lang="en-US" sz="1050" dirty="0"/>
          </a:p>
        </p:txBody>
      </p:sp>
      <p:sp>
        <p:nvSpPr>
          <p:cNvPr id="14" name="Shape 12"/>
          <p:cNvSpPr/>
          <p:nvPr/>
        </p:nvSpPr>
        <p:spPr>
          <a:xfrm>
            <a:off x="566928" y="4334256"/>
            <a:ext cx="6583680" cy="1042416"/>
          </a:xfrm>
          <a:prstGeom prst="roundRect">
            <a:avLst>
              <a:gd name="adj" fmla="val 6140"/>
            </a:avLst>
          </a:prstGeom>
          <a:solidFill>
            <a:srgbClr val="F3E7CE"/>
          </a:solidFill>
          <a:ln w="12700">
            <a:solidFill>
              <a:srgbClr val="F3E7CE"/>
            </a:solidFill>
            <a:prstDash val="solid"/>
          </a:ln>
        </p:spPr>
      </p:sp>
      <p:sp>
        <p:nvSpPr>
          <p:cNvPr id="15" name="Text 13"/>
          <p:cNvSpPr/>
          <p:nvPr/>
        </p:nvSpPr>
        <p:spPr>
          <a:xfrm>
            <a:off x="768096" y="4416552"/>
            <a:ext cx="618134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WORKED EXAMPLE</a:t>
            </a:r>
            <a:endParaRPr lang="en-US" sz="900" dirty="0"/>
          </a:p>
        </p:txBody>
      </p:sp>
      <p:sp>
        <p:nvSpPr>
          <p:cNvPr id="16" name="Text 14"/>
          <p:cNvSpPr/>
          <p:nvPr/>
        </p:nvSpPr>
        <p:spPr>
          <a:xfrm>
            <a:off x="768096" y="4626864"/>
            <a:ext cx="6181344" cy="640080"/>
          </a:xfrm>
          <a:prstGeom prst="rect">
            <a:avLst/>
          </a:prstGeom>
          <a:noFill/>
          <a:ln/>
        </p:spPr>
        <p:txBody>
          <a:bodyPr wrap="square" lIns="0" tIns="0" rIns="0" bIns="0" rtlCol="0" anchor="t"/>
          <a:lstStyle/>
          <a:p>
            <a:pPr indent="0" marL="0">
              <a:lnSpc>
                <a:spcPts val="1280"/>
              </a:lnSpc>
              <a:buNone/>
            </a:pPr>
            <a:r>
              <a:rPr lang="en-US" sz="1000" dirty="0">
                <a:solidFill>
                  <a:srgbClr val="0F3D3E"/>
                </a:solidFill>
                <a:latin typeface="Calibri" pitchFamily="34" charset="0"/>
                <a:ea typeface="Calibri" pitchFamily="34" charset="-122"/>
                <a:cs typeface="Calibri" pitchFamily="34" charset="-120"/>
              </a:rPr>
              <a:t>An invoice from “Coastal Components Pvt Ltd” arrives. CAOS matches it to the existing “Coastal Components” ledger despite the slightly different name, extracts the amount and GST split, and stages a draft voucher — ready for a one-glance approval rather than manual re-entry.</a:t>
            </a:r>
            <a:endParaRPr lang="en-US" sz="1000" dirty="0"/>
          </a:p>
        </p:txBody>
      </p:sp>
      <p:sp>
        <p:nvSpPr>
          <p:cNvPr id="17" name="Shape 15"/>
          <p:cNvSpPr/>
          <p:nvPr/>
        </p:nvSpPr>
        <p:spPr>
          <a:xfrm>
            <a:off x="566928" y="5522976"/>
            <a:ext cx="6583680" cy="786384"/>
          </a:xfrm>
          <a:prstGeom prst="roundRect">
            <a:avLst>
              <a:gd name="adj" fmla="val 8140"/>
            </a:avLst>
          </a:prstGeom>
          <a:solidFill>
            <a:srgbClr val="E2ECEA"/>
          </a:solidFill>
          <a:ln w="12700">
            <a:solidFill>
              <a:srgbClr val="E2ECEA"/>
            </a:solidFill>
            <a:prstDash val="solid"/>
          </a:ln>
        </p:spPr>
      </p:sp>
      <p:sp>
        <p:nvSpPr>
          <p:cNvPr id="18" name="Text 16"/>
          <p:cNvSpPr/>
          <p:nvPr/>
        </p:nvSpPr>
        <p:spPr>
          <a:xfrm>
            <a:off x="768096" y="5577840"/>
            <a:ext cx="6181344" cy="676656"/>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Staff review every staged voucher before it posts — nothing enters Tally without a human confirming it, even on high-confidence matches.</a:t>
            </a:r>
            <a:endParaRPr lang="en-US" sz="1000" dirty="0"/>
          </a:p>
        </p:txBody>
      </p:sp>
      <p:sp>
        <p:nvSpPr>
          <p:cNvPr id="19" name="Shape 17"/>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20" name="Text 18"/>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21" name="Text 19"/>
          <p:cNvSpPr/>
          <p:nvPr/>
        </p:nvSpPr>
        <p:spPr>
          <a:xfrm>
            <a:off x="7914132" y="192024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Line items extracted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(vendor, date, amount, GST)</a:t>
            </a:r>
            <a:endParaRPr lang="en-US" sz="800" dirty="0"/>
          </a:p>
        </p:txBody>
      </p:sp>
      <p:sp>
        <p:nvSpPr>
          <p:cNvPr id="22" name="Text 20"/>
          <p:cNvSpPr/>
          <p:nvPr/>
        </p:nvSpPr>
        <p:spPr>
          <a:xfrm>
            <a:off x="7914132" y="2557272"/>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Vendor matched to</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Tally ledger</a:t>
            </a:r>
            <a:endParaRPr lang="en-US" sz="800" dirty="0"/>
          </a:p>
        </p:txBody>
      </p:sp>
      <p:sp>
        <p:nvSpPr>
          <p:cNvPr id="23" name="Shape 21"/>
          <p:cNvSpPr/>
          <p:nvPr/>
        </p:nvSpPr>
        <p:spPr>
          <a:xfrm>
            <a:off x="9560052" y="2414016"/>
            <a:ext cx="0" cy="134112"/>
          </a:xfrm>
          <a:prstGeom prst="line">
            <a:avLst/>
          </a:prstGeom>
          <a:noFill/>
          <a:ln w="15875">
            <a:solidFill>
              <a:srgbClr val="9AB0AE"/>
            </a:solidFill>
            <a:prstDash val="solid"/>
            <a:tailEnd type="triangle"/>
          </a:ln>
        </p:spPr>
      </p:sp>
      <p:sp>
        <p:nvSpPr>
          <p:cNvPr id="24" name="Text 22"/>
          <p:cNvSpPr/>
          <p:nvPr/>
        </p:nvSpPr>
        <p:spPr>
          <a:xfrm>
            <a:off x="8257032" y="3194304"/>
            <a:ext cx="2606040" cy="566928"/>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Match confident?</a:t>
            </a:r>
            <a:endParaRPr lang="en-US" sz="800" dirty="0"/>
          </a:p>
        </p:txBody>
      </p:sp>
      <p:sp>
        <p:nvSpPr>
          <p:cNvPr id="25" name="Shape 23"/>
          <p:cNvSpPr/>
          <p:nvPr/>
        </p:nvSpPr>
        <p:spPr>
          <a:xfrm>
            <a:off x="9560052" y="3051048"/>
            <a:ext cx="0" cy="134112"/>
          </a:xfrm>
          <a:prstGeom prst="line">
            <a:avLst/>
          </a:prstGeom>
          <a:noFill/>
          <a:ln w="15875">
            <a:solidFill>
              <a:srgbClr val="9AB0AE"/>
            </a:solidFill>
            <a:prstDash val="solid"/>
            <a:tailEnd type="triangle"/>
          </a:ln>
        </p:spPr>
      </p:sp>
      <p:sp>
        <p:nvSpPr>
          <p:cNvPr id="26" name="Text 24"/>
          <p:cNvSpPr/>
          <p:nvPr/>
        </p:nvSpPr>
        <p:spPr>
          <a:xfrm>
            <a:off x="7479792" y="3904488"/>
            <a:ext cx="1961388" cy="530352"/>
          </a:xfrm>
          <a:prstGeom prst="roundRect">
            <a:avLst>
              <a:gd name="adj" fmla="val 8621"/>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Draft voucher</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staged for review</a:t>
            </a:r>
            <a:endParaRPr lang="en-US" sz="800" dirty="0"/>
          </a:p>
        </p:txBody>
      </p:sp>
      <p:sp>
        <p:nvSpPr>
          <p:cNvPr id="27" name="Shape 25"/>
          <p:cNvSpPr/>
          <p:nvPr/>
        </p:nvSpPr>
        <p:spPr>
          <a:xfrm flipH="1">
            <a:off x="8460486" y="3761232"/>
            <a:ext cx="1099566" cy="134112"/>
          </a:xfrm>
          <a:prstGeom prst="line">
            <a:avLst/>
          </a:prstGeom>
          <a:noFill/>
          <a:ln w="15875">
            <a:solidFill>
              <a:srgbClr val="9AB0AE"/>
            </a:solidFill>
            <a:prstDash val="solid"/>
            <a:tailEnd type="triangle"/>
          </a:ln>
        </p:spPr>
      </p:sp>
      <p:sp>
        <p:nvSpPr>
          <p:cNvPr id="28" name="Text 26"/>
          <p:cNvSpPr/>
          <p:nvPr/>
        </p:nvSpPr>
        <p:spPr>
          <a:xfrm>
            <a:off x="8607933" y="3732276"/>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yes</a:t>
            </a:r>
            <a:endParaRPr lang="en-US" sz="750" dirty="0"/>
          </a:p>
        </p:txBody>
      </p:sp>
      <p:sp>
        <p:nvSpPr>
          <p:cNvPr id="29" name="Text 27"/>
          <p:cNvSpPr/>
          <p:nvPr/>
        </p:nvSpPr>
        <p:spPr>
          <a:xfrm>
            <a:off x="9678924" y="3904488"/>
            <a:ext cx="1961388" cy="530352"/>
          </a:xfrm>
          <a:prstGeom prst="roundRect">
            <a:avLst>
              <a:gd name="adj" fmla="val 8621"/>
            </a:avLst>
          </a:prstGeom>
          <a:solidFill>
            <a:srgbClr val="B5563F"/>
          </a:solidFill>
          <a:ln w="12700">
            <a:solidFill>
              <a:srgbClr val="B5563F"/>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Task: confirm or</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create new ledger</a:t>
            </a:r>
            <a:endParaRPr lang="en-US" sz="800" dirty="0"/>
          </a:p>
        </p:txBody>
      </p:sp>
      <p:sp>
        <p:nvSpPr>
          <p:cNvPr id="30" name="Shape 28"/>
          <p:cNvSpPr/>
          <p:nvPr/>
        </p:nvSpPr>
        <p:spPr>
          <a:xfrm>
            <a:off x="9560052" y="3761232"/>
            <a:ext cx="1099566" cy="134112"/>
          </a:xfrm>
          <a:prstGeom prst="line">
            <a:avLst/>
          </a:prstGeom>
          <a:noFill/>
          <a:ln w="15875">
            <a:solidFill>
              <a:srgbClr val="9AB0AE"/>
            </a:solidFill>
            <a:prstDash val="solid"/>
            <a:tailEnd type="triangle"/>
          </a:ln>
        </p:spPr>
      </p:sp>
      <p:sp>
        <p:nvSpPr>
          <p:cNvPr id="31" name="Text 29"/>
          <p:cNvSpPr/>
          <p:nvPr/>
        </p:nvSpPr>
        <p:spPr>
          <a:xfrm>
            <a:off x="10000107" y="3732276"/>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no</a:t>
            </a:r>
            <a:endParaRPr lang="en-US" sz="750" dirty="0"/>
          </a:p>
        </p:txBody>
      </p:sp>
      <p:sp>
        <p:nvSpPr>
          <p:cNvPr id="32" name="Text 30"/>
          <p:cNvSpPr/>
          <p:nvPr/>
        </p:nvSpPr>
        <p:spPr>
          <a:xfrm>
            <a:off x="7914132" y="4578096"/>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Staff review staged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voucher + source doc</a:t>
            </a:r>
            <a:endParaRPr lang="en-US" sz="800" dirty="0"/>
          </a:p>
        </p:txBody>
      </p:sp>
      <p:sp>
        <p:nvSpPr>
          <p:cNvPr id="33" name="Shape 31"/>
          <p:cNvSpPr/>
          <p:nvPr/>
        </p:nvSpPr>
        <p:spPr>
          <a:xfrm>
            <a:off x="8460486" y="4434840"/>
            <a:ext cx="1099566" cy="134112"/>
          </a:xfrm>
          <a:prstGeom prst="line">
            <a:avLst/>
          </a:prstGeom>
          <a:noFill/>
          <a:ln w="15875">
            <a:solidFill>
              <a:srgbClr val="9AB0AE"/>
            </a:solidFill>
            <a:prstDash val="solid"/>
            <a:tailEnd type="triangle"/>
          </a:ln>
        </p:spPr>
      </p:sp>
      <p:sp>
        <p:nvSpPr>
          <p:cNvPr id="34" name="Text 32"/>
          <p:cNvSpPr/>
          <p:nvPr/>
        </p:nvSpPr>
        <p:spPr>
          <a:xfrm>
            <a:off x="7914132" y="5215128"/>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Approved voucher</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posts to Tally</a:t>
            </a:r>
            <a:endParaRPr lang="en-US" sz="800" dirty="0"/>
          </a:p>
        </p:txBody>
      </p:sp>
      <p:sp>
        <p:nvSpPr>
          <p:cNvPr id="35" name="Shape 33"/>
          <p:cNvSpPr/>
          <p:nvPr/>
        </p:nvSpPr>
        <p:spPr>
          <a:xfrm>
            <a:off x="9560052" y="5071872"/>
            <a:ext cx="0" cy="134112"/>
          </a:xfrm>
          <a:prstGeom prst="line">
            <a:avLst/>
          </a:prstGeom>
          <a:noFill/>
          <a:ln w="15875">
            <a:solidFill>
              <a:srgbClr val="9AB0AE"/>
            </a:solidFill>
            <a:prstDash val="solid"/>
            <a:tailEnd type="triangle"/>
          </a:ln>
        </p:spPr>
      </p:sp>
      <p:sp>
        <p:nvSpPr>
          <p:cNvPr id="36" name="Text 34"/>
          <p:cNvSpPr/>
          <p:nvPr/>
        </p:nvSpPr>
        <p:spPr>
          <a:xfrm>
            <a:off x="7914132" y="5852160"/>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Every voucher reviewed before</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posting — no exceptions</a:t>
            </a:r>
            <a:endParaRPr lang="en-US" sz="800" dirty="0"/>
          </a:p>
        </p:txBody>
      </p:sp>
      <p:sp>
        <p:nvSpPr>
          <p:cNvPr id="37" name="Shape 35"/>
          <p:cNvSpPr/>
          <p:nvPr/>
        </p:nvSpPr>
        <p:spPr>
          <a:xfrm>
            <a:off x="9560052" y="5708904"/>
            <a:ext cx="0" cy="134112"/>
          </a:xfrm>
          <a:prstGeom prst="line">
            <a:avLst/>
          </a:prstGeom>
          <a:noFill/>
          <a:ln w="15875">
            <a:solidFill>
              <a:srgbClr val="9AB0AE"/>
            </a:solidFill>
            <a:prstDash val="solid"/>
            <a:tailEnd type="triangle"/>
          </a:ln>
        </p:spPr>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03</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3. Reconciliation — GSTR-2A/2B vs Purchase Register</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Replace the single biggest manual time sink in GST compliance work.</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877824"/>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Data is pulled in automatically</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purchase register data from Tally and GSTR-2A/2B data from the government system are fetched each period, without anyone manually downloading or exporting anything.</a:t>
            </a:r>
            <a:endParaRPr lang="en-US" sz="1050" dirty="0"/>
          </a:p>
        </p:txBody>
      </p:sp>
      <p:sp>
        <p:nvSpPr>
          <p:cNvPr id="8" name="Text 6"/>
          <p:cNvSpPr/>
          <p:nvPr/>
        </p:nvSpPr>
        <p:spPr>
          <a:xfrm>
            <a:off x="566928" y="2834640"/>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779776"/>
            <a:ext cx="6199632" cy="877824"/>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Line items are matched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CAOS compares entries by GSTIN, invoice number and amount. Matched items are confirmed automatically and included in the input tax credit summary, with no review needed. Mismatched or missing items are flagged with the specific reason — timing difference, vendor hasn't filed yet, amount mismatch, or duplicate entry.</a:t>
            </a:r>
            <a:endParaRPr lang="en-US" sz="1050" dirty="0"/>
          </a:p>
        </p:txBody>
      </p:sp>
      <p:sp>
        <p:nvSpPr>
          <p:cNvPr id="10" name="Text 8"/>
          <p:cNvSpPr/>
          <p:nvPr/>
        </p:nvSpPr>
        <p:spPr>
          <a:xfrm>
            <a:off x="566928" y="3767328"/>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712464"/>
            <a:ext cx="6199632" cy="877824"/>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A reconciliation statement is generated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ready for filing, with matched items already accounted for.</a:t>
            </a:r>
            <a:endParaRPr lang="en-US" sz="1050" dirty="0"/>
          </a:p>
        </p:txBody>
      </p:sp>
      <p:sp>
        <p:nvSpPr>
          <p:cNvPr id="12" name="Shape 10"/>
          <p:cNvSpPr/>
          <p:nvPr/>
        </p:nvSpPr>
        <p:spPr>
          <a:xfrm>
            <a:off x="566928" y="4535424"/>
            <a:ext cx="6583680" cy="1042416"/>
          </a:xfrm>
          <a:prstGeom prst="roundRect">
            <a:avLst>
              <a:gd name="adj" fmla="val 6140"/>
            </a:avLst>
          </a:prstGeom>
          <a:solidFill>
            <a:srgbClr val="F3E7CE"/>
          </a:solidFill>
          <a:ln w="12700">
            <a:solidFill>
              <a:srgbClr val="F3E7CE"/>
            </a:solidFill>
            <a:prstDash val="solid"/>
          </a:ln>
        </p:spPr>
      </p:sp>
      <p:sp>
        <p:nvSpPr>
          <p:cNvPr id="13" name="Text 11"/>
          <p:cNvSpPr/>
          <p:nvPr/>
        </p:nvSpPr>
        <p:spPr>
          <a:xfrm>
            <a:off x="768096" y="4617720"/>
            <a:ext cx="618134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WORKED EXAMPLE</a:t>
            </a:r>
            <a:endParaRPr lang="en-US" sz="900" dirty="0"/>
          </a:p>
        </p:txBody>
      </p:sp>
      <p:sp>
        <p:nvSpPr>
          <p:cNvPr id="14" name="Text 12"/>
          <p:cNvSpPr/>
          <p:nvPr/>
        </p:nvSpPr>
        <p:spPr>
          <a:xfrm>
            <a:off x="768096" y="4828032"/>
            <a:ext cx="6181344" cy="640080"/>
          </a:xfrm>
          <a:prstGeom prst="rect">
            <a:avLst/>
          </a:prstGeom>
          <a:noFill/>
          <a:ln/>
        </p:spPr>
        <p:txBody>
          <a:bodyPr wrap="square" lIns="0" tIns="0" rIns="0" bIns="0" rtlCol="0" anchor="t"/>
          <a:lstStyle/>
          <a:p>
            <a:pPr indent="0" marL="0">
              <a:lnSpc>
                <a:spcPts val="1280"/>
              </a:lnSpc>
              <a:buNone/>
            </a:pPr>
            <a:r>
              <a:rPr lang="en-US" sz="1000" dirty="0">
                <a:solidFill>
                  <a:srgbClr val="0F3D3E"/>
                </a:solidFill>
                <a:latin typeface="Calibri" pitchFamily="34" charset="0"/>
                <a:ea typeface="Calibri" pitchFamily="34" charset="-122"/>
                <a:cs typeface="Calibri" pitchFamily="34" charset="-120"/>
              </a:rPr>
              <a:t>Of 350 purchase entries for a client in a given month, 340 match cleanly against GSTR-2B and are confirmed instantly. The remaining 10 are flagged — say, 6 because the vendor hasn't filed their return yet, 3 with a small amount mismatch, and 1 duplicate. The auditor reviews exactly those 10, not all 350.</a:t>
            </a:r>
            <a:endParaRPr lang="en-US" sz="1000" dirty="0"/>
          </a:p>
        </p:txBody>
      </p:sp>
      <p:sp>
        <p:nvSpPr>
          <p:cNvPr id="15" name="Shape 13"/>
          <p:cNvSpPr/>
          <p:nvPr/>
        </p:nvSpPr>
        <p:spPr>
          <a:xfrm>
            <a:off x="566928" y="5724144"/>
            <a:ext cx="6583680" cy="585216"/>
          </a:xfrm>
          <a:prstGeom prst="roundRect">
            <a:avLst>
              <a:gd name="adj" fmla="val 10938"/>
            </a:avLst>
          </a:prstGeom>
          <a:solidFill>
            <a:srgbClr val="E2ECEA"/>
          </a:solidFill>
          <a:ln w="12700">
            <a:solidFill>
              <a:srgbClr val="E2ECEA"/>
            </a:solidFill>
            <a:prstDash val="solid"/>
          </a:ln>
        </p:spPr>
      </p:sp>
      <p:sp>
        <p:nvSpPr>
          <p:cNvPr id="16" name="Text 14"/>
          <p:cNvSpPr/>
          <p:nvPr/>
        </p:nvSpPr>
        <p:spPr>
          <a:xfrm>
            <a:off x="768096" y="5779008"/>
            <a:ext cx="6181344" cy="475488"/>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The auditor reviews only the mismatch list — never the full ledger.</a:t>
            </a:r>
            <a:endParaRPr lang="en-US" sz="1000" dirty="0"/>
          </a:p>
        </p:txBody>
      </p:sp>
      <p:sp>
        <p:nvSpPr>
          <p:cNvPr id="17" name="Shape 15"/>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18" name="Text 16"/>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19" name="Text 17"/>
          <p:cNvSpPr/>
          <p:nvPr/>
        </p:nvSpPr>
        <p:spPr>
          <a:xfrm>
            <a:off x="7914132" y="192024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Purchase register (Tally)</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 GSTR-2A/2B pulled in</a:t>
            </a:r>
            <a:endParaRPr lang="en-US" sz="800" dirty="0"/>
          </a:p>
        </p:txBody>
      </p:sp>
      <p:sp>
        <p:nvSpPr>
          <p:cNvPr id="20" name="Text 18"/>
          <p:cNvSpPr/>
          <p:nvPr/>
        </p:nvSpPr>
        <p:spPr>
          <a:xfrm>
            <a:off x="7914132" y="2684678"/>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Matched by GSTIN,</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invoice number, amount</a:t>
            </a:r>
            <a:endParaRPr lang="en-US" sz="800" dirty="0"/>
          </a:p>
        </p:txBody>
      </p:sp>
      <p:sp>
        <p:nvSpPr>
          <p:cNvPr id="21" name="Shape 19"/>
          <p:cNvSpPr/>
          <p:nvPr/>
        </p:nvSpPr>
        <p:spPr>
          <a:xfrm>
            <a:off x="9560052" y="2414016"/>
            <a:ext cx="0" cy="261518"/>
          </a:xfrm>
          <a:prstGeom prst="line">
            <a:avLst/>
          </a:prstGeom>
          <a:noFill/>
          <a:ln w="15875">
            <a:solidFill>
              <a:srgbClr val="9AB0AE"/>
            </a:solidFill>
            <a:prstDash val="solid"/>
            <a:tailEnd type="triangle"/>
          </a:ln>
        </p:spPr>
      </p:sp>
      <p:sp>
        <p:nvSpPr>
          <p:cNvPr id="22" name="Text 20"/>
          <p:cNvSpPr/>
          <p:nvPr/>
        </p:nvSpPr>
        <p:spPr>
          <a:xfrm>
            <a:off x="8257032" y="3449117"/>
            <a:ext cx="2606040" cy="566928"/>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Match found?</a:t>
            </a:r>
            <a:endParaRPr lang="en-US" sz="800" dirty="0"/>
          </a:p>
        </p:txBody>
      </p:sp>
      <p:sp>
        <p:nvSpPr>
          <p:cNvPr id="23" name="Shape 21"/>
          <p:cNvSpPr/>
          <p:nvPr/>
        </p:nvSpPr>
        <p:spPr>
          <a:xfrm>
            <a:off x="9560052" y="3178454"/>
            <a:ext cx="0" cy="261518"/>
          </a:xfrm>
          <a:prstGeom prst="line">
            <a:avLst/>
          </a:prstGeom>
          <a:noFill/>
          <a:ln w="15875">
            <a:solidFill>
              <a:srgbClr val="9AB0AE"/>
            </a:solidFill>
            <a:prstDash val="solid"/>
            <a:tailEnd type="triangle"/>
          </a:ln>
        </p:spPr>
      </p:sp>
      <p:sp>
        <p:nvSpPr>
          <p:cNvPr id="24" name="Text 22"/>
          <p:cNvSpPr/>
          <p:nvPr/>
        </p:nvSpPr>
        <p:spPr>
          <a:xfrm>
            <a:off x="7479792" y="4286707"/>
            <a:ext cx="1961388" cy="530352"/>
          </a:xfrm>
          <a:prstGeom prst="roundRect">
            <a:avLst>
              <a:gd name="adj" fmla="val 8621"/>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Auto-confirmed,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included in ITC summary</a:t>
            </a:r>
            <a:endParaRPr lang="en-US" sz="800" dirty="0"/>
          </a:p>
        </p:txBody>
      </p:sp>
      <p:sp>
        <p:nvSpPr>
          <p:cNvPr id="25" name="Shape 23"/>
          <p:cNvSpPr/>
          <p:nvPr/>
        </p:nvSpPr>
        <p:spPr>
          <a:xfrm flipH="1">
            <a:off x="8460486" y="4016045"/>
            <a:ext cx="1099566" cy="261518"/>
          </a:xfrm>
          <a:prstGeom prst="line">
            <a:avLst/>
          </a:prstGeom>
          <a:noFill/>
          <a:ln w="15875">
            <a:solidFill>
              <a:srgbClr val="9AB0AE"/>
            </a:solidFill>
            <a:prstDash val="solid"/>
            <a:tailEnd type="triangle"/>
          </a:ln>
        </p:spPr>
      </p:sp>
      <p:sp>
        <p:nvSpPr>
          <p:cNvPr id="26" name="Text 24"/>
          <p:cNvSpPr/>
          <p:nvPr/>
        </p:nvSpPr>
        <p:spPr>
          <a:xfrm>
            <a:off x="8607933" y="4050792"/>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yes</a:t>
            </a:r>
            <a:endParaRPr lang="en-US" sz="750" dirty="0"/>
          </a:p>
        </p:txBody>
      </p:sp>
      <p:sp>
        <p:nvSpPr>
          <p:cNvPr id="27" name="Text 25"/>
          <p:cNvSpPr/>
          <p:nvPr/>
        </p:nvSpPr>
        <p:spPr>
          <a:xfrm>
            <a:off x="9678924" y="4286707"/>
            <a:ext cx="1961388" cy="530352"/>
          </a:xfrm>
          <a:prstGeom prst="roundRect">
            <a:avLst>
              <a:gd name="adj" fmla="val 8621"/>
            </a:avLst>
          </a:prstGeom>
          <a:solidFill>
            <a:srgbClr val="B5563F"/>
          </a:solidFill>
          <a:ln w="12700">
            <a:solidFill>
              <a:srgbClr val="B5563F"/>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Flagged with reason</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(timing / vendor / amount / duplicate)</a:t>
            </a:r>
            <a:endParaRPr lang="en-US" sz="800" dirty="0"/>
          </a:p>
        </p:txBody>
      </p:sp>
      <p:sp>
        <p:nvSpPr>
          <p:cNvPr id="28" name="Shape 26"/>
          <p:cNvSpPr/>
          <p:nvPr/>
        </p:nvSpPr>
        <p:spPr>
          <a:xfrm>
            <a:off x="9560052" y="4016045"/>
            <a:ext cx="1099566" cy="261518"/>
          </a:xfrm>
          <a:prstGeom prst="line">
            <a:avLst/>
          </a:prstGeom>
          <a:noFill/>
          <a:ln w="15875">
            <a:solidFill>
              <a:srgbClr val="9AB0AE"/>
            </a:solidFill>
            <a:prstDash val="solid"/>
            <a:tailEnd type="triangle"/>
          </a:ln>
        </p:spPr>
      </p:sp>
      <p:sp>
        <p:nvSpPr>
          <p:cNvPr id="29" name="Text 27"/>
          <p:cNvSpPr/>
          <p:nvPr/>
        </p:nvSpPr>
        <p:spPr>
          <a:xfrm>
            <a:off x="10000107" y="4050792"/>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no</a:t>
            </a:r>
            <a:endParaRPr lang="en-US" sz="750" dirty="0"/>
          </a:p>
        </p:txBody>
      </p:sp>
      <p:sp>
        <p:nvSpPr>
          <p:cNvPr id="30" name="Text 28"/>
          <p:cNvSpPr/>
          <p:nvPr/>
        </p:nvSpPr>
        <p:spPr>
          <a:xfrm>
            <a:off x="7914132" y="5087722"/>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Final reconciliation</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statement generated</a:t>
            </a:r>
            <a:endParaRPr lang="en-US" sz="800" dirty="0"/>
          </a:p>
        </p:txBody>
      </p:sp>
      <p:sp>
        <p:nvSpPr>
          <p:cNvPr id="31" name="Shape 29"/>
          <p:cNvSpPr/>
          <p:nvPr/>
        </p:nvSpPr>
        <p:spPr>
          <a:xfrm>
            <a:off x="8460486" y="4817059"/>
            <a:ext cx="1099566" cy="261518"/>
          </a:xfrm>
          <a:prstGeom prst="line">
            <a:avLst/>
          </a:prstGeom>
          <a:noFill/>
          <a:ln w="15875">
            <a:solidFill>
              <a:srgbClr val="9AB0AE"/>
            </a:solidFill>
            <a:prstDash val="solid"/>
            <a:tailEnd type="triangle"/>
          </a:ln>
        </p:spPr>
      </p:sp>
      <p:sp>
        <p:nvSpPr>
          <p:cNvPr id="32" name="Text 30"/>
          <p:cNvSpPr/>
          <p:nvPr/>
        </p:nvSpPr>
        <p:spPr>
          <a:xfrm>
            <a:off x="7914132" y="5852160"/>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Auditor reviews only</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the mismatch list</a:t>
            </a:r>
            <a:endParaRPr lang="en-US" sz="800" dirty="0"/>
          </a:p>
        </p:txBody>
      </p:sp>
      <p:sp>
        <p:nvSpPr>
          <p:cNvPr id="33" name="Shape 31"/>
          <p:cNvSpPr/>
          <p:nvPr/>
        </p:nvSpPr>
        <p:spPr>
          <a:xfrm>
            <a:off x="9560052" y="5581498"/>
            <a:ext cx="0" cy="261518"/>
          </a:xfrm>
          <a:prstGeom prst="line">
            <a:avLst/>
          </a:prstGeom>
          <a:noFill/>
          <a:ln w="15875">
            <a:solidFill>
              <a:srgbClr val="9AB0AE"/>
            </a:solidFill>
            <a:prstDash val="solid"/>
            <a:tailEnd type="triangle"/>
          </a:ln>
        </p:spPr>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04</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4. Validation / Compliance Checks</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Catch errors before they become notices from the department.</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Draft return data is pulled in</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GSTR-1, GSTR-3B and books data are gathered ahead of the filing deadline, not at the last minute.</a:t>
            </a:r>
            <a:endParaRPr lang="en-US" sz="1050" dirty="0"/>
          </a:p>
        </p:txBody>
      </p:sp>
      <p:sp>
        <p:nvSpPr>
          <p:cNvPr id="8" name="Text 6"/>
          <p:cNvSpPr/>
          <p:nvPr/>
        </p:nvSpPr>
        <p:spPr>
          <a:xfrm>
            <a:off x="566928" y="2889504"/>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834640"/>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Standard checks run automatically</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GSTR-1 output tax is compared against GSTR-3B, HSN codes are checked for correctness, tax rates are validated against the standard rate table, and TDS in Form 26AS is checked against the books.</a:t>
            </a:r>
            <a:endParaRPr lang="en-US" sz="1050" dirty="0"/>
          </a:p>
        </p:txBody>
      </p:sp>
      <p:sp>
        <p:nvSpPr>
          <p:cNvPr id="10" name="Text 8"/>
          <p:cNvSpPr/>
          <p:nvPr/>
        </p:nvSpPr>
        <p:spPr>
          <a:xfrm>
            <a:off x="566928" y="3877056"/>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822192"/>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Everything clear is cleared for filing</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no review is required on a return where every check passes.</a:t>
            </a:r>
            <a:endParaRPr lang="en-US" sz="1050" dirty="0"/>
          </a:p>
        </p:txBody>
      </p:sp>
      <p:sp>
        <p:nvSpPr>
          <p:cNvPr id="12" name="Text 10"/>
          <p:cNvSpPr/>
          <p:nvPr/>
        </p:nvSpPr>
        <p:spPr>
          <a:xfrm>
            <a:off x="566928" y="4864608"/>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 name="Text 11"/>
          <p:cNvSpPr/>
          <p:nvPr/>
        </p:nvSpPr>
        <p:spPr>
          <a:xfrm>
            <a:off x="950976" y="4809744"/>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Discrepancies are flagged with the detail to fix them</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the auditor gets the exact line item and variance amount, while there is still time to correct it before the deadline.</a:t>
            </a:r>
            <a:endParaRPr lang="en-US" sz="1050" dirty="0"/>
          </a:p>
        </p:txBody>
      </p:sp>
      <p:sp>
        <p:nvSpPr>
          <p:cNvPr id="14" name="Shape 12"/>
          <p:cNvSpPr/>
          <p:nvPr/>
        </p:nvSpPr>
        <p:spPr>
          <a:xfrm>
            <a:off x="566928" y="5724144"/>
            <a:ext cx="6583680" cy="585216"/>
          </a:xfrm>
          <a:prstGeom prst="roundRect">
            <a:avLst>
              <a:gd name="adj" fmla="val 10938"/>
            </a:avLst>
          </a:prstGeom>
          <a:solidFill>
            <a:srgbClr val="E2ECEA"/>
          </a:solidFill>
          <a:ln w="12700">
            <a:solidFill>
              <a:srgbClr val="E2ECEA"/>
            </a:solidFill>
            <a:prstDash val="solid"/>
          </a:ln>
        </p:spPr>
      </p:sp>
      <p:sp>
        <p:nvSpPr>
          <p:cNvPr id="15" name="Text 13"/>
          <p:cNvSpPr/>
          <p:nvPr/>
        </p:nvSpPr>
        <p:spPr>
          <a:xfrm>
            <a:off x="768096" y="5779008"/>
            <a:ext cx="6181344" cy="475488"/>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The auditor signs off only on flagged items and the final filing.</a:t>
            </a:r>
            <a:endParaRPr lang="en-US" sz="1000" dirty="0"/>
          </a:p>
        </p:txBody>
      </p:sp>
      <p:sp>
        <p:nvSpPr>
          <p:cNvPr id="16" name="Shape 14"/>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17" name="Text 15"/>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18" name="Text 16"/>
          <p:cNvSpPr/>
          <p:nvPr/>
        </p:nvSpPr>
        <p:spPr>
          <a:xfrm>
            <a:off x="7914132" y="2112264"/>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Draft GSTR-1, GSTR-3B,</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books data pulled in</a:t>
            </a:r>
            <a:endParaRPr lang="en-US" sz="800" dirty="0"/>
          </a:p>
        </p:txBody>
      </p:sp>
      <p:sp>
        <p:nvSpPr>
          <p:cNvPr id="19" name="Text 17"/>
          <p:cNvSpPr/>
          <p:nvPr/>
        </p:nvSpPr>
        <p:spPr>
          <a:xfrm>
            <a:off x="7914132" y="297180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Standard checks run</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(output tax, HSN, rate, TDS)</a:t>
            </a:r>
            <a:endParaRPr lang="en-US" sz="800" dirty="0"/>
          </a:p>
        </p:txBody>
      </p:sp>
      <p:sp>
        <p:nvSpPr>
          <p:cNvPr id="20" name="Shape 18"/>
          <p:cNvSpPr/>
          <p:nvPr/>
        </p:nvSpPr>
        <p:spPr>
          <a:xfrm>
            <a:off x="9560052" y="2606040"/>
            <a:ext cx="0" cy="356616"/>
          </a:xfrm>
          <a:prstGeom prst="line">
            <a:avLst/>
          </a:prstGeom>
          <a:noFill/>
          <a:ln w="15875">
            <a:solidFill>
              <a:srgbClr val="9AB0AE"/>
            </a:solidFill>
            <a:prstDash val="solid"/>
            <a:tailEnd type="triangle"/>
          </a:ln>
        </p:spPr>
      </p:sp>
      <p:sp>
        <p:nvSpPr>
          <p:cNvPr id="21" name="Text 19"/>
          <p:cNvSpPr/>
          <p:nvPr/>
        </p:nvSpPr>
        <p:spPr>
          <a:xfrm>
            <a:off x="8257032" y="3831336"/>
            <a:ext cx="2606040" cy="566928"/>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All clear?</a:t>
            </a:r>
            <a:endParaRPr lang="en-US" sz="800" dirty="0"/>
          </a:p>
        </p:txBody>
      </p:sp>
      <p:sp>
        <p:nvSpPr>
          <p:cNvPr id="22" name="Shape 20"/>
          <p:cNvSpPr/>
          <p:nvPr/>
        </p:nvSpPr>
        <p:spPr>
          <a:xfrm>
            <a:off x="9560052" y="3465576"/>
            <a:ext cx="0" cy="356616"/>
          </a:xfrm>
          <a:prstGeom prst="line">
            <a:avLst/>
          </a:prstGeom>
          <a:noFill/>
          <a:ln w="15875">
            <a:solidFill>
              <a:srgbClr val="9AB0AE"/>
            </a:solidFill>
            <a:prstDash val="solid"/>
            <a:tailEnd type="triangle"/>
          </a:ln>
        </p:spPr>
      </p:sp>
      <p:sp>
        <p:nvSpPr>
          <p:cNvPr id="23" name="Text 21"/>
          <p:cNvSpPr/>
          <p:nvPr/>
        </p:nvSpPr>
        <p:spPr>
          <a:xfrm>
            <a:off x="7479792" y="4764024"/>
            <a:ext cx="1961388" cy="530352"/>
          </a:xfrm>
          <a:prstGeom prst="roundRect">
            <a:avLst>
              <a:gd name="adj" fmla="val 8621"/>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Cleared for filing</a:t>
            </a:r>
            <a:endParaRPr lang="en-US" sz="800" dirty="0"/>
          </a:p>
        </p:txBody>
      </p:sp>
      <p:sp>
        <p:nvSpPr>
          <p:cNvPr id="24" name="Shape 22"/>
          <p:cNvSpPr/>
          <p:nvPr/>
        </p:nvSpPr>
        <p:spPr>
          <a:xfrm flipH="1">
            <a:off x="8460486" y="4398264"/>
            <a:ext cx="1099566" cy="356616"/>
          </a:xfrm>
          <a:prstGeom prst="line">
            <a:avLst/>
          </a:prstGeom>
          <a:noFill/>
          <a:ln w="15875">
            <a:solidFill>
              <a:srgbClr val="9AB0AE"/>
            </a:solidFill>
            <a:prstDash val="solid"/>
            <a:tailEnd type="triangle"/>
          </a:ln>
        </p:spPr>
      </p:sp>
      <p:sp>
        <p:nvSpPr>
          <p:cNvPr id="25" name="Text 23"/>
          <p:cNvSpPr/>
          <p:nvPr/>
        </p:nvSpPr>
        <p:spPr>
          <a:xfrm>
            <a:off x="8607933" y="4480560"/>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yes</a:t>
            </a:r>
            <a:endParaRPr lang="en-US" sz="750" dirty="0"/>
          </a:p>
        </p:txBody>
      </p:sp>
      <p:sp>
        <p:nvSpPr>
          <p:cNvPr id="26" name="Text 24"/>
          <p:cNvSpPr/>
          <p:nvPr/>
        </p:nvSpPr>
        <p:spPr>
          <a:xfrm>
            <a:off x="9678924" y="4764024"/>
            <a:ext cx="1961388" cy="530352"/>
          </a:xfrm>
          <a:prstGeom prst="roundRect">
            <a:avLst>
              <a:gd name="adj" fmla="val 8621"/>
            </a:avLst>
          </a:prstGeom>
          <a:solidFill>
            <a:srgbClr val="B5563F"/>
          </a:solidFill>
          <a:ln w="12700">
            <a:solidFill>
              <a:srgbClr val="B5563F"/>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Flagged with line item</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 variance amount</a:t>
            </a:r>
            <a:endParaRPr lang="en-US" sz="800" dirty="0"/>
          </a:p>
        </p:txBody>
      </p:sp>
      <p:sp>
        <p:nvSpPr>
          <p:cNvPr id="27" name="Shape 25"/>
          <p:cNvSpPr/>
          <p:nvPr/>
        </p:nvSpPr>
        <p:spPr>
          <a:xfrm>
            <a:off x="9560052" y="4398264"/>
            <a:ext cx="1099566" cy="356616"/>
          </a:xfrm>
          <a:prstGeom prst="line">
            <a:avLst/>
          </a:prstGeom>
          <a:noFill/>
          <a:ln w="15875">
            <a:solidFill>
              <a:srgbClr val="9AB0AE"/>
            </a:solidFill>
            <a:prstDash val="solid"/>
            <a:tailEnd type="triangle"/>
          </a:ln>
        </p:spPr>
      </p:sp>
      <p:sp>
        <p:nvSpPr>
          <p:cNvPr id="28" name="Text 26"/>
          <p:cNvSpPr/>
          <p:nvPr/>
        </p:nvSpPr>
        <p:spPr>
          <a:xfrm>
            <a:off x="10000107" y="4480560"/>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no</a:t>
            </a:r>
            <a:endParaRPr lang="en-US" sz="750" dirty="0"/>
          </a:p>
        </p:txBody>
      </p:sp>
      <p:sp>
        <p:nvSpPr>
          <p:cNvPr id="29" name="Text 27"/>
          <p:cNvSpPr/>
          <p:nvPr/>
        </p:nvSpPr>
        <p:spPr>
          <a:xfrm>
            <a:off x="7914132" y="5660136"/>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Auditor signs off on flagged</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items + final filing</a:t>
            </a:r>
            <a:endParaRPr lang="en-US" sz="800" dirty="0"/>
          </a:p>
        </p:txBody>
      </p:sp>
      <p:sp>
        <p:nvSpPr>
          <p:cNvPr id="30" name="Shape 28"/>
          <p:cNvSpPr/>
          <p:nvPr/>
        </p:nvSpPr>
        <p:spPr>
          <a:xfrm flipH="1">
            <a:off x="9560052" y="5294376"/>
            <a:ext cx="1099566" cy="356616"/>
          </a:xfrm>
          <a:prstGeom prst="line">
            <a:avLst/>
          </a:prstGeom>
          <a:noFill/>
          <a:ln w="15875">
            <a:solidFill>
              <a:srgbClr val="9AB0AE"/>
            </a:solidFill>
            <a:prstDash val="solid"/>
            <a:tailEnd type="triangle"/>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05</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5. Client Communication</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Remove routine follow-up from the auditor's and staff's plate — the single biggest stated pain point in the practice today.</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81076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A trigger fires</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an approaching deadline, a document still pending, or a query raised during reconciliation or validation.</a:t>
            </a:r>
            <a:endParaRPr lang="en-US" sz="1050" dirty="0"/>
          </a:p>
        </p:txBody>
      </p:sp>
      <p:sp>
        <p:nvSpPr>
          <p:cNvPr id="8" name="Text 6"/>
          <p:cNvSpPr/>
          <p:nvPr/>
        </p:nvSpPr>
        <p:spPr>
          <a:xfrm>
            <a:off x="566928" y="2767584"/>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712720"/>
            <a:ext cx="6199632" cy="81076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The right message is prepared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CAOS selects the appropriate template and fills in the client-specific details automatically. A routine reminder is sent without review; anything needing judgment or tone is drafted and routed to the auditor for approval before it goes out.</a:t>
            </a:r>
            <a:endParaRPr lang="en-US" sz="1050" dirty="0"/>
          </a:p>
        </p:txBody>
      </p:sp>
      <p:sp>
        <p:nvSpPr>
          <p:cNvPr id="10" name="Text 8"/>
          <p:cNvSpPr/>
          <p:nvPr/>
        </p:nvSpPr>
        <p:spPr>
          <a:xfrm>
            <a:off x="566928" y="3633216"/>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578352"/>
            <a:ext cx="6199632" cy="81076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The exchange is logged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every communication is recorded against the client's record automatically, building a complete history without manual note-taking.</a:t>
            </a:r>
            <a:endParaRPr lang="en-US" sz="1050" dirty="0"/>
          </a:p>
        </p:txBody>
      </p:sp>
      <p:sp>
        <p:nvSpPr>
          <p:cNvPr id="12" name="Shape 10"/>
          <p:cNvSpPr/>
          <p:nvPr/>
        </p:nvSpPr>
        <p:spPr>
          <a:xfrm>
            <a:off x="566928" y="4334256"/>
            <a:ext cx="6583680" cy="1042416"/>
          </a:xfrm>
          <a:prstGeom prst="roundRect">
            <a:avLst>
              <a:gd name="adj" fmla="val 6140"/>
            </a:avLst>
          </a:prstGeom>
          <a:solidFill>
            <a:srgbClr val="F3E7CE"/>
          </a:solidFill>
          <a:ln w="12700">
            <a:solidFill>
              <a:srgbClr val="F3E7CE"/>
            </a:solidFill>
            <a:prstDash val="solid"/>
          </a:ln>
        </p:spPr>
      </p:sp>
      <p:sp>
        <p:nvSpPr>
          <p:cNvPr id="13" name="Text 11"/>
          <p:cNvSpPr/>
          <p:nvPr/>
        </p:nvSpPr>
        <p:spPr>
          <a:xfrm>
            <a:off x="768096" y="4416552"/>
            <a:ext cx="6181344" cy="201168"/>
          </a:xfrm>
          <a:prstGeom prst="rect">
            <a:avLst/>
          </a:prstGeom>
          <a:noFill/>
          <a:ln/>
        </p:spPr>
        <p:txBody>
          <a:bodyPr wrap="square" lIns="0" tIns="0" rIns="0" bIns="0" rtlCol="0" anchor="ctr"/>
          <a:lstStyle/>
          <a:p>
            <a:pPr indent="0" marL="0">
              <a:buNone/>
            </a:pPr>
            <a:r>
              <a:rPr lang="en-US" sz="900" b="1" spc="120" kern="0" dirty="0">
                <a:solidFill>
                  <a:srgbClr val="C08428"/>
                </a:solidFill>
                <a:latin typeface="Calibri" pitchFamily="34" charset="0"/>
                <a:ea typeface="Calibri" pitchFamily="34" charset="-122"/>
                <a:cs typeface="Calibri" pitchFamily="34" charset="-120"/>
              </a:rPr>
              <a:t>WORKED EXAMPLE</a:t>
            </a:r>
            <a:endParaRPr lang="en-US" sz="900" dirty="0"/>
          </a:p>
        </p:txBody>
      </p:sp>
      <p:sp>
        <p:nvSpPr>
          <p:cNvPr id="14" name="Text 12"/>
          <p:cNvSpPr/>
          <p:nvPr/>
        </p:nvSpPr>
        <p:spPr>
          <a:xfrm>
            <a:off x="768096" y="4626864"/>
            <a:ext cx="6181344" cy="640080"/>
          </a:xfrm>
          <a:prstGeom prst="rect">
            <a:avLst/>
          </a:prstGeom>
          <a:noFill/>
          <a:ln/>
        </p:spPr>
        <p:txBody>
          <a:bodyPr wrap="square" lIns="0" tIns="0" rIns="0" bIns="0" rtlCol="0" anchor="t"/>
          <a:lstStyle/>
          <a:p>
            <a:pPr indent="0" marL="0">
              <a:lnSpc>
                <a:spcPts val="1280"/>
              </a:lnSpc>
              <a:buNone/>
            </a:pPr>
            <a:r>
              <a:rPr lang="en-US" sz="1000" dirty="0">
                <a:solidFill>
                  <a:srgbClr val="0F3D3E"/>
                </a:solidFill>
                <a:latin typeface="Calibri" pitchFamily="34" charset="0"/>
                <a:ea typeface="Calibri" pitchFamily="34" charset="-122"/>
                <a:cs typeface="Calibri" pitchFamily="34" charset="-120"/>
              </a:rPr>
              <a:t>A client's GSTR-1 filing requires OTP confirmation today. CAOS flags this as a time-sensitive task and prompts staff to call the client before a specific cutoff time — rather than the deadline being missed because no one realised today was the day it mattered.</a:t>
            </a:r>
            <a:endParaRPr lang="en-US" sz="1000" dirty="0"/>
          </a:p>
        </p:txBody>
      </p:sp>
      <p:sp>
        <p:nvSpPr>
          <p:cNvPr id="15" name="Shape 13"/>
          <p:cNvSpPr/>
          <p:nvPr/>
        </p:nvSpPr>
        <p:spPr>
          <a:xfrm>
            <a:off x="566928" y="5522976"/>
            <a:ext cx="6583680" cy="786384"/>
          </a:xfrm>
          <a:prstGeom prst="roundRect">
            <a:avLst>
              <a:gd name="adj" fmla="val 8140"/>
            </a:avLst>
          </a:prstGeom>
          <a:solidFill>
            <a:srgbClr val="E2ECEA"/>
          </a:solidFill>
          <a:ln w="12700">
            <a:solidFill>
              <a:srgbClr val="E2ECEA"/>
            </a:solidFill>
            <a:prstDash val="solid"/>
          </a:ln>
        </p:spPr>
      </p:sp>
      <p:sp>
        <p:nvSpPr>
          <p:cNvPr id="16" name="Text 14"/>
          <p:cNvSpPr/>
          <p:nvPr/>
        </p:nvSpPr>
        <p:spPr>
          <a:xfrm>
            <a:off x="768096" y="5577840"/>
            <a:ext cx="6181344" cy="676656"/>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Anything requiring interpretation or tone judgment goes through the auditor first — CAOS never sends a judgment call on its own.</a:t>
            </a:r>
            <a:endParaRPr lang="en-US" sz="1000" dirty="0"/>
          </a:p>
        </p:txBody>
      </p:sp>
      <p:sp>
        <p:nvSpPr>
          <p:cNvPr id="17" name="Shape 15"/>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18" name="Text 16"/>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19" name="Text 17"/>
          <p:cNvSpPr/>
          <p:nvPr/>
        </p:nvSpPr>
        <p:spPr>
          <a:xfrm>
            <a:off x="7914132" y="192024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Trigger: deadline,</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pending doc, or query</a:t>
            </a:r>
            <a:endParaRPr lang="en-US" sz="800" dirty="0"/>
          </a:p>
        </p:txBody>
      </p:sp>
      <p:sp>
        <p:nvSpPr>
          <p:cNvPr id="20" name="Text 18"/>
          <p:cNvSpPr/>
          <p:nvPr/>
        </p:nvSpPr>
        <p:spPr>
          <a:xfrm>
            <a:off x="7914132" y="2684678"/>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Template selected +</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client details filled in</a:t>
            </a:r>
            <a:endParaRPr lang="en-US" sz="800" dirty="0"/>
          </a:p>
        </p:txBody>
      </p:sp>
      <p:sp>
        <p:nvSpPr>
          <p:cNvPr id="21" name="Shape 19"/>
          <p:cNvSpPr/>
          <p:nvPr/>
        </p:nvSpPr>
        <p:spPr>
          <a:xfrm>
            <a:off x="9560052" y="2414016"/>
            <a:ext cx="0" cy="261518"/>
          </a:xfrm>
          <a:prstGeom prst="line">
            <a:avLst/>
          </a:prstGeom>
          <a:noFill/>
          <a:ln w="15875">
            <a:solidFill>
              <a:srgbClr val="9AB0AE"/>
            </a:solidFill>
            <a:prstDash val="solid"/>
            <a:tailEnd type="triangle"/>
          </a:ln>
        </p:spPr>
      </p:sp>
      <p:sp>
        <p:nvSpPr>
          <p:cNvPr id="22" name="Text 20"/>
          <p:cNvSpPr/>
          <p:nvPr/>
        </p:nvSpPr>
        <p:spPr>
          <a:xfrm>
            <a:off x="8257032" y="3449117"/>
            <a:ext cx="2606040" cy="566928"/>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Needs judgment?</a:t>
            </a:r>
            <a:endParaRPr lang="en-US" sz="800" dirty="0"/>
          </a:p>
        </p:txBody>
      </p:sp>
      <p:sp>
        <p:nvSpPr>
          <p:cNvPr id="23" name="Shape 21"/>
          <p:cNvSpPr/>
          <p:nvPr/>
        </p:nvSpPr>
        <p:spPr>
          <a:xfrm>
            <a:off x="9560052" y="3178454"/>
            <a:ext cx="0" cy="261518"/>
          </a:xfrm>
          <a:prstGeom prst="line">
            <a:avLst/>
          </a:prstGeom>
          <a:noFill/>
          <a:ln w="15875">
            <a:solidFill>
              <a:srgbClr val="9AB0AE"/>
            </a:solidFill>
            <a:prstDash val="solid"/>
            <a:tailEnd type="triangle"/>
          </a:ln>
        </p:spPr>
      </p:sp>
      <p:sp>
        <p:nvSpPr>
          <p:cNvPr id="24" name="Text 22"/>
          <p:cNvSpPr/>
          <p:nvPr/>
        </p:nvSpPr>
        <p:spPr>
          <a:xfrm>
            <a:off x="7479792" y="4286707"/>
            <a:ext cx="1961388" cy="530352"/>
          </a:xfrm>
          <a:prstGeom prst="roundRect">
            <a:avLst>
              <a:gd name="adj" fmla="val 8621"/>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Sent automatically</a:t>
            </a:r>
            <a:endParaRPr lang="en-US" sz="800" dirty="0"/>
          </a:p>
        </p:txBody>
      </p:sp>
      <p:sp>
        <p:nvSpPr>
          <p:cNvPr id="25" name="Shape 23"/>
          <p:cNvSpPr/>
          <p:nvPr/>
        </p:nvSpPr>
        <p:spPr>
          <a:xfrm flipH="1">
            <a:off x="8460486" y="4016045"/>
            <a:ext cx="1099566" cy="261518"/>
          </a:xfrm>
          <a:prstGeom prst="line">
            <a:avLst/>
          </a:prstGeom>
          <a:noFill/>
          <a:ln w="15875">
            <a:solidFill>
              <a:srgbClr val="9AB0AE"/>
            </a:solidFill>
            <a:prstDash val="solid"/>
            <a:tailEnd type="triangle"/>
          </a:ln>
        </p:spPr>
      </p:sp>
      <p:sp>
        <p:nvSpPr>
          <p:cNvPr id="26" name="Text 24"/>
          <p:cNvSpPr/>
          <p:nvPr/>
        </p:nvSpPr>
        <p:spPr>
          <a:xfrm>
            <a:off x="8607933" y="4050792"/>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no</a:t>
            </a:r>
            <a:endParaRPr lang="en-US" sz="750" dirty="0"/>
          </a:p>
        </p:txBody>
      </p:sp>
      <p:sp>
        <p:nvSpPr>
          <p:cNvPr id="27" name="Text 25"/>
          <p:cNvSpPr/>
          <p:nvPr/>
        </p:nvSpPr>
        <p:spPr>
          <a:xfrm>
            <a:off x="9678924" y="4286707"/>
            <a:ext cx="1961388" cy="530352"/>
          </a:xfrm>
          <a:prstGeom prst="roundRect">
            <a:avLst>
              <a:gd name="adj" fmla="val 8621"/>
            </a:avLst>
          </a:prstGeom>
          <a:solidFill>
            <a:srgbClr val="B5563F"/>
          </a:solidFill>
          <a:ln w="12700">
            <a:solidFill>
              <a:srgbClr val="B5563F"/>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Drafted, sent to</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auditor for approval</a:t>
            </a:r>
            <a:endParaRPr lang="en-US" sz="800" dirty="0"/>
          </a:p>
        </p:txBody>
      </p:sp>
      <p:sp>
        <p:nvSpPr>
          <p:cNvPr id="28" name="Shape 26"/>
          <p:cNvSpPr/>
          <p:nvPr/>
        </p:nvSpPr>
        <p:spPr>
          <a:xfrm>
            <a:off x="9560052" y="4016045"/>
            <a:ext cx="1099566" cy="261518"/>
          </a:xfrm>
          <a:prstGeom prst="line">
            <a:avLst/>
          </a:prstGeom>
          <a:noFill/>
          <a:ln w="15875">
            <a:solidFill>
              <a:srgbClr val="9AB0AE"/>
            </a:solidFill>
            <a:prstDash val="solid"/>
            <a:tailEnd type="triangle"/>
          </a:ln>
        </p:spPr>
      </p:sp>
      <p:sp>
        <p:nvSpPr>
          <p:cNvPr id="29" name="Text 27"/>
          <p:cNvSpPr/>
          <p:nvPr/>
        </p:nvSpPr>
        <p:spPr>
          <a:xfrm>
            <a:off x="10000107" y="4050792"/>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yes</a:t>
            </a:r>
            <a:endParaRPr lang="en-US" sz="750" dirty="0"/>
          </a:p>
        </p:txBody>
      </p:sp>
      <p:sp>
        <p:nvSpPr>
          <p:cNvPr id="30" name="Text 28"/>
          <p:cNvSpPr/>
          <p:nvPr/>
        </p:nvSpPr>
        <p:spPr>
          <a:xfrm>
            <a:off x="7914132" y="5087722"/>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Logged to client's</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communication history</a:t>
            </a:r>
            <a:endParaRPr lang="en-US" sz="800" dirty="0"/>
          </a:p>
        </p:txBody>
      </p:sp>
      <p:sp>
        <p:nvSpPr>
          <p:cNvPr id="31" name="Shape 29"/>
          <p:cNvSpPr/>
          <p:nvPr/>
        </p:nvSpPr>
        <p:spPr>
          <a:xfrm>
            <a:off x="8460486" y="4817059"/>
            <a:ext cx="1099566" cy="261518"/>
          </a:xfrm>
          <a:prstGeom prst="line">
            <a:avLst/>
          </a:prstGeom>
          <a:noFill/>
          <a:ln w="15875">
            <a:solidFill>
              <a:srgbClr val="9AB0AE"/>
            </a:solidFill>
            <a:prstDash val="solid"/>
            <a:tailEnd type="triangle"/>
          </a:ln>
        </p:spPr>
      </p:sp>
      <p:sp>
        <p:nvSpPr>
          <p:cNvPr id="32" name="Text 30"/>
          <p:cNvSpPr/>
          <p:nvPr/>
        </p:nvSpPr>
        <p:spPr>
          <a:xfrm>
            <a:off x="7914132" y="5852160"/>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Anything needing tone or</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interpretation goes via the auditor</a:t>
            </a:r>
            <a:endParaRPr lang="en-US" sz="800" dirty="0"/>
          </a:p>
        </p:txBody>
      </p:sp>
      <p:sp>
        <p:nvSpPr>
          <p:cNvPr id="33" name="Shape 31"/>
          <p:cNvSpPr/>
          <p:nvPr/>
        </p:nvSpPr>
        <p:spPr>
          <a:xfrm>
            <a:off x="9560052" y="5581498"/>
            <a:ext cx="0" cy="261518"/>
          </a:xfrm>
          <a:prstGeom prst="line">
            <a:avLst/>
          </a:prstGeom>
          <a:noFill/>
          <a:ln w="15875">
            <a:solidFill>
              <a:srgbClr val="9AB0AE"/>
            </a:solidFill>
            <a:prstDash val="solid"/>
            <a:tailEnd type="triangle"/>
          </a:ln>
        </p:spPr>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06</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6. TDS / TCS Return Automation</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Apply the same reconciliation logic already built for GST to TDS/TCS compliance.</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TDS data is pulled in</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deductions per the books and Form 26AS / TRACES data are gathered automatically.</a:t>
            </a:r>
            <a:endParaRPr lang="en-US" sz="1050" dirty="0"/>
          </a:p>
        </p:txBody>
      </p:sp>
      <p:sp>
        <p:nvSpPr>
          <p:cNvPr id="8" name="Text 6"/>
          <p:cNvSpPr/>
          <p:nvPr/>
        </p:nvSpPr>
        <p:spPr>
          <a:xfrm>
            <a:off x="566928" y="2889504"/>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834640"/>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Deductions are matched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against deposits and due dates, exactly the way GST reconciliation matches purchase entries. Matched items go straight into the quarterly return draft.</a:t>
            </a:r>
            <a:endParaRPr lang="en-US" sz="1050" dirty="0"/>
          </a:p>
        </p:txBody>
      </p:sp>
      <p:sp>
        <p:nvSpPr>
          <p:cNvPr id="10" name="Text 8"/>
          <p:cNvSpPr/>
          <p:nvPr/>
        </p:nvSpPr>
        <p:spPr>
          <a:xfrm>
            <a:off x="566928" y="3877056"/>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822192"/>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Problems are flagged individually</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short deduction, late deposit or a books-vs-26AS mismatch is flagged to the auditor with the specific entry attached.</a:t>
            </a:r>
            <a:endParaRPr lang="en-US" sz="1050" dirty="0"/>
          </a:p>
        </p:txBody>
      </p:sp>
      <p:sp>
        <p:nvSpPr>
          <p:cNvPr id="12" name="Text 10"/>
          <p:cNvSpPr/>
          <p:nvPr/>
        </p:nvSpPr>
        <p:spPr>
          <a:xfrm>
            <a:off x="566928" y="4864608"/>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 name="Text 11"/>
          <p:cNvSpPr/>
          <p:nvPr/>
        </p:nvSpPr>
        <p:spPr>
          <a:xfrm>
            <a:off x="950976" y="4809744"/>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The quarterly return is prepared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24Q, 26Q or 27EQ, ready for review and filing.</a:t>
            </a:r>
            <a:endParaRPr lang="en-US" sz="1050" dirty="0"/>
          </a:p>
        </p:txBody>
      </p:sp>
      <p:sp>
        <p:nvSpPr>
          <p:cNvPr id="14" name="Shape 12"/>
          <p:cNvSpPr/>
          <p:nvPr/>
        </p:nvSpPr>
        <p:spPr>
          <a:xfrm>
            <a:off x="566928" y="5724144"/>
            <a:ext cx="6583680" cy="585216"/>
          </a:xfrm>
          <a:prstGeom prst="roundRect">
            <a:avLst>
              <a:gd name="adj" fmla="val 10938"/>
            </a:avLst>
          </a:prstGeom>
          <a:solidFill>
            <a:srgbClr val="E2ECEA"/>
          </a:solidFill>
          <a:ln w="12700">
            <a:solidFill>
              <a:srgbClr val="E2ECEA"/>
            </a:solidFill>
            <a:prstDash val="solid"/>
          </a:ln>
        </p:spPr>
      </p:sp>
      <p:sp>
        <p:nvSpPr>
          <p:cNvPr id="15" name="Text 13"/>
          <p:cNvSpPr/>
          <p:nvPr/>
        </p:nvSpPr>
        <p:spPr>
          <a:xfrm>
            <a:off x="768096" y="5779008"/>
            <a:ext cx="6181344" cy="475488"/>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The auditor reviews only the flagged short-deductions or late deposits before filing.</a:t>
            </a:r>
            <a:endParaRPr lang="en-US" sz="1000" dirty="0"/>
          </a:p>
        </p:txBody>
      </p:sp>
      <p:sp>
        <p:nvSpPr>
          <p:cNvPr id="16" name="Shape 14"/>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17" name="Text 15"/>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18" name="Text 16"/>
          <p:cNvSpPr/>
          <p:nvPr/>
        </p:nvSpPr>
        <p:spPr>
          <a:xfrm>
            <a:off x="7914132" y="192024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TDS deducted (books)</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 Form 26AS/TRACES pulled in</a:t>
            </a:r>
            <a:endParaRPr lang="en-US" sz="800" dirty="0"/>
          </a:p>
        </p:txBody>
      </p:sp>
      <p:sp>
        <p:nvSpPr>
          <p:cNvPr id="19" name="Text 17"/>
          <p:cNvSpPr/>
          <p:nvPr/>
        </p:nvSpPr>
        <p:spPr>
          <a:xfrm>
            <a:off x="7914132" y="2684678"/>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Matched against</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deposits + due dates</a:t>
            </a:r>
            <a:endParaRPr lang="en-US" sz="800" dirty="0"/>
          </a:p>
        </p:txBody>
      </p:sp>
      <p:sp>
        <p:nvSpPr>
          <p:cNvPr id="20" name="Shape 18"/>
          <p:cNvSpPr/>
          <p:nvPr/>
        </p:nvSpPr>
        <p:spPr>
          <a:xfrm>
            <a:off x="9560052" y="2414016"/>
            <a:ext cx="0" cy="261518"/>
          </a:xfrm>
          <a:prstGeom prst="line">
            <a:avLst/>
          </a:prstGeom>
          <a:noFill/>
          <a:ln w="15875">
            <a:solidFill>
              <a:srgbClr val="9AB0AE"/>
            </a:solidFill>
            <a:prstDash val="solid"/>
            <a:tailEnd type="triangle"/>
          </a:ln>
        </p:spPr>
      </p:sp>
      <p:sp>
        <p:nvSpPr>
          <p:cNvPr id="21" name="Text 19"/>
          <p:cNvSpPr/>
          <p:nvPr/>
        </p:nvSpPr>
        <p:spPr>
          <a:xfrm>
            <a:off x="8257032" y="3449117"/>
            <a:ext cx="2606040" cy="566928"/>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Match found?</a:t>
            </a:r>
            <a:endParaRPr lang="en-US" sz="800" dirty="0"/>
          </a:p>
        </p:txBody>
      </p:sp>
      <p:sp>
        <p:nvSpPr>
          <p:cNvPr id="22" name="Shape 20"/>
          <p:cNvSpPr/>
          <p:nvPr/>
        </p:nvSpPr>
        <p:spPr>
          <a:xfrm>
            <a:off x="9560052" y="3178454"/>
            <a:ext cx="0" cy="261518"/>
          </a:xfrm>
          <a:prstGeom prst="line">
            <a:avLst/>
          </a:prstGeom>
          <a:noFill/>
          <a:ln w="15875">
            <a:solidFill>
              <a:srgbClr val="9AB0AE"/>
            </a:solidFill>
            <a:prstDash val="solid"/>
            <a:tailEnd type="triangle"/>
          </a:ln>
        </p:spPr>
      </p:sp>
      <p:sp>
        <p:nvSpPr>
          <p:cNvPr id="23" name="Text 21"/>
          <p:cNvSpPr/>
          <p:nvPr/>
        </p:nvSpPr>
        <p:spPr>
          <a:xfrm>
            <a:off x="7479792" y="4286707"/>
            <a:ext cx="1961388" cy="530352"/>
          </a:xfrm>
          <a:prstGeom prst="roundRect">
            <a:avLst>
              <a:gd name="adj" fmla="val 8621"/>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Included in quarterly</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return draft</a:t>
            </a:r>
            <a:endParaRPr lang="en-US" sz="800" dirty="0"/>
          </a:p>
        </p:txBody>
      </p:sp>
      <p:sp>
        <p:nvSpPr>
          <p:cNvPr id="24" name="Shape 22"/>
          <p:cNvSpPr/>
          <p:nvPr/>
        </p:nvSpPr>
        <p:spPr>
          <a:xfrm flipH="1">
            <a:off x="8460486" y="4016045"/>
            <a:ext cx="1099566" cy="261518"/>
          </a:xfrm>
          <a:prstGeom prst="line">
            <a:avLst/>
          </a:prstGeom>
          <a:noFill/>
          <a:ln w="15875">
            <a:solidFill>
              <a:srgbClr val="9AB0AE"/>
            </a:solidFill>
            <a:prstDash val="solid"/>
            <a:tailEnd type="triangle"/>
          </a:ln>
        </p:spPr>
      </p:sp>
      <p:sp>
        <p:nvSpPr>
          <p:cNvPr id="25" name="Text 23"/>
          <p:cNvSpPr/>
          <p:nvPr/>
        </p:nvSpPr>
        <p:spPr>
          <a:xfrm>
            <a:off x="8607933" y="4050792"/>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yes</a:t>
            </a:r>
            <a:endParaRPr lang="en-US" sz="750" dirty="0"/>
          </a:p>
        </p:txBody>
      </p:sp>
      <p:sp>
        <p:nvSpPr>
          <p:cNvPr id="26" name="Text 24"/>
          <p:cNvSpPr/>
          <p:nvPr/>
        </p:nvSpPr>
        <p:spPr>
          <a:xfrm>
            <a:off x="9678924" y="4286707"/>
            <a:ext cx="1961388" cy="530352"/>
          </a:xfrm>
          <a:prstGeom prst="roundRect">
            <a:avLst>
              <a:gd name="adj" fmla="val 8621"/>
            </a:avLst>
          </a:prstGeom>
          <a:solidFill>
            <a:srgbClr val="B5563F"/>
          </a:solidFill>
          <a:ln w="12700">
            <a:solidFill>
              <a:srgbClr val="B5563F"/>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Flagged: short deduction /</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late deposit / mismatch</a:t>
            </a:r>
            <a:endParaRPr lang="en-US" sz="800" dirty="0"/>
          </a:p>
        </p:txBody>
      </p:sp>
      <p:sp>
        <p:nvSpPr>
          <p:cNvPr id="27" name="Shape 25"/>
          <p:cNvSpPr/>
          <p:nvPr/>
        </p:nvSpPr>
        <p:spPr>
          <a:xfrm>
            <a:off x="9560052" y="4016045"/>
            <a:ext cx="1099566" cy="261518"/>
          </a:xfrm>
          <a:prstGeom prst="line">
            <a:avLst/>
          </a:prstGeom>
          <a:noFill/>
          <a:ln w="15875">
            <a:solidFill>
              <a:srgbClr val="9AB0AE"/>
            </a:solidFill>
            <a:prstDash val="solid"/>
            <a:tailEnd type="triangle"/>
          </a:ln>
        </p:spPr>
      </p:sp>
      <p:sp>
        <p:nvSpPr>
          <p:cNvPr id="28" name="Text 26"/>
          <p:cNvSpPr/>
          <p:nvPr/>
        </p:nvSpPr>
        <p:spPr>
          <a:xfrm>
            <a:off x="10000107" y="4050792"/>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no</a:t>
            </a:r>
            <a:endParaRPr lang="en-US" sz="750" dirty="0"/>
          </a:p>
        </p:txBody>
      </p:sp>
      <p:sp>
        <p:nvSpPr>
          <p:cNvPr id="29" name="Text 27"/>
          <p:cNvSpPr/>
          <p:nvPr/>
        </p:nvSpPr>
        <p:spPr>
          <a:xfrm>
            <a:off x="7914132" y="5087722"/>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Quarterly return prepared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(24Q / 26Q / 27EQ)</a:t>
            </a:r>
            <a:endParaRPr lang="en-US" sz="800" dirty="0"/>
          </a:p>
        </p:txBody>
      </p:sp>
      <p:sp>
        <p:nvSpPr>
          <p:cNvPr id="30" name="Shape 28"/>
          <p:cNvSpPr/>
          <p:nvPr/>
        </p:nvSpPr>
        <p:spPr>
          <a:xfrm>
            <a:off x="8460486" y="4817059"/>
            <a:ext cx="1099566" cy="261518"/>
          </a:xfrm>
          <a:prstGeom prst="line">
            <a:avLst/>
          </a:prstGeom>
          <a:noFill/>
          <a:ln w="15875">
            <a:solidFill>
              <a:srgbClr val="9AB0AE"/>
            </a:solidFill>
            <a:prstDash val="solid"/>
            <a:tailEnd type="triangle"/>
          </a:ln>
        </p:spPr>
      </p:sp>
      <p:sp>
        <p:nvSpPr>
          <p:cNvPr id="31" name="Text 29"/>
          <p:cNvSpPr/>
          <p:nvPr/>
        </p:nvSpPr>
        <p:spPr>
          <a:xfrm>
            <a:off x="7914132" y="5852160"/>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Auditor reviews only flagged</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entries before filing</a:t>
            </a:r>
            <a:endParaRPr lang="en-US" sz="800" dirty="0"/>
          </a:p>
        </p:txBody>
      </p:sp>
      <p:sp>
        <p:nvSpPr>
          <p:cNvPr id="32" name="Shape 30"/>
          <p:cNvSpPr/>
          <p:nvPr/>
        </p:nvSpPr>
        <p:spPr>
          <a:xfrm>
            <a:off x="9560052" y="5581498"/>
            <a:ext cx="0" cy="261518"/>
          </a:xfrm>
          <a:prstGeom prst="line">
            <a:avLst/>
          </a:prstGeom>
          <a:noFill/>
          <a:ln w="15875">
            <a:solidFill>
              <a:srgbClr val="9AB0AE"/>
            </a:solidFill>
            <a:prstDash val="solid"/>
            <a:tailEnd type="triangle"/>
          </a:ln>
        </p:spPr>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07</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7. Bank Reconciliation</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Automate a task that is currently manual for most small and mid-size clients.</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Bank and books data are pulled in</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across all of a client's bank accounts, not one at a time.</a:t>
            </a:r>
            <a:endParaRPr lang="en-US" sz="1050" dirty="0"/>
          </a:p>
        </p:txBody>
      </p:sp>
      <p:sp>
        <p:nvSpPr>
          <p:cNvPr id="8" name="Text 6"/>
          <p:cNvSpPr/>
          <p:nvPr/>
        </p:nvSpPr>
        <p:spPr>
          <a:xfrm>
            <a:off x="566928" y="2889504"/>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834640"/>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Entries are auto-matched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by date, amount and reference number. Matched entries are confirmed automatically.</a:t>
            </a:r>
            <a:endParaRPr lang="en-US" sz="1050" dirty="0"/>
          </a:p>
        </p:txBody>
      </p:sp>
      <p:sp>
        <p:nvSpPr>
          <p:cNvPr id="10" name="Text 8"/>
          <p:cNvSpPr/>
          <p:nvPr/>
        </p:nvSpPr>
        <p:spPr>
          <a:xfrm>
            <a:off x="566928" y="3877056"/>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822192"/>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Unmatched entries are flagged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bank charges, unrecorded entries, or simple timing differences — each surfaced for staff review rather than hunted for.</a:t>
            </a:r>
            <a:endParaRPr lang="en-US" sz="1050" dirty="0"/>
          </a:p>
        </p:txBody>
      </p:sp>
      <p:sp>
        <p:nvSpPr>
          <p:cNvPr id="12" name="Text 10"/>
          <p:cNvSpPr/>
          <p:nvPr/>
        </p:nvSpPr>
        <p:spPr>
          <a:xfrm>
            <a:off x="566928" y="4864608"/>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 name="Text 11"/>
          <p:cNvSpPr/>
          <p:nvPr/>
        </p:nvSpPr>
        <p:spPr>
          <a:xfrm>
            <a:off x="950976" y="4809744"/>
            <a:ext cx="6199632" cy="932688"/>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A statement is generated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per account, per period, ready for the client file.</a:t>
            </a:r>
            <a:endParaRPr lang="en-US" sz="1050" dirty="0"/>
          </a:p>
        </p:txBody>
      </p:sp>
      <p:sp>
        <p:nvSpPr>
          <p:cNvPr id="14" name="Shape 12"/>
          <p:cNvSpPr/>
          <p:nvPr/>
        </p:nvSpPr>
        <p:spPr>
          <a:xfrm>
            <a:off x="566928" y="5724144"/>
            <a:ext cx="6583680" cy="585216"/>
          </a:xfrm>
          <a:prstGeom prst="roundRect">
            <a:avLst>
              <a:gd name="adj" fmla="val 10938"/>
            </a:avLst>
          </a:prstGeom>
          <a:solidFill>
            <a:srgbClr val="E2ECEA"/>
          </a:solidFill>
          <a:ln w="12700">
            <a:solidFill>
              <a:srgbClr val="E2ECEA"/>
            </a:solidFill>
            <a:prstDash val="solid"/>
          </a:ln>
        </p:spPr>
      </p:sp>
      <p:sp>
        <p:nvSpPr>
          <p:cNvPr id="15" name="Text 13"/>
          <p:cNvSpPr/>
          <p:nvPr/>
        </p:nvSpPr>
        <p:spPr>
          <a:xfrm>
            <a:off x="768096" y="5779008"/>
            <a:ext cx="6181344" cy="475488"/>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Staff review only the unmatched items list.</a:t>
            </a:r>
            <a:endParaRPr lang="en-US" sz="1000" dirty="0"/>
          </a:p>
        </p:txBody>
      </p:sp>
      <p:sp>
        <p:nvSpPr>
          <p:cNvPr id="16" name="Shape 14"/>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17" name="Text 15"/>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18" name="Text 16"/>
          <p:cNvSpPr/>
          <p:nvPr/>
        </p:nvSpPr>
        <p:spPr>
          <a:xfrm>
            <a:off x="7914132" y="192024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Bank statement +</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Tally bank book pulled in</a:t>
            </a:r>
            <a:endParaRPr lang="en-US" sz="800" dirty="0"/>
          </a:p>
        </p:txBody>
      </p:sp>
      <p:sp>
        <p:nvSpPr>
          <p:cNvPr id="19" name="Text 17"/>
          <p:cNvSpPr/>
          <p:nvPr/>
        </p:nvSpPr>
        <p:spPr>
          <a:xfrm>
            <a:off x="7914132" y="2684678"/>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Auto-matched by date,</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amount, reference</a:t>
            </a:r>
            <a:endParaRPr lang="en-US" sz="800" dirty="0"/>
          </a:p>
        </p:txBody>
      </p:sp>
      <p:sp>
        <p:nvSpPr>
          <p:cNvPr id="20" name="Shape 18"/>
          <p:cNvSpPr/>
          <p:nvPr/>
        </p:nvSpPr>
        <p:spPr>
          <a:xfrm>
            <a:off x="9560052" y="2414016"/>
            <a:ext cx="0" cy="261518"/>
          </a:xfrm>
          <a:prstGeom prst="line">
            <a:avLst/>
          </a:prstGeom>
          <a:noFill/>
          <a:ln w="15875">
            <a:solidFill>
              <a:srgbClr val="9AB0AE"/>
            </a:solidFill>
            <a:prstDash val="solid"/>
            <a:tailEnd type="triangle"/>
          </a:ln>
        </p:spPr>
      </p:sp>
      <p:sp>
        <p:nvSpPr>
          <p:cNvPr id="21" name="Text 19"/>
          <p:cNvSpPr/>
          <p:nvPr/>
        </p:nvSpPr>
        <p:spPr>
          <a:xfrm>
            <a:off x="8257032" y="3449117"/>
            <a:ext cx="2606040" cy="566928"/>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Match found?</a:t>
            </a:r>
            <a:endParaRPr lang="en-US" sz="800" dirty="0"/>
          </a:p>
        </p:txBody>
      </p:sp>
      <p:sp>
        <p:nvSpPr>
          <p:cNvPr id="22" name="Shape 20"/>
          <p:cNvSpPr/>
          <p:nvPr/>
        </p:nvSpPr>
        <p:spPr>
          <a:xfrm>
            <a:off x="9560052" y="3178454"/>
            <a:ext cx="0" cy="261518"/>
          </a:xfrm>
          <a:prstGeom prst="line">
            <a:avLst/>
          </a:prstGeom>
          <a:noFill/>
          <a:ln w="15875">
            <a:solidFill>
              <a:srgbClr val="9AB0AE"/>
            </a:solidFill>
            <a:prstDash val="solid"/>
            <a:tailEnd type="triangle"/>
          </a:ln>
        </p:spPr>
      </p:sp>
      <p:sp>
        <p:nvSpPr>
          <p:cNvPr id="23" name="Text 21"/>
          <p:cNvSpPr/>
          <p:nvPr/>
        </p:nvSpPr>
        <p:spPr>
          <a:xfrm>
            <a:off x="7479792" y="4286707"/>
            <a:ext cx="1961388" cy="530352"/>
          </a:xfrm>
          <a:prstGeom prst="roundRect">
            <a:avLst>
              <a:gd name="adj" fmla="val 8621"/>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Confirmed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automatically</a:t>
            </a:r>
            <a:endParaRPr lang="en-US" sz="800" dirty="0"/>
          </a:p>
        </p:txBody>
      </p:sp>
      <p:sp>
        <p:nvSpPr>
          <p:cNvPr id="24" name="Shape 22"/>
          <p:cNvSpPr/>
          <p:nvPr/>
        </p:nvSpPr>
        <p:spPr>
          <a:xfrm flipH="1">
            <a:off x="8460486" y="4016045"/>
            <a:ext cx="1099566" cy="261518"/>
          </a:xfrm>
          <a:prstGeom prst="line">
            <a:avLst/>
          </a:prstGeom>
          <a:noFill/>
          <a:ln w="15875">
            <a:solidFill>
              <a:srgbClr val="9AB0AE"/>
            </a:solidFill>
            <a:prstDash val="solid"/>
            <a:tailEnd type="triangle"/>
          </a:ln>
        </p:spPr>
      </p:sp>
      <p:sp>
        <p:nvSpPr>
          <p:cNvPr id="25" name="Text 23"/>
          <p:cNvSpPr/>
          <p:nvPr/>
        </p:nvSpPr>
        <p:spPr>
          <a:xfrm>
            <a:off x="8607933" y="4050792"/>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yes</a:t>
            </a:r>
            <a:endParaRPr lang="en-US" sz="750" dirty="0"/>
          </a:p>
        </p:txBody>
      </p:sp>
      <p:sp>
        <p:nvSpPr>
          <p:cNvPr id="26" name="Text 24"/>
          <p:cNvSpPr/>
          <p:nvPr/>
        </p:nvSpPr>
        <p:spPr>
          <a:xfrm>
            <a:off x="9678924" y="4286707"/>
            <a:ext cx="1961388" cy="530352"/>
          </a:xfrm>
          <a:prstGeom prst="roundRect">
            <a:avLst>
              <a:gd name="adj" fmla="val 8621"/>
            </a:avLst>
          </a:prstGeom>
          <a:solidFill>
            <a:srgbClr val="B5563F"/>
          </a:solidFill>
          <a:ln w="12700">
            <a:solidFill>
              <a:srgbClr val="B5563F"/>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Flagged for</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staff review</a:t>
            </a:r>
            <a:endParaRPr lang="en-US" sz="800" dirty="0"/>
          </a:p>
        </p:txBody>
      </p:sp>
      <p:sp>
        <p:nvSpPr>
          <p:cNvPr id="27" name="Shape 25"/>
          <p:cNvSpPr/>
          <p:nvPr/>
        </p:nvSpPr>
        <p:spPr>
          <a:xfrm>
            <a:off x="9560052" y="4016045"/>
            <a:ext cx="1099566" cy="261518"/>
          </a:xfrm>
          <a:prstGeom prst="line">
            <a:avLst/>
          </a:prstGeom>
          <a:noFill/>
          <a:ln w="15875">
            <a:solidFill>
              <a:srgbClr val="9AB0AE"/>
            </a:solidFill>
            <a:prstDash val="solid"/>
            <a:tailEnd type="triangle"/>
          </a:ln>
        </p:spPr>
      </p:sp>
      <p:sp>
        <p:nvSpPr>
          <p:cNvPr id="28" name="Text 26"/>
          <p:cNvSpPr/>
          <p:nvPr/>
        </p:nvSpPr>
        <p:spPr>
          <a:xfrm>
            <a:off x="10000107" y="4050792"/>
            <a:ext cx="512064" cy="201168"/>
          </a:xfrm>
          <a:prstGeom prst="rect">
            <a:avLst/>
          </a:prstGeom>
          <a:noFill/>
          <a:ln/>
        </p:spPr>
        <p:txBody>
          <a:bodyPr wrap="square" lIns="0" tIns="0" rIns="0" bIns="0" rtlCol="0" anchor="ctr"/>
          <a:lstStyle/>
          <a:p>
            <a:pPr algn="ctr" indent="0" marL="0">
              <a:buNone/>
            </a:pPr>
            <a:r>
              <a:rPr lang="en-US" sz="750" i="1" dirty="0">
                <a:solidFill>
                  <a:srgbClr val="5C6B6A"/>
                </a:solidFill>
                <a:latin typeface="Calibri" pitchFamily="34" charset="0"/>
                <a:ea typeface="Calibri" pitchFamily="34" charset="-122"/>
                <a:cs typeface="Calibri" pitchFamily="34" charset="-120"/>
              </a:rPr>
              <a:t>no</a:t>
            </a:r>
            <a:endParaRPr lang="en-US" sz="750" dirty="0"/>
          </a:p>
        </p:txBody>
      </p:sp>
      <p:sp>
        <p:nvSpPr>
          <p:cNvPr id="29" name="Text 27"/>
          <p:cNvSpPr/>
          <p:nvPr/>
        </p:nvSpPr>
        <p:spPr>
          <a:xfrm>
            <a:off x="7914132" y="5087722"/>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Statement generated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per account, per period</a:t>
            </a:r>
            <a:endParaRPr lang="en-US" sz="800" dirty="0"/>
          </a:p>
        </p:txBody>
      </p:sp>
      <p:sp>
        <p:nvSpPr>
          <p:cNvPr id="30" name="Shape 28"/>
          <p:cNvSpPr/>
          <p:nvPr/>
        </p:nvSpPr>
        <p:spPr>
          <a:xfrm>
            <a:off x="8460486" y="4817059"/>
            <a:ext cx="1099566" cy="261518"/>
          </a:xfrm>
          <a:prstGeom prst="line">
            <a:avLst/>
          </a:prstGeom>
          <a:noFill/>
          <a:ln w="15875">
            <a:solidFill>
              <a:srgbClr val="9AB0AE"/>
            </a:solidFill>
            <a:prstDash val="solid"/>
            <a:tailEnd type="triangle"/>
          </a:ln>
        </p:spPr>
      </p:sp>
      <p:sp>
        <p:nvSpPr>
          <p:cNvPr id="31" name="Text 29"/>
          <p:cNvSpPr/>
          <p:nvPr/>
        </p:nvSpPr>
        <p:spPr>
          <a:xfrm>
            <a:off x="7914132" y="5852160"/>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Staff review only</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the unmatched items</a:t>
            </a:r>
            <a:endParaRPr lang="en-US" sz="800" dirty="0"/>
          </a:p>
        </p:txBody>
      </p:sp>
      <p:sp>
        <p:nvSpPr>
          <p:cNvPr id="32" name="Shape 30"/>
          <p:cNvSpPr/>
          <p:nvPr/>
        </p:nvSpPr>
        <p:spPr>
          <a:xfrm>
            <a:off x="9560052" y="5581498"/>
            <a:ext cx="0" cy="261518"/>
          </a:xfrm>
          <a:prstGeom prst="line">
            <a:avLst/>
          </a:prstGeom>
          <a:noFill/>
          <a:ln w="15875">
            <a:solidFill>
              <a:srgbClr val="9AB0AE"/>
            </a:solidFill>
            <a:prstDash val="solid"/>
            <a:tailEnd type="triangle"/>
          </a:ln>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08</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8. Working Papers</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Standardize and speed up documentation for every engagement.</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Output feeds in automatically</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reconciliation results, validation results and client documents populate the working paper without manual assembly.</a:t>
            </a:r>
            <a:endParaRPr lang="en-US" sz="1050" dirty="0"/>
          </a:p>
        </p:txBody>
      </p:sp>
      <p:sp>
        <p:nvSpPr>
          <p:cNvPr id="8" name="Text 6"/>
          <p:cNvSpPr/>
          <p:nvPr/>
        </p:nvSpPr>
        <p:spPr>
          <a:xfrm>
            <a:off x="566928" y="283921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78434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The standard template is populated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scope, data sources and exceptions noted — the factual backbone of the working paper — all assembled automatically.</a:t>
            </a:r>
            <a:endParaRPr lang="en-US" sz="1050" dirty="0"/>
          </a:p>
        </p:txBody>
      </p:sp>
      <p:sp>
        <p:nvSpPr>
          <p:cNvPr id="10" name="Text 8"/>
          <p:cNvSpPr/>
          <p:nvPr/>
        </p:nvSpPr>
        <p:spPr>
          <a:xfrm>
            <a:off x="566928" y="377647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72160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The auditor adds judgment</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professional conclusions and notes remain entirely auditor-authored. CAOS never writes these.</a:t>
            </a:r>
            <a:endParaRPr lang="en-US" sz="1050" dirty="0"/>
          </a:p>
        </p:txBody>
      </p:sp>
      <p:sp>
        <p:nvSpPr>
          <p:cNvPr id="12" name="Text 10"/>
          <p:cNvSpPr/>
          <p:nvPr/>
        </p:nvSpPr>
        <p:spPr>
          <a:xfrm>
            <a:off x="566928" y="471373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 name="Text 11"/>
          <p:cNvSpPr/>
          <p:nvPr/>
        </p:nvSpPr>
        <p:spPr>
          <a:xfrm>
            <a:off x="950976" y="465886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The finalized paper is filed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to the client's record, complete and ready for reference.</a:t>
            </a:r>
            <a:endParaRPr lang="en-US" sz="1050" dirty="0"/>
          </a:p>
        </p:txBody>
      </p:sp>
      <p:sp>
        <p:nvSpPr>
          <p:cNvPr id="14" name="Shape 12"/>
          <p:cNvSpPr/>
          <p:nvPr/>
        </p:nvSpPr>
        <p:spPr>
          <a:xfrm>
            <a:off x="566928" y="5522976"/>
            <a:ext cx="6583680" cy="786384"/>
          </a:xfrm>
          <a:prstGeom prst="roundRect">
            <a:avLst>
              <a:gd name="adj" fmla="val 8140"/>
            </a:avLst>
          </a:prstGeom>
          <a:solidFill>
            <a:srgbClr val="E2ECEA"/>
          </a:solidFill>
          <a:ln w="12700">
            <a:solidFill>
              <a:srgbClr val="E2ECEA"/>
            </a:solidFill>
            <a:prstDash val="solid"/>
          </a:ln>
        </p:spPr>
      </p:sp>
      <p:sp>
        <p:nvSpPr>
          <p:cNvPr id="15" name="Text 13"/>
          <p:cNvSpPr/>
          <p:nvPr/>
        </p:nvSpPr>
        <p:spPr>
          <a:xfrm>
            <a:off x="768096" y="5577840"/>
            <a:ext cx="6181344" cy="676656"/>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All professional judgment and conclusions remain auditor-authored — CAOS only assembles the factual backbone.</a:t>
            </a:r>
            <a:endParaRPr lang="en-US" sz="1000" dirty="0"/>
          </a:p>
        </p:txBody>
      </p:sp>
      <p:sp>
        <p:nvSpPr>
          <p:cNvPr id="16" name="Shape 14"/>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17" name="Text 15"/>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18" name="Text 16"/>
          <p:cNvSpPr/>
          <p:nvPr/>
        </p:nvSpPr>
        <p:spPr>
          <a:xfrm>
            <a:off x="7914132" y="2167128"/>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Reconciliation + validation</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output + documents feed in</a:t>
            </a:r>
            <a:endParaRPr lang="en-US" sz="800" dirty="0"/>
          </a:p>
        </p:txBody>
      </p:sp>
      <p:sp>
        <p:nvSpPr>
          <p:cNvPr id="19" name="Text 17"/>
          <p:cNvSpPr/>
          <p:nvPr/>
        </p:nvSpPr>
        <p:spPr>
          <a:xfrm>
            <a:off x="7914132" y="3026664"/>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Standard template</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auto-populated</a:t>
            </a:r>
            <a:endParaRPr lang="en-US" sz="800" dirty="0"/>
          </a:p>
        </p:txBody>
      </p:sp>
      <p:sp>
        <p:nvSpPr>
          <p:cNvPr id="20" name="Shape 18"/>
          <p:cNvSpPr/>
          <p:nvPr/>
        </p:nvSpPr>
        <p:spPr>
          <a:xfrm>
            <a:off x="9560052" y="2660904"/>
            <a:ext cx="0" cy="356616"/>
          </a:xfrm>
          <a:prstGeom prst="line">
            <a:avLst/>
          </a:prstGeom>
          <a:noFill/>
          <a:ln w="15875">
            <a:solidFill>
              <a:srgbClr val="9AB0AE"/>
            </a:solidFill>
            <a:prstDash val="solid"/>
            <a:tailEnd type="triangle"/>
          </a:ln>
        </p:spPr>
      </p:sp>
      <p:sp>
        <p:nvSpPr>
          <p:cNvPr id="21" name="Text 19"/>
          <p:cNvSpPr/>
          <p:nvPr/>
        </p:nvSpPr>
        <p:spPr>
          <a:xfrm>
            <a:off x="7914132" y="388620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Draft working paper</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generated</a:t>
            </a:r>
            <a:endParaRPr lang="en-US" sz="800" dirty="0"/>
          </a:p>
        </p:txBody>
      </p:sp>
      <p:sp>
        <p:nvSpPr>
          <p:cNvPr id="22" name="Shape 20"/>
          <p:cNvSpPr/>
          <p:nvPr/>
        </p:nvSpPr>
        <p:spPr>
          <a:xfrm>
            <a:off x="9560052" y="3520440"/>
            <a:ext cx="0" cy="356616"/>
          </a:xfrm>
          <a:prstGeom prst="line">
            <a:avLst/>
          </a:prstGeom>
          <a:noFill/>
          <a:ln w="15875">
            <a:solidFill>
              <a:srgbClr val="9AB0AE"/>
            </a:solidFill>
            <a:prstDash val="solid"/>
            <a:tailEnd type="triangle"/>
          </a:ln>
        </p:spPr>
      </p:sp>
      <p:sp>
        <p:nvSpPr>
          <p:cNvPr id="23" name="Text 21"/>
          <p:cNvSpPr/>
          <p:nvPr/>
        </p:nvSpPr>
        <p:spPr>
          <a:xfrm>
            <a:off x="7914132" y="4745736"/>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Auditor adds professional</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judgment notes</a:t>
            </a:r>
            <a:endParaRPr lang="en-US" sz="800" dirty="0"/>
          </a:p>
        </p:txBody>
      </p:sp>
      <p:sp>
        <p:nvSpPr>
          <p:cNvPr id="24" name="Shape 22"/>
          <p:cNvSpPr/>
          <p:nvPr/>
        </p:nvSpPr>
        <p:spPr>
          <a:xfrm>
            <a:off x="9560052" y="4379976"/>
            <a:ext cx="0" cy="356616"/>
          </a:xfrm>
          <a:prstGeom prst="line">
            <a:avLst/>
          </a:prstGeom>
          <a:noFill/>
          <a:ln w="15875">
            <a:solidFill>
              <a:srgbClr val="9AB0AE"/>
            </a:solidFill>
            <a:prstDash val="solid"/>
            <a:tailEnd type="triangle"/>
          </a:ln>
        </p:spPr>
      </p:sp>
      <p:sp>
        <p:nvSpPr>
          <p:cNvPr id="25" name="Text 23"/>
          <p:cNvSpPr/>
          <p:nvPr/>
        </p:nvSpPr>
        <p:spPr>
          <a:xfrm>
            <a:off x="7914132" y="5568696"/>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Finalized paper filed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to client record</a:t>
            </a:r>
            <a:endParaRPr lang="en-US" sz="800" dirty="0"/>
          </a:p>
        </p:txBody>
      </p:sp>
      <p:sp>
        <p:nvSpPr>
          <p:cNvPr id="26" name="Shape 24"/>
          <p:cNvSpPr/>
          <p:nvPr/>
        </p:nvSpPr>
        <p:spPr>
          <a:xfrm>
            <a:off x="9560052" y="5202936"/>
            <a:ext cx="0" cy="356616"/>
          </a:xfrm>
          <a:prstGeom prst="line">
            <a:avLst/>
          </a:prstGeom>
          <a:noFill/>
          <a:ln w="15875">
            <a:solidFill>
              <a:srgbClr val="9AB0AE"/>
            </a:solidFill>
            <a:prstDash val="solid"/>
            <a:tailEnd type="triangle"/>
          </a:ln>
        </p:spPr>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09</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9. Practice Visibility</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Give the practice real visibility into its own capacity — the foundation for taking on more clients without more headcount.</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Deadlines are consolidated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every client and every compliance type — GST, IT, TDS, ROC — appears on one calendar instead of being tracked separately.</a:t>
            </a:r>
            <a:endParaRPr lang="en-US" sz="1050" dirty="0"/>
          </a:p>
        </p:txBody>
      </p:sp>
      <p:sp>
        <p:nvSpPr>
          <p:cNvPr id="8" name="Text 6"/>
          <p:cNvSpPr/>
          <p:nvPr/>
        </p:nvSpPr>
        <p:spPr>
          <a:xfrm>
            <a:off x="566928" y="283921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78434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Workload is tracked in real time</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staff capacity is measured against actual upcoming deadlines, not estimated after the fact.</a:t>
            </a:r>
            <a:endParaRPr lang="en-US" sz="1050" dirty="0"/>
          </a:p>
        </p:txBody>
      </p:sp>
      <p:sp>
        <p:nvSpPr>
          <p:cNvPr id="10" name="Text 8"/>
          <p:cNvSpPr/>
          <p:nvPr/>
        </p:nvSpPr>
        <p:spPr>
          <a:xfrm>
            <a:off x="566928" y="377647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72160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Time is logged automatically</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per client and per task, building the real numbers the practice needs for its own planning.</a:t>
            </a:r>
            <a:endParaRPr lang="en-US" sz="1050" dirty="0"/>
          </a:p>
        </p:txBody>
      </p:sp>
      <p:sp>
        <p:nvSpPr>
          <p:cNvPr id="12" name="Text 10"/>
          <p:cNvSpPr/>
          <p:nvPr/>
        </p:nvSpPr>
        <p:spPr>
          <a:xfrm>
            <a:off x="566928" y="471373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 name="Text 11"/>
          <p:cNvSpPr/>
          <p:nvPr/>
        </p:nvSpPr>
        <p:spPr>
          <a:xfrm>
            <a:off x="950976" y="465886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Capacity and overload are both surfaced</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the dashboard shows exactly which staff or time slots can take on new client work — and flags overload risk ahead of the deadline crunch, not after it is already a problem.</a:t>
            </a:r>
            <a:endParaRPr lang="en-US" sz="1050" dirty="0"/>
          </a:p>
        </p:txBody>
      </p:sp>
      <p:sp>
        <p:nvSpPr>
          <p:cNvPr id="14" name="Shape 12"/>
          <p:cNvSpPr/>
          <p:nvPr/>
        </p:nvSpPr>
        <p:spPr>
          <a:xfrm>
            <a:off x="566928" y="5522976"/>
            <a:ext cx="6583680" cy="786384"/>
          </a:xfrm>
          <a:prstGeom prst="roundRect">
            <a:avLst>
              <a:gd name="adj" fmla="val 8140"/>
            </a:avLst>
          </a:prstGeom>
          <a:solidFill>
            <a:srgbClr val="E2ECEA"/>
          </a:solidFill>
          <a:ln w="12700">
            <a:solidFill>
              <a:srgbClr val="E2ECEA"/>
            </a:solidFill>
            <a:prstDash val="solid"/>
          </a:ln>
        </p:spPr>
      </p:sp>
      <p:sp>
        <p:nvSpPr>
          <p:cNvPr id="15" name="Text 13"/>
          <p:cNvSpPr/>
          <p:nvPr/>
        </p:nvSpPr>
        <p:spPr>
          <a:xfrm>
            <a:off x="768096" y="5577840"/>
            <a:ext cx="6181344" cy="676656"/>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The proprietor and senior staff make all staffing and client-acceptance decisions — CAOS only surfaces the data.</a:t>
            </a:r>
            <a:endParaRPr lang="en-US" sz="1000" dirty="0"/>
          </a:p>
        </p:txBody>
      </p:sp>
      <p:sp>
        <p:nvSpPr>
          <p:cNvPr id="16" name="Shape 14"/>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17" name="Text 15"/>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18" name="Text 16"/>
          <p:cNvSpPr/>
          <p:nvPr/>
        </p:nvSpPr>
        <p:spPr>
          <a:xfrm>
            <a:off x="7914132" y="192024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Deadlines across all clients</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 compliance types</a:t>
            </a:r>
            <a:endParaRPr lang="en-US" sz="800" dirty="0"/>
          </a:p>
        </p:txBody>
      </p:sp>
      <p:sp>
        <p:nvSpPr>
          <p:cNvPr id="19" name="Text 17"/>
          <p:cNvSpPr/>
          <p:nvPr/>
        </p:nvSpPr>
        <p:spPr>
          <a:xfrm>
            <a:off x="7914132" y="2684678"/>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Staff workload tracked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against deadlines</a:t>
            </a:r>
            <a:endParaRPr lang="en-US" sz="800" dirty="0"/>
          </a:p>
        </p:txBody>
      </p:sp>
      <p:sp>
        <p:nvSpPr>
          <p:cNvPr id="20" name="Shape 18"/>
          <p:cNvSpPr/>
          <p:nvPr/>
        </p:nvSpPr>
        <p:spPr>
          <a:xfrm>
            <a:off x="9560052" y="2414016"/>
            <a:ext cx="0" cy="261518"/>
          </a:xfrm>
          <a:prstGeom prst="line">
            <a:avLst/>
          </a:prstGeom>
          <a:noFill/>
          <a:ln w="15875">
            <a:solidFill>
              <a:srgbClr val="9AB0AE"/>
            </a:solidFill>
            <a:prstDash val="solid"/>
            <a:tailEnd type="triangle"/>
          </a:ln>
        </p:spPr>
      </p:sp>
      <p:sp>
        <p:nvSpPr>
          <p:cNvPr id="21" name="Text 19"/>
          <p:cNvSpPr/>
          <p:nvPr/>
        </p:nvSpPr>
        <p:spPr>
          <a:xfrm>
            <a:off x="7914132" y="3449117"/>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Time per client/task</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logged automatically</a:t>
            </a:r>
            <a:endParaRPr lang="en-US" sz="800" dirty="0"/>
          </a:p>
        </p:txBody>
      </p:sp>
      <p:sp>
        <p:nvSpPr>
          <p:cNvPr id="22" name="Shape 20"/>
          <p:cNvSpPr/>
          <p:nvPr/>
        </p:nvSpPr>
        <p:spPr>
          <a:xfrm>
            <a:off x="9560052" y="3178454"/>
            <a:ext cx="0" cy="261518"/>
          </a:xfrm>
          <a:prstGeom prst="line">
            <a:avLst/>
          </a:prstGeom>
          <a:noFill/>
          <a:ln w="15875">
            <a:solidFill>
              <a:srgbClr val="9AB0AE"/>
            </a:solidFill>
            <a:prstDash val="solid"/>
            <a:tailEnd type="triangle"/>
          </a:ln>
        </p:spPr>
      </p:sp>
      <p:sp>
        <p:nvSpPr>
          <p:cNvPr id="23" name="Text 21"/>
          <p:cNvSpPr/>
          <p:nvPr/>
        </p:nvSpPr>
        <p:spPr>
          <a:xfrm>
            <a:off x="8257032" y="4213555"/>
            <a:ext cx="2606040" cy="566928"/>
          </a:xfrm>
          <a:prstGeom prst="diamond">
            <a:avLst/>
          </a:prstGeom>
          <a:solidFill>
            <a:srgbClr val="C08428"/>
          </a:solidFill>
          <a:ln w="12700">
            <a:solidFill>
              <a:srgbClr val="C08428"/>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Capacity check</a:t>
            </a:r>
            <a:endParaRPr lang="en-US" sz="800" dirty="0"/>
          </a:p>
        </p:txBody>
      </p:sp>
      <p:sp>
        <p:nvSpPr>
          <p:cNvPr id="24" name="Shape 22"/>
          <p:cNvSpPr/>
          <p:nvPr/>
        </p:nvSpPr>
        <p:spPr>
          <a:xfrm>
            <a:off x="9560052" y="3942893"/>
            <a:ext cx="0" cy="261518"/>
          </a:xfrm>
          <a:prstGeom prst="line">
            <a:avLst/>
          </a:prstGeom>
          <a:noFill/>
          <a:ln w="15875">
            <a:solidFill>
              <a:srgbClr val="9AB0AE"/>
            </a:solidFill>
            <a:prstDash val="solid"/>
            <a:tailEnd type="triangle"/>
          </a:ln>
        </p:spPr>
      </p:sp>
      <p:sp>
        <p:nvSpPr>
          <p:cNvPr id="25" name="Text 23"/>
          <p:cNvSpPr/>
          <p:nvPr/>
        </p:nvSpPr>
        <p:spPr>
          <a:xfrm>
            <a:off x="7479792" y="5051146"/>
            <a:ext cx="1961388" cy="530352"/>
          </a:xfrm>
          <a:prstGeom prst="roundRect">
            <a:avLst>
              <a:gd name="adj" fmla="val 8621"/>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Available capacity shown</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for new client work</a:t>
            </a:r>
            <a:endParaRPr lang="en-US" sz="800" dirty="0"/>
          </a:p>
        </p:txBody>
      </p:sp>
      <p:sp>
        <p:nvSpPr>
          <p:cNvPr id="26" name="Shape 24"/>
          <p:cNvSpPr/>
          <p:nvPr/>
        </p:nvSpPr>
        <p:spPr>
          <a:xfrm flipH="1">
            <a:off x="8460486" y="4780483"/>
            <a:ext cx="1099566" cy="261518"/>
          </a:xfrm>
          <a:prstGeom prst="line">
            <a:avLst/>
          </a:prstGeom>
          <a:noFill/>
          <a:ln w="15875">
            <a:solidFill>
              <a:srgbClr val="9AB0AE"/>
            </a:solidFill>
            <a:prstDash val="solid"/>
            <a:tailEnd type="triangle"/>
          </a:ln>
        </p:spPr>
      </p:sp>
      <p:sp>
        <p:nvSpPr>
          <p:cNvPr id="27" name="Text 25"/>
          <p:cNvSpPr/>
          <p:nvPr/>
        </p:nvSpPr>
        <p:spPr>
          <a:xfrm>
            <a:off x="9678924" y="5051146"/>
            <a:ext cx="1961388" cy="530352"/>
          </a:xfrm>
          <a:prstGeom prst="roundRect">
            <a:avLst>
              <a:gd name="adj" fmla="val 8621"/>
            </a:avLst>
          </a:prstGeom>
          <a:solidFill>
            <a:srgbClr val="B5563F"/>
          </a:solidFill>
          <a:ln w="12700">
            <a:solidFill>
              <a:srgbClr val="B5563F"/>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Overload risk flagged</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ahead of deadline crunch</a:t>
            </a:r>
            <a:endParaRPr lang="en-US" sz="800" dirty="0"/>
          </a:p>
        </p:txBody>
      </p:sp>
      <p:sp>
        <p:nvSpPr>
          <p:cNvPr id="28" name="Shape 26"/>
          <p:cNvSpPr/>
          <p:nvPr/>
        </p:nvSpPr>
        <p:spPr>
          <a:xfrm>
            <a:off x="9560052" y="4780483"/>
            <a:ext cx="1099566" cy="261518"/>
          </a:xfrm>
          <a:prstGeom prst="line">
            <a:avLst/>
          </a:prstGeom>
          <a:noFill/>
          <a:ln w="15875">
            <a:solidFill>
              <a:srgbClr val="9AB0AE"/>
            </a:solidFill>
            <a:prstDash val="solid"/>
            <a:tailEnd type="triangle"/>
          </a:ln>
        </p:spPr>
      </p:sp>
      <p:sp>
        <p:nvSpPr>
          <p:cNvPr id="29" name="Text 27"/>
          <p:cNvSpPr/>
          <p:nvPr/>
        </p:nvSpPr>
        <p:spPr>
          <a:xfrm>
            <a:off x="7914132" y="5852160"/>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Proprietor / senior staff make all</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staffing + acceptance decisions</a:t>
            </a:r>
            <a:endParaRPr lang="en-US" sz="800" dirty="0"/>
          </a:p>
        </p:txBody>
      </p:sp>
      <p:sp>
        <p:nvSpPr>
          <p:cNvPr id="30" name="Shape 28"/>
          <p:cNvSpPr/>
          <p:nvPr/>
        </p:nvSpPr>
        <p:spPr>
          <a:xfrm>
            <a:off x="8460486" y="5581498"/>
            <a:ext cx="1099566" cy="261518"/>
          </a:xfrm>
          <a:prstGeom prst="line">
            <a:avLst/>
          </a:prstGeom>
          <a:noFill/>
          <a:ln w="15875">
            <a:solidFill>
              <a:srgbClr val="9AB0AE"/>
            </a:solidFill>
            <a:prstDash val="solid"/>
            <a:tailEnd type="triangle"/>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CAOS AGENT 10</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10. Client Billing</a:t>
            </a:r>
            <a:endParaRPr lang="en-US" sz="2900" dirty="0"/>
          </a:p>
        </p:txBody>
      </p:sp>
      <p:sp>
        <p:nvSpPr>
          <p:cNvPr id="4" name="Text 2"/>
          <p:cNvSpPr/>
          <p:nvPr/>
        </p:nvSpPr>
        <p:spPr>
          <a:xfrm>
            <a:off x="566928" y="1115568"/>
            <a:ext cx="11064240" cy="310896"/>
          </a:xfrm>
          <a:prstGeom prst="rect">
            <a:avLst/>
          </a:prstGeom>
          <a:noFill/>
          <a:ln/>
        </p:spPr>
        <p:txBody>
          <a:bodyPr wrap="square" lIns="0" tIns="0" rIns="0" bIns="0" rtlCol="0" anchor="ctr"/>
          <a:lstStyle/>
          <a:p>
            <a:pPr indent="0" marL="0">
              <a:buNone/>
            </a:pPr>
            <a:r>
              <a:rPr lang="en-US" sz="1150" b="1" dirty="0">
                <a:solidFill>
                  <a:srgbClr val="C08428"/>
                </a:solidFill>
                <a:latin typeface="Calibri" pitchFamily="34" charset="0"/>
                <a:ea typeface="Calibri" pitchFamily="34" charset="-122"/>
                <a:cs typeface="Calibri" pitchFamily="34" charset="-120"/>
              </a:rPr>
              <a:t>Goal   </a:t>
            </a:r>
            <a:pPr indent="0" marL="0">
              <a:buNone/>
            </a:pPr>
            <a:r>
              <a:rPr lang="en-US" sz="1150" dirty="0">
                <a:solidFill>
                  <a:srgbClr val="5C6B6A"/>
                </a:solidFill>
                <a:latin typeface="Calibri" pitchFamily="34" charset="0"/>
                <a:ea typeface="Calibri" pitchFamily="34" charset="-122"/>
                <a:cs typeface="Calibri" pitchFamily="34" charset="-120"/>
              </a:rPr>
              <a:t>Automate invoicing based on services actually delivered, replacing the current ad hoc, per-client billing approach.</a:t>
            </a:r>
            <a:endParaRPr lang="en-US" sz="1150" dirty="0"/>
          </a:p>
        </p:txBody>
      </p:sp>
      <p:sp>
        <p:nvSpPr>
          <p:cNvPr id="5" name="Text 3"/>
          <p:cNvSpPr/>
          <p:nvPr/>
        </p:nvSpPr>
        <p:spPr>
          <a:xfrm>
            <a:off x="566928" y="1591056"/>
            <a:ext cx="36576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HOW IT WORKS</a:t>
            </a:r>
            <a:endParaRPr lang="en-US" sz="850" dirty="0"/>
          </a:p>
        </p:txBody>
      </p:sp>
      <p:sp>
        <p:nvSpPr>
          <p:cNvPr id="6" name="Text 4"/>
          <p:cNvSpPr/>
          <p:nvPr/>
        </p:nvSpPr>
        <p:spPr>
          <a:xfrm>
            <a:off x="566928" y="190195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7" name="Text 5"/>
          <p:cNvSpPr/>
          <p:nvPr/>
        </p:nvSpPr>
        <p:spPr>
          <a:xfrm>
            <a:off x="950976" y="184708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Services and pricing are set up once per client</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each client's subscribed services are configured against the practice's own service catalog.</a:t>
            </a:r>
            <a:endParaRPr lang="en-US" sz="1050" dirty="0"/>
          </a:p>
        </p:txBody>
      </p:sp>
      <p:sp>
        <p:nvSpPr>
          <p:cNvPr id="8" name="Text 6"/>
          <p:cNvSpPr/>
          <p:nvPr/>
        </p:nvSpPr>
        <p:spPr>
          <a:xfrm>
            <a:off x="566928" y="283921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9" name="Text 7"/>
          <p:cNvSpPr/>
          <p:nvPr/>
        </p:nvSpPr>
        <p:spPr>
          <a:xfrm>
            <a:off x="950976" y="278434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Billable events are logged automatically</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as agents complete work — a filing, a reconciliation, a bookkeeping cycle — it is recorded as a billable event without anyone tracking it manually.</a:t>
            </a:r>
            <a:endParaRPr lang="en-US" sz="1050" dirty="0"/>
          </a:p>
        </p:txBody>
      </p:sp>
      <p:sp>
        <p:nvSpPr>
          <p:cNvPr id="10" name="Text 8"/>
          <p:cNvSpPr/>
          <p:nvPr/>
        </p:nvSpPr>
        <p:spPr>
          <a:xfrm>
            <a:off x="566928" y="377647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1" name="Text 9"/>
          <p:cNvSpPr/>
          <p:nvPr/>
        </p:nvSpPr>
        <p:spPr>
          <a:xfrm>
            <a:off x="950976" y="372160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A draft invoice is generated each cycle</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GST-compliant, with the correct GSTIN, HSN/SAC codes and tax breakup.</a:t>
            </a:r>
            <a:endParaRPr lang="en-US" sz="1050" dirty="0"/>
          </a:p>
        </p:txBody>
      </p:sp>
      <p:sp>
        <p:nvSpPr>
          <p:cNvPr id="12" name="Text 10"/>
          <p:cNvSpPr/>
          <p:nvPr/>
        </p:nvSpPr>
        <p:spPr>
          <a:xfrm>
            <a:off x="566928" y="4713732"/>
            <a:ext cx="256032" cy="256032"/>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3" name="Text 11"/>
          <p:cNvSpPr/>
          <p:nvPr/>
        </p:nvSpPr>
        <p:spPr>
          <a:xfrm>
            <a:off x="950976" y="4658868"/>
            <a:ext cx="6199632" cy="882396"/>
          </a:xfrm>
          <a:prstGeom prst="rect">
            <a:avLst/>
          </a:prstGeom>
          <a:noFill/>
          <a:ln/>
        </p:spPr>
        <p:txBody>
          <a:bodyPr wrap="square" lIns="0" tIns="0" rIns="0" bIns="0" rtlCol="0" anchor="t"/>
          <a:lstStyle/>
          <a:p>
            <a:pPr indent="0" marL="0">
              <a:lnSpc>
                <a:spcPts val="1344"/>
              </a:lnSpc>
              <a:buNone/>
            </a:pPr>
            <a:r>
              <a:rPr lang="en-US" sz="1050" b="1" dirty="0">
                <a:solidFill>
                  <a:srgbClr val="0F3D3E"/>
                </a:solidFill>
                <a:latin typeface="Calibri" pitchFamily="34" charset="0"/>
                <a:ea typeface="Calibri" pitchFamily="34" charset="-122"/>
                <a:cs typeface="Calibri" pitchFamily="34" charset="-120"/>
              </a:rPr>
              <a:t>The proprietor approves before sending</a:t>
            </a:r>
            <a:pPr indent="0" marL="0">
              <a:lnSpc>
                <a:spcPts val="1344"/>
              </a:lnSpc>
              <a:buNone/>
            </a:pPr>
            <a:r>
              <a:rPr lang="en-US" sz="1050" dirty="0">
                <a:solidFill>
                  <a:srgbClr val="5C6B6A"/>
                </a:solidFill>
                <a:latin typeface="Calibri" pitchFamily="34" charset="0"/>
                <a:ea typeface="Calibri" pitchFamily="34" charset="-122"/>
                <a:cs typeface="Calibri" pitchFamily="34" charset="-120"/>
              </a:rPr>
              <a:t> — nothing goes to a client without sign-off.</a:t>
            </a:r>
            <a:endParaRPr lang="en-US" sz="1050" dirty="0"/>
          </a:p>
        </p:txBody>
      </p:sp>
      <p:sp>
        <p:nvSpPr>
          <p:cNvPr id="14" name="Shape 12"/>
          <p:cNvSpPr/>
          <p:nvPr/>
        </p:nvSpPr>
        <p:spPr>
          <a:xfrm>
            <a:off x="566928" y="5522976"/>
            <a:ext cx="6583680" cy="786384"/>
          </a:xfrm>
          <a:prstGeom prst="roundRect">
            <a:avLst>
              <a:gd name="adj" fmla="val 8140"/>
            </a:avLst>
          </a:prstGeom>
          <a:solidFill>
            <a:srgbClr val="E2ECEA"/>
          </a:solidFill>
          <a:ln w="12700">
            <a:solidFill>
              <a:srgbClr val="E2ECEA"/>
            </a:solidFill>
            <a:prstDash val="solid"/>
          </a:ln>
        </p:spPr>
      </p:sp>
      <p:sp>
        <p:nvSpPr>
          <p:cNvPr id="15" name="Text 13"/>
          <p:cNvSpPr/>
          <p:nvPr/>
        </p:nvSpPr>
        <p:spPr>
          <a:xfrm>
            <a:off x="768096" y="5577840"/>
            <a:ext cx="6181344" cy="676656"/>
          </a:xfrm>
          <a:prstGeom prst="rect">
            <a:avLst/>
          </a:prstGeom>
          <a:noFill/>
          <a:ln/>
        </p:spPr>
        <p:txBody>
          <a:bodyPr wrap="square" lIns="0" tIns="0" rIns="0" bIns="0" rtlCol="0" anchor="ctr"/>
          <a:lstStyle/>
          <a:p>
            <a:pPr indent="0" marL="0">
              <a:lnSpc>
                <a:spcPts val="1250"/>
              </a:lnSpc>
              <a:buNone/>
            </a:pPr>
            <a:r>
              <a:rPr lang="en-US" sz="1000" b="1" dirty="0">
                <a:solidFill>
                  <a:srgbClr val="0F3D3E"/>
                </a:solidFill>
                <a:latin typeface="Calibri" pitchFamily="34" charset="0"/>
                <a:ea typeface="Calibri" pitchFamily="34" charset="-122"/>
                <a:cs typeface="Calibri" pitchFamily="34" charset="-120"/>
              </a:rPr>
              <a:t>Human touchpoint   </a:t>
            </a:r>
            <a:pPr indent="0" marL="0">
              <a:lnSpc>
                <a:spcPts val="1250"/>
              </a:lnSpc>
              <a:buNone/>
            </a:pPr>
            <a:r>
              <a:rPr lang="en-US" sz="1000" dirty="0">
                <a:solidFill>
                  <a:srgbClr val="0F3D3E"/>
                </a:solidFill>
                <a:latin typeface="Calibri" pitchFamily="34" charset="0"/>
                <a:ea typeface="Calibri" pitchFamily="34" charset="-122"/>
                <a:cs typeface="Calibri" pitchFamily="34" charset="-120"/>
              </a:rPr>
              <a:t>Every invoice is reviewed and approved by the proprietor before it goes out — nothing is billed automatically without sign-off.</a:t>
            </a:r>
            <a:endParaRPr lang="en-US" sz="1000" dirty="0"/>
          </a:p>
        </p:txBody>
      </p:sp>
      <p:sp>
        <p:nvSpPr>
          <p:cNvPr id="16" name="Shape 14"/>
          <p:cNvSpPr/>
          <p:nvPr/>
        </p:nvSpPr>
        <p:spPr>
          <a:xfrm>
            <a:off x="7333488" y="1536192"/>
            <a:ext cx="4453128" cy="4828032"/>
          </a:xfrm>
          <a:prstGeom prst="roundRect">
            <a:avLst>
              <a:gd name="adj" fmla="val 1437"/>
            </a:avLst>
          </a:prstGeom>
          <a:solidFill>
            <a:srgbClr val="FAFCFB"/>
          </a:solidFill>
          <a:ln w="12700">
            <a:solidFill>
              <a:srgbClr val="D5E0DE"/>
            </a:solidFill>
            <a:prstDash val="solid"/>
          </a:ln>
        </p:spPr>
      </p:sp>
      <p:sp>
        <p:nvSpPr>
          <p:cNvPr id="17" name="Text 15"/>
          <p:cNvSpPr/>
          <p:nvPr/>
        </p:nvSpPr>
        <p:spPr>
          <a:xfrm>
            <a:off x="7479792" y="1664208"/>
            <a:ext cx="2743200" cy="201168"/>
          </a:xfrm>
          <a:prstGeom prst="rect">
            <a:avLst/>
          </a:prstGeom>
          <a:noFill/>
          <a:ln/>
        </p:spPr>
        <p:txBody>
          <a:bodyPr wrap="square" lIns="0" tIns="0" rIns="0" bIns="0" rtlCol="0" anchor="ctr"/>
          <a:lstStyle/>
          <a:p>
            <a:pPr indent="0" marL="0">
              <a:buNone/>
            </a:pPr>
            <a:r>
              <a:rPr lang="en-US" sz="850" b="1" spc="130" kern="0" dirty="0">
                <a:solidFill>
                  <a:srgbClr val="C08428"/>
                </a:solidFill>
                <a:latin typeface="Calibri" pitchFamily="34" charset="0"/>
                <a:ea typeface="Calibri" pitchFamily="34" charset="-122"/>
                <a:cs typeface="Calibri" pitchFamily="34" charset="-120"/>
              </a:rPr>
              <a:t>PROCESS FLOW</a:t>
            </a:r>
            <a:endParaRPr lang="en-US" sz="850" dirty="0"/>
          </a:p>
        </p:txBody>
      </p:sp>
      <p:sp>
        <p:nvSpPr>
          <p:cNvPr id="18" name="Text 16"/>
          <p:cNvSpPr/>
          <p:nvPr/>
        </p:nvSpPr>
        <p:spPr>
          <a:xfrm>
            <a:off x="7914132" y="2167128"/>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Client services + pricing</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set up once</a:t>
            </a:r>
            <a:endParaRPr lang="en-US" sz="800" dirty="0"/>
          </a:p>
        </p:txBody>
      </p:sp>
      <p:sp>
        <p:nvSpPr>
          <p:cNvPr id="19" name="Text 17"/>
          <p:cNvSpPr/>
          <p:nvPr/>
        </p:nvSpPr>
        <p:spPr>
          <a:xfrm>
            <a:off x="7914132" y="3026664"/>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Agents log billable events</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as work completes</a:t>
            </a:r>
            <a:endParaRPr lang="en-US" sz="800" dirty="0"/>
          </a:p>
        </p:txBody>
      </p:sp>
      <p:sp>
        <p:nvSpPr>
          <p:cNvPr id="20" name="Shape 18"/>
          <p:cNvSpPr/>
          <p:nvPr/>
        </p:nvSpPr>
        <p:spPr>
          <a:xfrm>
            <a:off x="9560052" y="2660904"/>
            <a:ext cx="0" cy="356616"/>
          </a:xfrm>
          <a:prstGeom prst="line">
            <a:avLst/>
          </a:prstGeom>
          <a:noFill/>
          <a:ln w="15875">
            <a:solidFill>
              <a:srgbClr val="9AB0AE"/>
            </a:solidFill>
            <a:prstDash val="solid"/>
            <a:tailEnd type="triangle"/>
          </a:ln>
        </p:spPr>
      </p:sp>
      <p:sp>
        <p:nvSpPr>
          <p:cNvPr id="21" name="Text 19"/>
          <p:cNvSpPr/>
          <p:nvPr/>
        </p:nvSpPr>
        <p:spPr>
          <a:xfrm>
            <a:off x="7914132" y="3886200"/>
            <a:ext cx="3291840" cy="493776"/>
          </a:xfrm>
          <a:prstGeom prst="roundRect">
            <a:avLst>
              <a:gd name="adj" fmla="val 9259"/>
            </a:avLst>
          </a:prstGeom>
          <a:solidFill>
            <a:srgbClr val="0F3D3E"/>
          </a:solidFill>
          <a:ln w="12700">
            <a:solidFill>
              <a:srgbClr val="0F3D3E"/>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Draft GST-compliant invoice</a:t>
            </a:r>
            <a:endParaRPr lang="en-US" sz="800" dirty="0"/>
          </a:p>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generated each cycle</a:t>
            </a:r>
            <a:endParaRPr lang="en-US" sz="800" dirty="0"/>
          </a:p>
        </p:txBody>
      </p:sp>
      <p:sp>
        <p:nvSpPr>
          <p:cNvPr id="22" name="Shape 20"/>
          <p:cNvSpPr/>
          <p:nvPr/>
        </p:nvSpPr>
        <p:spPr>
          <a:xfrm>
            <a:off x="9560052" y="3520440"/>
            <a:ext cx="0" cy="356616"/>
          </a:xfrm>
          <a:prstGeom prst="line">
            <a:avLst/>
          </a:prstGeom>
          <a:noFill/>
          <a:ln w="15875">
            <a:solidFill>
              <a:srgbClr val="9AB0AE"/>
            </a:solidFill>
            <a:prstDash val="solid"/>
            <a:tailEnd type="triangle"/>
          </a:ln>
        </p:spPr>
      </p:sp>
      <p:sp>
        <p:nvSpPr>
          <p:cNvPr id="23" name="Text 21"/>
          <p:cNvSpPr/>
          <p:nvPr/>
        </p:nvSpPr>
        <p:spPr>
          <a:xfrm>
            <a:off x="7914132" y="4745736"/>
            <a:ext cx="3291840" cy="457200"/>
          </a:xfrm>
          <a:prstGeom prst="roundRect">
            <a:avLst>
              <a:gd name="adj" fmla="val 10000"/>
            </a:avLst>
          </a:prstGeom>
          <a:solidFill>
            <a:srgbClr val="FFFFFF"/>
          </a:solidFill>
          <a:ln w="12700">
            <a:solidFill>
              <a:srgbClr val="8FA09E"/>
            </a:solidFill>
            <a:prstDash val="dash"/>
          </a:ln>
        </p:spPr>
        <p:txBody>
          <a:bodyPr wrap="square" lIns="0" tIns="0" rIns="0" bIns="0" rtlCol="0" anchor="ctr"/>
          <a:lstStyle/>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Proprietor reviews +</a:t>
            </a:r>
            <a:endParaRPr lang="en-US" sz="800" dirty="0"/>
          </a:p>
          <a:p>
            <a:pPr algn="ctr" indent="0" marL="0">
              <a:lnSpc>
                <a:spcPts val="944"/>
              </a:lnSpc>
              <a:buNone/>
            </a:pPr>
            <a:r>
              <a:rPr lang="en-US" sz="800" b="1" dirty="0">
                <a:solidFill>
                  <a:srgbClr val="5C6B6A"/>
                </a:solidFill>
                <a:latin typeface="Calibri" pitchFamily="34" charset="0"/>
                <a:ea typeface="Calibri" pitchFamily="34" charset="-122"/>
                <a:cs typeface="Calibri" pitchFamily="34" charset="-120"/>
              </a:rPr>
              <a:t>approves before sending</a:t>
            </a:r>
            <a:endParaRPr lang="en-US" sz="800" dirty="0"/>
          </a:p>
        </p:txBody>
      </p:sp>
      <p:sp>
        <p:nvSpPr>
          <p:cNvPr id="24" name="Shape 22"/>
          <p:cNvSpPr/>
          <p:nvPr/>
        </p:nvSpPr>
        <p:spPr>
          <a:xfrm>
            <a:off x="9560052" y="4379976"/>
            <a:ext cx="0" cy="356616"/>
          </a:xfrm>
          <a:prstGeom prst="line">
            <a:avLst/>
          </a:prstGeom>
          <a:noFill/>
          <a:ln w="15875">
            <a:solidFill>
              <a:srgbClr val="9AB0AE"/>
            </a:solidFill>
            <a:prstDash val="solid"/>
            <a:tailEnd type="triangle"/>
          </a:ln>
        </p:spPr>
      </p:sp>
      <p:sp>
        <p:nvSpPr>
          <p:cNvPr id="25" name="Text 23"/>
          <p:cNvSpPr/>
          <p:nvPr/>
        </p:nvSpPr>
        <p:spPr>
          <a:xfrm>
            <a:off x="7914132" y="5568696"/>
            <a:ext cx="3291840" cy="493776"/>
          </a:xfrm>
          <a:prstGeom prst="roundRect">
            <a:avLst>
              <a:gd name="adj" fmla="val 9259"/>
            </a:avLst>
          </a:prstGeom>
          <a:solidFill>
            <a:srgbClr val="2E7D5B"/>
          </a:solidFill>
          <a:ln w="12700">
            <a:solidFill>
              <a:srgbClr val="2E7D5B"/>
            </a:solidFill>
            <a:prstDash val="solid"/>
          </a:ln>
        </p:spPr>
        <p:txBody>
          <a:bodyPr wrap="square" lIns="0" tIns="0" rIns="0" bIns="0" rtlCol="0" anchor="ctr"/>
          <a:lstStyle/>
          <a:p>
            <a:pPr algn="ctr" indent="0" marL="0">
              <a:lnSpc>
                <a:spcPts val="944"/>
              </a:lnSpc>
              <a:buNone/>
            </a:pPr>
            <a:r>
              <a:rPr lang="en-US" sz="800" b="1" dirty="0">
                <a:solidFill>
                  <a:srgbClr val="FFFFFF"/>
                </a:solidFill>
                <a:latin typeface="Calibri" pitchFamily="34" charset="0"/>
                <a:ea typeface="Calibri" pitchFamily="34" charset="-122"/>
                <a:cs typeface="Calibri" pitchFamily="34" charset="-120"/>
              </a:rPr>
              <a:t>Invoice sent to client</a:t>
            </a:r>
            <a:endParaRPr lang="en-US" sz="800" dirty="0"/>
          </a:p>
        </p:txBody>
      </p:sp>
      <p:sp>
        <p:nvSpPr>
          <p:cNvPr id="26" name="Shape 24"/>
          <p:cNvSpPr/>
          <p:nvPr/>
        </p:nvSpPr>
        <p:spPr>
          <a:xfrm>
            <a:off x="9560052" y="5202936"/>
            <a:ext cx="0" cy="356616"/>
          </a:xfrm>
          <a:prstGeom prst="line">
            <a:avLst/>
          </a:prstGeom>
          <a:noFill/>
          <a:ln w="15875">
            <a:solidFill>
              <a:srgbClr val="9AB0AE"/>
            </a:solidFill>
            <a:prstDash val="solid"/>
            <a:tailEnd type="triangle"/>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PART 2 · GROUNDWORK</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Before any of this: the standardization checklist</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Automation fails fast without this groundwork in place first.</a:t>
            </a:r>
            <a:endParaRPr lang="en-US" sz="1300" dirty="0"/>
          </a:p>
        </p:txBody>
      </p:sp>
      <p:sp>
        <p:nvSpPr>
          <p:cNvPr id="5" name="Shape 3"/>
          <p:cNvSpPr/>
          <p:nvPr/>
        </p:nvSpPr>
        <p:spPr>
          <a:xfrm>
            <a:off x="566928" y="1700784"/>
            <a:ext cx="11064240" cy="786384"/>
          </a:xfrm>
          <a:prstGeom prst="roundRect">
            <a:avLst>
              <a:gd name="adj" fmla="val 8140"/>
            </a:avLst>
          </a:prstGeom>
          <a:solidFill>
            <a:srgbClr val="EFF4F3"/>
          </a:solidFill>
          <a:ln w="12700">
            <a:solidFill>
              <a:srgbClr val="D5E0DE"/>
            </a:solidFill>
            <a:prstDash val="solid"/>
          </a:ln>
        </p:spPr>
      </p:sp>
      <p:sp>
        <p:nvSpPr>
          <p:cNvPr id="6" name="Text 4"/>
          <p:cNvSpPr/>
          <p:nvPr/>
        </p:nvSpPr>
        <p:spPr>
          <a:xfrm>
            <a:off x="786384" y="1920240"/>
            <a:ext cx="347472" cy="347472"/>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80160" y="1773936"/>
            <a:ext cx="3291840" cy="640080"/>
          </a:xfrm>
          <a:prstGeom prst="rect">
            <a:avLst/>
          </a:prstGeom>
          <a:noFill/>
          <a:ln/>
        </p:spPr>
        <p:txBody>
          <a:bodyPr wrap="square" lIns="0" tIns="0" rIns="0" bIns="0" rtlCol="0" anchor="ctr"/>
          <a:lstStyle/>
          <a:p>
            <a:pPr indent="0" marL="0">
              <a:lnSpc>
                <a:spcPts val="1500"/>
              </a:lnSpc>
              <a:buNone/>
            </a:pPr>
            <a:r>
              <a:rPr lang="en-US" sz="1200" b="1" dirty="0">
                <a:solidFill>
                  <a:srgbClr val="0F3D3E"/>
                </a:solidFill>
                <a:latin typeface="Calibri" pitchFamily="34" charset="0"/>
                <a:ea typeface="Calibri" pitchFamily="34" charset="-122"/>
                <a:cs typeface="Calibri" pitchFamily="34" charset="-120"/>
              </a:rPr>
              <a:t>Document naming &amp; folder structure</a:t>
            </a:r>
            <a:endParaRPr lang="en-US" sz="1200" dirty="0"/>
          </a:p>
        </p:txBody>
      </p:sp>
      <p:sp>
        <p:nvSpPr>
          <p:cNvPr id="8" name="Text 6"/>
          <p:cNvSpPr/>
          <p:nvPr/>
        </p:nvSpPr>
        <p:spPr>
          <a:xfrm>
            <a:off x="4681728" y="1773936"/>
            <a:ext cx="5029200" cy="640080"/>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A single convention per client and period. Without it, Agent 1 has nowhere consistent to file, and Agent 8 can't assemble a working paper.</a:t>
            </a:r>
            <a:endParaRPr lang="en-US" sz="1000" dirty="0"/>
          </a:p>
        </p:txBody>
      </p:sp>
      <p:sp>
        <p:nvSpPr>
          <p:cNvPr id="9" name="Shape 7"/>
          <p:cNvSpPr/>
          <p:nvPr/>
        </p:nvSpPr>
        <p:spPr>
          <a:xfrm>
            <a:off x="9893808" y="1901952"/>
            <a:ext cx="1517904" cy="384048"/>
          </a:xfrm>
          <a:prstGeom prst="roundRect">
            <a:avLst>
              <a:gd name="adj" fmla="val 16667"/>
            </a:avLst>
          </a:prstGeom>
          <a:solidFill>
            <a:srgbClr val="E2ECEA"/>
          </a:solidFill>
          <a:ln w="12700">
            <a:solidFill>
              <a:srgbClr val="E2ECEA"/>
            </a:solidFill>
            <a:prstDash val="solid"/>
          </a:ln>
        </p:spPr>
      </p:sp>
      <p:sp>
        <p:nvSpPr>
          <p:cNvPr id="10" name="Text 8"/>
          <p:cNvSpPr/>
          <p:nvPr/>
        </p:nvSpPr>
        <p:spPr>
          <a:xfrm>
            <a:off x="9893808" y="1901952"/>
            <a:ext cx="1517904" cy="384048"/>
          </a:xfrm>
          <a:prstGeom prst="rect">
            <a:avLst/>
          </a:prstGeom>
          <a:noFill/>
          <a:ln/>
        </p:spPr>
        <p:txBody>
          <a:bodyPr wrap="square" lIns="0" tIns="0" rIns="0" bIns="0" rtlCol="0" anchor="ctr"/>
          <a:lstStyle/>
          <a:p>
            <a:pPr algn="ctr" indent="0" marL="0">
              <a:lnSpc>
                <a:spcPts val="1000"/>
              </a:lnSpc>
              <a:buNone/>
            </a:pPr>
            <a:r>
              <a:rPr lang="en-US" sz="850" b="1" dirty="0">
                <a:solidFill>
                  <a:srgbClr val="0F3D3E"/>
                </a:solidFill>
                <a:latin typeface="Calibri" pitchFamily="34" charset="0"/>
                <a:ea typeface="Calibri" pitchFamily="34" charset="-122"/>
                <a:cs typeface="Calibri" pitchFamily="34" charset="-120"/>
              </a:rPr>
              <a:t>Practice</a:t>
            </a:r>
            <a:endParaRPr lang="en-US" sz="850" dirty="0"/>
          </a:p>
        </p:txBody>
      </p:sp>
      <p:sp>
        <p:nvSpPr>
          <p:cNvPr id="11" name="Shape 9"/>
          <p:cNvSpPr/>
          <p:nvPr/>
        </p:nvSpPr>
        <p:spPr>
          <a:xfrm>
            <a:off x="566928" y="2578608"/>
            <a:ext cx="11064240" cy="786384"/>
          </a:xfrm>
          <a:prstGeom prst="roundRect">
            <a:avLst>
              <a:gd name="adj" fmla="val 8140"/>
            </a:avLst>
          </a:prstGeom>
          <a:solidFill>
            <a:srgbClr val="EFF4F3"/>
          </a:solidFill>
          <a:ln w="12700">
            <a:solidFill>
              <a:srgbClr val="D5E0DE"/>
            </a:solidFill>
            <a:prstDash val="solid"/>
          </a:ln>
        </p:spPr>
      </p:sp>
      <p:sp>
        <p:nvSpPr>
          <p:cNvPr id="12" name="Text 10"/>
          <p:cNvSpPr/>
          <p:nvPr/>
        </p:nvSpPr>
        <p:spPr>
          <a:xfrm>
            <a:off x="786384" y="2798064"/>
            <a:ext cx="347472" cy="347472"/>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80160" y="2651760"/>
            <a:ext cx="3291840" cy="640080"/>
          </a:xfrm>
          <a:prstGeom prst="rect">
            <a:avLst/>
          </a:prstGeom>
          <a:noFill/>
          <a:ln/>
        </p:spPr>
        <p:txBody>
          <a:bodyPr wrap="square" lIns="0" tIns="0" rIns="0" bIns="0" rtlCol="0" anchor="ctr"/>
          <a:lstStyle/>
          <a:p>
            <a:pPr indent="0" marL="0">
              <a:lnSpc>
                <a:spcPts val="1500"/>
              </a:lnSpc>
              <a:buNone/>
            </a:pPr>
            <a:r>
              <a:rPr lang="en-US" sz="1200" b="1" dirty="0">
                <a:solidFill>
                  <a:srgbClr val="0F3D3E"/>
                </a:solidFill>
                <a:latin typeface="Calibri" pitchFamily="34" charset="0"/>
                <a:ea typeface="Calibri" pitchFamily="34" charset="-122"/>
                <a:cs typeface="Calibri" pitchFamily="34" charset="-120"/>
              </a:rPr>
              <a:t>Client onboarding data-request format</a:t>
            </a:r>
            <a:endParaRPr lang="en-US" sz="1200" dirty="0"/>
          </a:p>
        </p:txBody>
      </p:sp>
      <p:sp>
        <p:nvSpPr>
          <p:cNvPr id="14" name="Text 12"/>
          <p:cNvSpPr/>
          <p:nvPr/>
        </p:nvSpPr>
        <p:spPr>
          <a:xfrm>
            <a:off x="4681728" y="2651760"/>
            <a:ext cx="5029200" cy="640080"/>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One standard list of what is asked for and when — so “outstanding” is a computable state rather than a judgment.</a:t>
            </a:r>
            <a:endParaRPr lang="en-US" sz="1000" dirty="0"/>
          </a:p>
        </p:txBody>
      </p:sp>
      <p:sp>
        <p:nvSpPr>
          <p:cNvPr id="15" name="Shape 13"/>
          <p:cNvSpPr/>
          <p:nvPr/>
        </p:nvSpPr>
        <p:spPr>
          <a:xfrm>
            <a:off x="9893808" y="2779776"/>
            <a:ext cx="1517904" cy="384048"/>
          </a:xfrm>
          <a:prstGeom prst="roundRect">
            <a:avLst>
              <a:gd name="adj" fmla="val 16667"/>
            </a:avLst>
          </a:prstGeom>
          <a:solidFill>
            <a:srgbClr val="E2ECEA"/>
          </a:solidFill>
          <a:ln w="12700">
            <a:solidFill>
              <a:srgbClr val="E2ECEA"/>
            </a:solidFill>
            <a:prstDash val="solid"/>
          </a:ln>
        </p:spPr>
      </p:sp>
      <p:sp>
        <p:nvSpPr>
          <p:cNvPr id="16" name="Text 14"/>
          <p:cNvSpPr/>
          <p:nvPr/>
        </p:nvSpPr>
        <p:spPr>
          <a:xfrm>
            <a:off x="9893808" y="2779776"/>
            <a:ext cx="1517904" cy="384048"/>
          </a:xfrm>
          <a:prstGeom prst="rect">
            <a:avLst/>
          </a:prstGeom>
          <a:noFill/>
          <a:ln/>
        </p:spPr>
        <p:txBody>
          <a:bodyPr wrap="square" lIns="0" tIns="0" rIns="0" bIns="0" rtlCol="0" anchor="ctr"/>
          <a:lstStyle/>
          <a:p>
            <a:pPr algn="ctr" indent="0" marL="0">
              <a:lnSpc>
                <a:spcPts val="1000"/>
              </a:lnSpc>
              <a:buNone/>
            </a:pPr>
            <a:r>
              <a:rPr lang="en-US" sz="850" b="1" dirty="0">
                <a:solidFill>
                  <a:srgbClr val="0F3D3E"/>
                </a:solidFill>
                <a:latin typeface="Calibri" pitchFamily="34" charset="0"/>
                <a:ea typeface="Calibri" pitchFamily="34" charset="-122"/>
                <a:cs typeface="Calibri" pitchFamily="34" charset="-120"/>
              </a:rPr>
              <a:t>Practice</a:t>
            </a:r>
            <a:endParaRPr lang="en-US" sz="850" dirty="0"/>
          </a:p>
        </p:txBody>
      </p:sp>
      <p:sp>
        <p:nvSpPr>
          <p:cNvPr id="17" name="Shape 15"/>
          <p:cNvSpPr/>
          <p:nvPr/>
        </p:nvSpPr>
        <p:spPr>
          <a:xfrm>
            <a:off x="566928" y="3456432"/>
            <a:ext cx="11064240" cy="786384"/>
          </a:xfrm>
          <a:prstGeom prst="roundRect">
            <a:avLst>
              <a:gd name="adj" fmla="val 8140"/>
            </a:avLst>
          </a:prstGeom>
          <a:solidFill>
            <a:srgbClr val="EFF4F3"/>
          </a:solidFill>
          <a:ln w="12700">
            <a:solidFill>
              <a:srgbClr val="D5E0DE"/>
            </a:solidFill>
            <a:prstDash val="solid"/>
          </a:ln>
        </p:spPr>
      </p:sp>
      <p:sp>
        <p:nvSpPr>
          <p:cNvPr id="18" name="Text 16"/>
          <p:cNvSpPr/>
          <p:nvPr/>
        </p:nvSpPr>
        <p:spPr>
          <a:xfrm>
            <a:off x="786384" y="3675888"/>
            <a:ext cx="347472" cy="347472"/>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1280160" y="3529584"/>
            <a:ext cx="3291840" cy="640080"/>
          </a:xfrm>
          <a:prstGeom prst="rect">
            <a:avLst/>
          </a:prstGeom>
          <a:noFill/>
          <a:ln/>
        </p:spPr>
        <p:txBody>
          <a:bodyPr wrap="square" lIns="0" tIns="0" rIns="0" bIns="0" rtlCol="0" anchor="ctr"/>
          <a:lstStyle/>
          <a:p>
            <a:pPr indent="0" marL="0">
              <a:lnSpc>
                <a:spcPts val="1500"/>
              </a:lnSpc>
              <a:buNone/>
            </a:pPr>
            <a:r>
              <a:rPr lang="en-US" sz="1200" b="1" dirty="0">
                <a:solidFill>
                  <a:srgbClr val="0F3D3E"/>
                </a:solidFill>
                <a:latin typeface="Calibri" pitchFamily="34" charset="0"/>
                <a:ea typeface="Calibri" pitchFamily="34" charset="-122"/>
                <a:cs typeface="Calibri" pitchFamily="34" charset="-120"/>
              </a:rPr>
              <a:t>Chart of accounts consistency</a:t>
            </a:r>
            <a:endParaRPr lang="en-US" sz="1200" dirty="0"/>
          </a:p>
        </p:txBody>
      </p:sp>
      <p:sp>
        <p:nvSpPr>
          <p:cNvPr id="20" name="Text 18"/>
          <p:cNvSpPr/>
          <p:nvPr/>
        </p:nvSpPr>
        <p:spPr>
          <a:xfrm>
            <a:off x="4681728" y="3529584"/>
            <a:ext cx="5029200" cy="640080"/>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Either the same chart across clients, or an explicit mapping layer. This is what makes ledger matching in Agent 2 reliable instead of a guess.</a:t>
            </a:r>
            <a:endParaRPr lang="en-US" sz="1000" dirty="0"/>
          </a:p>
        </p:txBody>
      </p:sp>
      <p:sp>
        <p:nvSpPr>
          <p:cNvPr id="21" name="Shape 19"/>
          <p:cNvSpPr/>
          <p:nvPr/>
        </p:nvSpPr>
        <p:spPr>
          <a:xfrm>
            <a:off x="9893808" y="3657600"/>
            <a:ext cx="1517904" cy="384048"/>
          </a:xfrm>
          <a:prstGeom prst="roundRect">
            <a:avLst>
              <a:gd name="adj" fmla="val 16667"/>
            </a:avLst>
          </a:prstGeom>
          <a:solidFill>
            <a:srgbClr val="E2ECEA"/>
          </a:solidFill>
          <a:ln w="12700">
            <a:solidFill>
              <a:srgbClr val="E2ECEA"/>
            </a:solidFill>
            <a:prstDash val="solid"/>
          </a:ln>
        </p:spPr>
      </p:sp>
      <p:sp>
        <p:nvSpPr>
          <p:cNvPr id="22" name="Text 20"/>
          <p:cNvSpPr/>
          <p:nvPr/>
        </p:nvSpPr>
        <p:spPr>
          <a:xfrm>
            <a:off x="9893808" y="3657600"/>
            <a:ext cx="1517904" cy="384048"/>
          </a:xfrm>
          <a:prstGeom prst="rect">
            <a:avLst/>
          </a:prstGeom>
          <a:noFill/>
          <a:ln/>
        </p:spPr>
        <p:txBody>
          <a:bodyPr wrap="square" lIns="0" tIns="0" rIns="0" bIns="0" rtlCol="0" anchor="ctr"/>
          <a:lstStyle/>
          <a:p>
            <a:pPr algn="ctr" indent="0" marL="0">
              <a:lnSpc>
                <a:spcPts val="1000"/>
              </a:lnSpc>
              <a:buNone/>
            </a:pPr>
            <a:r>
              <a:rPr lang="en-US" sz="850" b="1" dirty="0">
                <a:solidFill>
                  <a:srgbClr val="0F3D3E"/>
                </a:solidFill>
                <a:latin typeface="Calibri" pitchFamily="34" charset="0"/>
                <a:ea typeface="Calibri" pitchFamily="34" charset="-122"/>
                <a:cs typeface="Calibri" pitchFamily="34" charset="-120"/>
              </a:rPr>
              <a:t>Practice + delivery team</a:t>
            </a:r>
            <a:endParaRPr lang="en-US" sz="850" dirty="0"/>
          </a:p>
        </p:txBody>
      </p:sp>
      <p:sp>
        <p:nvSpPr>
          <p:cNvPr id="23" name="Shape 21"/>
          <p:cNvSpPr/>
          <p:nvPr/>
        </p:nvSpPr>
        <p:spPr>
          <a:xfrm>
            <a:off x="566928" y="4334256"/>
            <a:ext cx="11064240" cy="786384"/>
          </a:xfrm>
          <a:prstGeom prst="roundRect">
            <a:avLst>
              <a:gd name="adj" fmla="val 8140"/>
            </a:avLst>
          </a:prstGeom>
          <a:solidFill>
            <a:srgbClr val="EFF4F3"/>
          </a:solidFill>
          <a:ln w="12700">
            <a:solidFill>
              <a:srgbClr val="D5E0DE"/>
            </a:solidFill>
            <a:prstDash val="solid"/>
          </a:ln>
        </p:spPr>
      </p:sp>
      <p:sp>
        <p:nvSpPr>
          <p:cNvPr id="24" name="Text 22"/>
          <p:cNvSpPr/>
          <p:nvPr/>
        </p:nvSpPr>
        <p:spPr>
          <a:xfrm>
            <a:off x="786384" y="4553712"/>
            <a:ext cx="347472" cy="347472"/>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1280160" y="4407408"/>
            <a:ext cx="3291840" cy="640080"/>
          </a:xfrm>
          <a:prstGeom prst="rect">
            <a:avLst/>
          </a:prstGeom>
          <a:noFill/>
          <a:ln/>
        </p:spPr>
        <p:txBody>
          <a:bodyPr wrap="square" lIns="0" tIns="0" rIns="0" bIns="0" rtlCol="0" anchor="ctr"/>
          <a:lstStyle/>
          <a:p>
            <a:pPr indent="0" marL="0">
              <a:lnSpc>
                <a:spcPts val="1500"/>
              </a:lnSpc>
              <a:buNone/>
            </a:pPr>
            <a:r>
              <a:rPr lang="en-US" sz="1200" b="1" dirty="0">
                <a:solidFill>
                  <a:srgbClr val="0F3D3E"/>
                </a:solidFill>
                <a:latin typeface="Calibri" pitchFamily="34" charset="0"/>
                <a:ea typeface="Calibri" pitchFamily="34" charset="-122"/>
                <a:cs typeface="Calibri" pitchFamily="34" charset="-120"/>
              </a:rPr>
              <a:t>Written SOP for each process above</a:t>
            </a:r>
            <a:endParaRPr lang="en-US" sz="1200" dirty="0"/>
          </a:p>
        </p:txBody>
      </p:sp>
      <p:sp>
        <p:nvSpPr>
          <p:cNvPr id="26" name="Text 24"/>
          <p:cNvSpPr/>
          <p:nvPr/>
        </p:nvSpPr>
        <p:spPr>
          <a:xfrm>
            <a:off x="4681728" y="4407408"/>
            <a:ext cx="5029200" cy="640080"/>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The steps, and the exception rules. An agent can only automate a process that has been decided.</a:t>
            </a:r>
            <a:endParaRPr lang="en-US" sz="1000" dirty="0"/>
          </a:p>
        </p:txBody>
      </p:sp>
      <p:sp>
        <p:nvSpPr>
          <p:cNvPr id="27" name="Shape 25"/>
          <p:cNvSpPr/>
          <p:nvPr/>
        </p:nvSpPr>
        <p:spPr>
          <a:xfrm>
            <a:off x="9893808" y="4535424"/>
            <a:ext cx="1517904" cy="384048"/>
          </a:xfrm>
          <a:prstGeom prst="roundRect">
            <a:avLst>
              <a:gd name="adj" fmla="val 16667"/>
            </a:avLst>
          </a:prstGeom>
          <a:solidFill>
            <a:srgbClr val="E2ECEA"/>
          </a:solidFill>
          <a:ln w="12700">
            <a:solidFill>
              <a:srgbClr val="E2ECEA"/>
            </a:solidFill>
            <a:prstDash val="solid"/>
          </a:ln>
        </p:spPr>
      </p:sp>
      <p:sp>
        <p:nvSpPr>
          <p:cNvPr id="28" name="Text 26"/>
          <p:cNvSpPr/>
          <p:nvPr/>
        </p:nvSpPr>
        <p:spPr>
          <a:xfrm>
            <a:off x="9893808" y="4535424"/>
            <a:ext cx="1517904" cy="384048"/>
          </a:xfrm>
          <a:prstGeom prst="rect">
            <a:avLst/>
          </a:prstGeom>
          <a:noFill/>
          <a:ln/>
        </p:spPr>
        <p:txBody>
          <a:bodyPr wrap="square" lIns="0" tIns="0" rIns="0" bIns="0" rtlCol="0" anchor="ctr"/>
          <a:lstStyle/>
          <a:p>
            <a:pPr algn="ctr" indent="0" marL="0">
              <a:lnSpc>
                <a:spcPts val="1000"/>
              </a:lnSpc>
              <a:buNone/>
            </a:pPr>
            <a:r>
              <a:rPr lang="en-US" sz="850" b="1" dirty="0">
                <a:solidFill>
                  <a:srgbClr val="0F3D3E"/>
                </a:solidFill>
                <a:latin typeface="Calibri" pitchFamily="34" charset="0"/>
                <a:ea typeface="Calibri" pitchFamily="34" charset="-122"/>
                <a:cs typeface="Calibri" pitchFamily="34" charset="-120"/>
              </a:rPr>
              <a:t>Auditor + staff</a:t>
            </a:r>
            <a:endParaRPr lang="en-US" sz="850" dirty="0"/>
          </a:p>
        </p:txBody>
      </p:sp>
      <p:sp>
        <p:nvSpPr>
          <p:cNvPr id="29" name="Shape 27"/>
          <p:cNvSpPr/>
          <p:nvPr/>
        </p:nvSpPr>
        <p:spPr>
          <a:xfrm>
            <a:off x="566928" y="5212080"/>
            <a:ext cx="11064240" cy="786384"/>
          </a:xfrm>
          <a:prstGeom prst="roundRect">
            <a:avLst>
              <a:gd name="adj" fmla="val 8140"/>
            </a:avLst>
          </a:prstGeom>
          <a:solidFill>
            <a:srgbClr val="EFF4F3"/>
          </a:solidFill>
          <a:ln w="12700">
            <a:solidFill>
              <a:srgbClr val="D5E0DE"/>
            </a:solidFill>
            <a:prstDash val="solid"/>
          </a:ln>
        </p:spPr>
      </p:sp>
      <p:sp>
        <p:nvSpPr>
          <p:cNvPr id="30" name="Text 28"/>
          <p:cNvSpPr/>
          <p:nvPr/>
        </p:nvSpPr>
        <p:spPr>
          <a:xfrm>
            <a:off x="786384" y="5431536"/>
            <a:ext cx="347472" cy="347472"/>
          </a:xfrm>
          <a:prstGeom prst="ellipse">
            <a:avLst/>
          </a:prstGeom>
          <a:solidFill>
            <a:srgbClr val="0F3D3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1" name="Text 29"/>
          <p:cNvSpPr/>
          <p:nvPr/>
        </p:nvSpPr>
        <p:spPr>
          <a:xfrm>
            <a:off x="1280160" y="5285232"/>
            <a:ext cx="3291840" cy="640080"/>
          </a:xfrm>
          <a:prstGeom prst="rect">
            <a:avLst/>
          </a:prstGeom>
          <a:noFill/>
          <a:ln/>
        </p:spPr>
        <p:txBody>
          <a:bodyPr wrap="square" lIns="0" tIns="0" rIns="0" bIns="0" rtlCol="0" anchor="ctr"/>
          <a:lstStyle/>
          <a:p>
            <a:pPr indent="0" marL="0">
              <a:lnSpc>
                <a:spcPts val="1500"/>
              </a:lnSpc>
              <a:buNone/>
            </a:pPr>
            <a:r>
              <a:rPr lang="en-US" sz="1200" b="1" dirty="0">
                <a:solidFill>
                  <a:srgbClr val="0F3D3E"/>
                </a:solidFill>
                <a:latin typeface="Calibri" pitchFamily="34" charset="0"/>
                <a:ea typeface="Calibri" pitchFamily="34" charset="-122"/>
                <a:cs typeface="Calibri" pitchFamily="34" charset="-120"/>
              </a:rPr>
              <a:t>Exception thresholds</a:t>
            </a:r>
            <a:endParaRPr lang="en-US" sz="1200" dirty="0"/>
          </a:p>
        </p:txBody>
      </p:sp>
      <p:sp>
        <p:nvSpPr>
          <p:cNvPr id="32" name="Text 30"/>
          <p:cNvSpPr/>
          <p:nvPr/>
        </p:nvSpPr>
        <p:spPr>
          <a:xfrm>
            <a:off x="4681728" y="5285232"/>
            <a:ext cx="5029200" cy="640080"/>
          </a:xfrm>
          <a:prstGeom prst="rect">
            <a:avLst/>
          </a:prstGeom>
          <a:noFill/>
          <a:ln/>
        </p:spPr>
        <p:txBody>
          <a:bodyPr wrap="square" lIns="0" tIns="0" rIns="0" bIns="0" rtlCol="0" anchor="ctr"/>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What auto-flags versus what auto-clears. This single set of numbers determines how much work actually reaches a person.</a:t>
            </a:r>
            <a:endParaRPr lang="en-US" sz="1000" dirty="0"/>
          </a:p>
        </p:txBody>
      </p:sp>
      <p:sp>
        <p:nvSpPr>
          <p:cNvPr id="33" name="Shape 31"/>
          <p:cNvSpPr/>
          <p:nvPr/>
        </p:nvSpPr>
        <p:spPr>
          <a:xfrm>
            <a:off x="9893808" y="5413248"/>
            <a:ext cx="1517904" cy="384048"/>
          </a:xfrm>
          <a:prstGeom prst="roundRect">
            <a:avLst>
              <a:gd name="adj" fmla="val 16667"/>
            </a:avLst>
          </a:prstGeom>
          <a:solidFill>
            <a:srgbClr val="E2ECEA"/>
          </a:solidFill>
          <a:ln w="12700">
            <a:solidFill>
              <a:srgbClr val="E2ECEA"/>
            </a:solidFill>
            <a:prstDash val="solid"/>
          </a:ln>
        </p:spPr>
      </p:sp>
      <p:sp>
        <p:nvSpPr>
          <p:cNvPr id="34" name="Text 32"/>
          <p:cNvSpPr/>
          <p:nvPr/>
        </p:nvSpPr>
        <p:spPr>
          <a:xfrm>
            <a:off x="9893808" y="5413248"/>
            <a:ext cx="1517904" cy="384048"/>
          </a:xfrm>
          <a:prstGeom prst="rect">
            <a:avLst/>
          </a:prstGeom>
          <a:noFill/>
          <a:ln/>
        </p:spPr>
        <p:txBody>
          <a:bodyPr wrap="square" lIns="0" tIns="0" rIns="0" bIns="0" rtlCol="0" anchor="ctr"/>
          <a:lstStyle/>
          <a:p>
            <a:pPr algn="ctr" indent="0" marL="0">
              <a:lnSpc>
                <a:spcPts val="1000"/>
              </a:lnSpc>
              <a:buNone/>
            </a:pPr>
            <a:r>
              <a:rPr lang="en-US" sz="850" b="1" dirty="0">
                <a:solidFill>
                  <a:srgbClr val="0F3D3E"/>
                </a:solidFill>
                <a:latin typeface="Calibri" pitchFamily="34" charset="0"/>
                <a:ea typeface="Calibri" pitchFamily="34" charset="-122"/>
                <a:cs typeface="Calibri" pitchFamily="34" charset="-120"/>
              </a:rPr>
              <a:t>Auditor</a:t>
            </a:r>
            <a:endParaRPr lang="en-US" sz="850" dirty="0"/>
          </a:p>
        </p:txBody>
      </p:sp>
      <p:sp>
        <p:nvSpPr>
          <p:cNvPr id="35" name="Text 33"/>
          <p:cNvSpPr/>
          <p:nvPr/>
        </p:nvSpPr>
        <p:spPr>
          <a:xfrm>
            <a:off x="566928" y="6089904"/>
            <a:ext cx="11064240" cy="274320"/>
          </a:xfrm>
          <a:prstGeom prst="rect">
            <a:avLst/>
          </a:prstGeom>
          <a:noFill/>
          <a:ln/>
        </p:spPr>
        <p:txBody>
          <a:bodyPr wrap="square" lIns="0" tIns="0" rIns="0" bIns="0" rtlCol="0" anchor="ctr"/>
          <a:lstStyle/>
          <a:p>
            <a:pPr indent="0" marL="0">
              <a:buNone/>
            </a:pPr>
            <a:r>
              <a:rPr lang="en-US" sz="950" i="1" dirty="0">
                <a:solidFill>
                  <a:srgbClr val="5C6B6A"/>
                </a:solidFill>
                <a:latin typeface="Calibri" pitchFamily="34" charset="0"/>
                <a:ea typeface="Calibri" pitchFamily="34" charset="-122"/>
                <a:cs typeface="Calibri" pitchFamily="34" charset="-120"/>
              </a:rPr>
              <a:t>Owner column indicates who has to make the decision — not who does the configuration work.</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310896"/>
            <a:ext cx="10058400" cy="237744"/>
          </a:xfrm>
          <a:prstGeom prst="rect">
            <a:avLst/>
          </a:prstGeom>
          <a:noFill/>
          <a:ln/>
        </p:spPr>
        <p:txBody>
          <a:bodyPr wrap="square" lIns="0" tIns="0" rIns="0" bIns="0" rtlCol="0" anchor="ctr"/>
          <a:lstStyle/>
          <a:p>
            <a:pPr indent="0" marL="0">
              <a:buNone/>
            </a:pPr>
            <a:r>
              <a:rPr lang="en-US" sz="1050" b="1" spc="160" kern="0" dirty="0">
                <a:solidFill>
                  <a:srgbClr val="C08428"/>
                </a:solidFill>
                <a:latin typeface="Calibri" pitchFamily="34" charset="0"/>
                <a:ea typeface="Calibri" pitchFamily="34" charset="-122"/>
                <a:cs typeface="Calibri" pitchFamily="34" charset="-120"/>
              </a:rPr>
              <a:t>PART 2 · FUTURE ADDITIONS</a:t>
            </a:r>
            <a:endParaRPr lang="en-US" sz="1050" dirty="0"/>
          </a:p>
        </p:txBody>
      </p:sp>
      <p:sp>
        <p:nvSpPr>
          <p:cNvPr id="3" name="Text 1"/>
          <p:cNvSpPr/>
          <p:nvPr/>
        </p:nvSpPr>
        <p:spPr>
          <a:xfrm>
            <a:off x="566928" y="566928"/>
            <a:ext cx="11064240" cy="566928"/>
          </a:xfrm>
          <a:prstGeom prst="rect">
            <a:avLst/>
          </a:prstGeom>
          <a:noFill/>
          <a:ln/>
        </p:spPr>
        <p:txBody>
          <a:bodyPr wrap="square" lIns="0" tIns="0" rIns="0" bIns="0" rtlCol="0" anchor="ctr"/>
          <a:lstStyle/>
          <a:p>
            <a:pPr indent="0" marL="0">
              <a:buNone/>
            </a:pPr>
            <a:r>
              <a:rPr lang="en-US" sz="2900" b="1" dirty="0">
                <a:solidFill>
                  <a:srgbClr val="0F3D3E"/>
                </a:solidFill>
                <a:latin typeface="Cambria" pitchFamily="34" charset="0"/>
                <a:ea typeface="Cambria" pitchFamily="34" charset="-122"/>
                <a:cs typeface="Cambria" pitchFamily="34" charset="-120"/>
              </a:rPr>
              <a:t>Deliberately out of scope — for now</a:t>
            </a:r>
            <a:endParaRPr lang="en-US" sz="2900" dirty="0"/>
          </a:p>
        </p:txBody>
      </p:sp>
      <p:sp>
        <p:nvSpPr>
          <p:cNvPr id="4" name="Text 2"/>
          <p:cNvSpPr/>
          <p:nvPr/>
        </p:nvSpPr>
        <p:spPr>
          <a:xfrm>
            <a:off x="566928" y="1097280"/>
            <a:ext cx="11064240" cy="365760"/>
          </a:xfrm>
          <a:prstGeom prst="rect">
            <a:avLst/>
          </a:prstGeom>
          <a:noFill/>
          <a:ln/>
        </p:spPr>
        <p:txBody>
          <a:bodyPr wrap="square" lIns="0" tIns="0" rIns="0" bIns="0" rtlCol="0" anchor="t"/>
          <a:lstStyle/>
          <a:p>
            <a:pPr indent="0" marL="0">
              <a:buNone/>
            </a:pPr>
            <a:r>
              <a:rPr lang="en-US" sz="1300" dirty="0">
                <a:solidFill>
                  <a:srgbClr val="5C6B6A"/>
                </a:solidFill>
                <a:latin typeface="Calibri" pitchFamily="34" charset="0"/>
                <a:ea typeface="Calibri" pitchFamily="34" charset="-122"/>
                <a:cs typeface="Calibri" pitchFamily="34" charset="-120"/>
              </a:rPr>
              <a:t>Not part of the current build. Worth a conversation once the core platform is live and proven.</a:t>
            </a:r>
            <a:endParaRPr lang="en-US" sz="1300" dirty="0"/>
          </a:p>
        </p:txBody>
      </p:sp>
      <p:sp>
        <p:nvSpPr>
          <p:cNvPr id="5" name="Shape 3"/>
          <p:cNvSpPr/>
          <p:nvPr/>
        </p:nvSpPr>
        <p:spPr>
          <a:xfrm>
            <a:off x="566928" y="1737360"/>
            <a:ext cx="3566160" cy="2084832"/>
          </a:xfrm>
          <a:prstGeom prst="roundRect">
            <a:avLst>
              <a:gd name="adj" fmla="val 3070"/>
            </a:avLst>
          </a:prstGeom>
          <a:solidFill>
            <a:srgbClr val="EFF4F3"/>
          </a:solidFill>
          <a:ln w="12700">
            <a:solidFill>
              <a:srgbClr val="D5E0DE"/>
            </a:solidFill>
            <a:prstDash val="solid"/>
          </a:ln>
        </p:spPr>
      </p:sp>
      <p:sp>
        <p:nvSpPr>
          <p:cNvPr id="6" name="Text 4"/>
          <p:cNvSpPr/>
          <p:nvPr/>
        </p:nvSpPr>
        <p:spPr>
          <a:xfrm>
            <a:off x="804672" y="1865376"/>
            <a:ext cx="3090672" cy="548640"/>
          </a:xfrm>
          <a:prstGeom prst="rect">
            <a:avLst/>
          </a:prstGeom>
          <a:noFill/>
          <a:ln/>
        </p:spPr>
        <p:txBody>
          <a:bodyPr wrap="square" lIns="0" tIns="0" rIns="0" bIns="0" rtlCol="0" anchor="t"/>
          <a:lstStyle/>
          <a:p>
            <a:pPr indent="0" marL="0">
              <a:lnSpc>
                <a:spcPts val="1700"/>
              </a:lnSpc>
              <a:buNone/>
            </a:pPr>
            <a:r>
              <a:rPr lang="en-US" sz="1300" b="1" dirty="0">
                <a:solidFill>
                  <a:srgbClr val="0F3D3E"/>
                </a:solidFill>
                <a:latin typeface="Cambria" pitchFamily="34" charset="0"/>
                <a:ea typeface="Cambria" pitchFamily="34" charset="-122"/>
                <a:cs typeface="Cambria" pitchFamily="34" charset="-120"/>
              </a:rPr>
              <a:t>Notice / Scrutiny Tracking</a:t>
            </a:r>
            <a:endParaRPr lang="en-US" sz="1300" dirty="0"/>
          </a:p>
        </p:txBody>
      </p:sp>
      <p:sp>
        <p:nvSpPr>
          <p:cNvPr id="7" name="Text 5"/>
          <p:cNvSpPr/>
          <p:nvPr/>
        </p:nvSpPr>
        <p:spPr>
          <a:xfrm>
            <a:off x="804672" y="2450592"/>
            <a:ext cx="3090672" cy="786384"/>
          </a:xfrm>
          <a:prstGeom prst="rect">
            <a:avLst/>
          </a:prstGeom>
          <a:noFill/>
          <a:ln/>
        </p:spPr>
        <p:txBody>
          <a:bodyPr wrap="square" lIns="0" tIns="0" rIns="0" bIns="0" rtlCol="0" anchor="t"/>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Log GST and income tax notices, draft first-cut responses using precedent, and track response deadlines.</a:t>
            </a:r>
            <a:endParaRPr lang="en-US" sz="1000" dirty="0"/>
          </a:p>
        </p:txBody>
      </p:sp>
      <p:sp>
        <p:nvSpPr>
          <p:cNvPr id="8" name="Text 6"/>
          <p:cNvSpPr/>
          <p:nvPr/>
        </p:nvSpPr>
        <p:spPr>
          <a:xfrm>
            <a:off x="804672" y="3273552"/>
            <a:ext cx="3090672" cy="457200"/>
          </a:xfrm>
          <a:prstGeom prst="rect">
            <a:avLst/>
          </a:prstGeom>
          <a:noFill/>
          <a:ln/>
        </p:spPr>
        <p:txBody>
          <a:bodyPr wrap="square" lIns="0" tIns="0" rIns="0" bIns="0" rtlCol="0" anchor="t"/>
          <a:lstStyle/>
          <a:p>
            <a:pPr indent="0" marL="0">
              <a:lnSpc>
                <a:spcPts val="1200"/>
              </a:lnSpc>
              <a:buNone/>
            </a:pPr>
            <a:r>
              <a:rPr lang="en-US" sz="900" i="1" dirty="0">
                <a:solidFill>
                  <a:srgbClr val="C08428"/>
                </a:solidFill>
                <a:latin typeface="Calibri" pitchFamily="34" charset="0"/>
                <a:ea typeface="Calibri" pitchFamily="34" charset="-122"/>
                <a:cs typeface="Calibri" pitchFamily="34" charset="-120"/>
              </a:rPr>
              <a:t>Deprioritized — notice volume is currently low.</a:t>
            </a:r>
            <a:endParaRPr lang="en-US" sz="900" dirty="0"/>
          </a:p>
        </p:txBody>
      </p:sp>
      <p:sp>
        <p:nvSpPr>
          <p:cNvPr id="9" name="Shape 7"/>
          <p:cNvSpPr/>
          <p:nvPr/>
        </p:nvSpPr>
        <p:spPr>
          <a:xfrm>
            <a:off x="4407408" y="1737360"/>
            <a:ext cx="3566160" cy="2084832"/>
          </a:xfrm>
          <a:prstGeom prst="roundRect">
            <a:avLst>
              <a:gd name="adj" fmla="val 3070"/>
            </a:avLst>
          </a:prstGeom>
          <a:solidFill>
            <a:srgbClr val="EFF4F3"/>
          </a:solidFill>
          <a:ln w="12700">
            <a:solidFill>
              <a:srgbClr val="D5E0DE"/>
            </a:solidFill>
            <a:prstDash val="solid"/>
          </a:ln>
        </p:spPr>
      </p:sp>
      <p:sp>
        <p:nvSpPr>
          <p:cNvPr id="10" name="Text 8"/>
          <p:cNvSpPr/>
          <p:nvPr/>
        </p:nvSpPr>
        <p:spPr>
          <a:xfrm>
            <a:off x="4645152" y="1865376"/>
            <a:ext cx="3090672" cy="548640"/>
          </a:xfrm>
          <a:prstGeom prst="rect">
            <a:avLst/>
          </a:prstGeom>
          <a:noFill/>
          <a:ln/>
        </p:spPr>
        <p:txBody>
          <a:bodyPr wrap="square" lIns="0" tIns="0" rIns="0" bIns="0" rtlCol="0" anchor="t"/>
          <a:lstStyle/>
          <a:p>
            <a:pPr indent="0" marL="0">
              <a:lnSpc>
                <a:spcPts val="1700"/>
              </a:lnSpc>
              <a:buNone/>
            </a:pPr>
            <a:r>
              <a:rPr lang="en-US" sz="1300" b="1" dirty="0">
                <a:solidFill>
                  <a:srgbClr val="0F3D3E"/>
                </a:solidFill>
                <a:latin typeface="Cambria" pitchFamily="34" charset="0"/>
                <a:ea typeface="Cambria" pitchFamily="34" charset="-122"/>
                <a:cs typeface="Cambria" pitchFamily="34" charset="-120"/>
              </a:rPr>
              <a:t>Financial Statement Analysis &amp; Ratio Tracking</a:t>
            </a:r>
            <a:endParaRPr lang="en-US" sz="1300" dirty="0"/>
          </a:p>
        </p:txBody>
      </p:sp>
      <p:sp>
        <p:nvSpPr>
          <p:cNvPr id="11" name="Text 9"/>
          <p:cNvSpPr/>
          <p:nvPr/>
        </p:nvSpPr>
        <p:spPr>
          <a:xfrm>
            <a:off x="4645152" y="2450592"/>
            <a:ext cx="3090672" cy="786384"/>
          </a:xfrm>
          <a:prstGeom prst="rect">
            <a:avLst/>
          </a:prstGeom>
          <a:noFill/>
          <a:ln/>
        </p:spPr>
        <p:txBody>
          <a:bodyPr wrap="square" lIns="0" tIns="0" rIns="0" bIns="0" rtlCol="0" anchor="t"/>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Auto-generate trend analysis and industry ratio comparisons.</a:t>
            </a:r>
            <a:endParaRPr lang="en-US" sz="1000" dirty="0"/>
          </a:p>
        </p:txBody>
      </p:sp>
      <p:sp>
        <p:nvSpPr>
          <p:cNvPr id="12" name="Text 10"/>
          <p:cNvSpPr/>
          <p:nvPr/>
        </p:nvSpPr>
        <p:spPr>
          <a:xfrm>
            <a:off x="4645152" y="3273552"/>
            <a:ext cx="3090672" cy="457200"/>
          </a:xfrm>
          <a:prstGeom prst="rect">
            <a:avLst/>
          </a:prstGeom>
          <a:noFill/>
          <a:ln/>
        </p:spPr>
        <p:txBody>
          <a:bodyPr wrap="square" lIns="0" tIns="0" rIns="0" bIns="0" rtlCol="0" anchor="t"/>
          <a:lstStyle/>
          <a:p>
            <a:pPr indent="0" marL="0">
              <a:lnSpc>
                <a:spcPts val="1200"/>
              </a:lnSpc>
              <a:buNone/>
            </a:pPr>
            <a:r>
              <a:rPr lang="en-US" sz="900" i="1" dirty="0">
                <a:solidFill>
                  <a:srgbClr val="C08428"/>
                </a:solidFill>
                <a:latin typeface="Calibri" pitchFamily="34" charset="0"/>
                <a:ea typeface="Calibri" pitchFamily="34" charset="-122"/>
                <a:cs typeface="Calibri" pitchFamily="34" charset="-120"/>
              </a:rPr>
              <a:t>Needs fully digitized books first — i.e. Agent 2 at scale.</a:t>
            </a:r>
            <a:endParaRPr lang="en-US" sz="900" dirty="0"/>
          </a:p>
        </p:txBody>
      </p:sp>
      <p:sp>
        <p:nvSpPr>
          <p:cNvPr id="13" name="Shape 11"/>
          <p:cNvSpPr/>
          <p:nvPr/>
        </p:nvSpPr>
        <p:spPr>
          <a:xfrm>
            <a:off x="8247888" y="1737360"/>
            <a:ext cx="3566160" cy="2084832"/>
          </a:xfrm>
          <a:prstGeom prst="roundRect">
            <a:avLst>
              <a:gd name="adj" fmla="val 3070"/>
            </a:avLst>
          </a:prstGeom>
          <a:solidFill>
            <a:srgbClr val="EFF4F3"/>
          </a:solidFill>
          <a:ln w="12700">
            <a:solidFill>
              <a:srgbClr val="D5E0DE"/>
            </a:solidFill>
            <a:prstDash val="solid"/>
          </a:ln>
        </p:spPr>
      </p:sp>
      <p:sp>
        <p:nvSpPr>
          <p:cNvPr id="14" name="Text 12"/>
          <p:cNvSpPr/>
          <p:nvPr/>
        </p:nvSpPr>
        <p:spPr>
          <a:xfrm>
            <a:off x="8485632" y="1865376"/>
            <a:ext cx="3090672" cy="548640"/>
          </a:xfrm>
          <a:prstGeom prst="rect">
            <a:avLst/>
          </a:prstGeom>
          <a:noFill/>
          <a:ln/>
        </p:spPr>
        <p:txBody>
          <a:bodyPr wrap="square" lIns="0" tIns="0" rIns="0" bIns="0" rtlCol="0" anchor="t"/>
          <a:lstStyle/>
          <a:p>
            <a:pPr indent="0" marL="0">
              <a:lnSpc>
                <a:spcPts val="1700"/>
              </a:lnSpc>
              <a:buNone/>
            </a:pPr>
            <a:r>
              <a:rPr lang="en-US" sz="1300" b="1" dirty="0">
                <a:solidFill>
                  <a:srgbClr val="0F3D3E"/>
                </a:solidFill>
                <a:latin typeface="Cambria" pitchFamily="34" charset="0"/>
                <a:ea typeface="Cambria" pitchFamily="34" charset="-122"/>
                <a:cs typeface="Cambria" pitchFamily="34" charset="-120"/>
              </a:rPr>
              <a:t>ROC / Companies Act Compliance Tracker</a:t>
            </a:r>
            <a:endParaRPr lang="en-US" sz="1300" dirty="0"/>
          </a:p>
        </p:txBody>
      </p:sp>
      <p:sp>
        <p:nvSpPr>
          <p:cNvPr id="15" name="Text 13"/>
          <p:cNvSpPr/>
          <p:nvPr/>
        </p:nvSpPr>
        <p:spPr>
          <a:xfrm>
            <a:off x="8485632" y="2450592"/>
            <a:ext cx="3090672" cy="786384"/>
          </a:xfrm>
          <a:prstGeom prst="rect">
            <a:avLst/>
          </a:prstGeom>
          <a:noFill/>
          <a:ln/>
        </p:spPr>
        <p:txBody>
          <a:bodyPr wrap="square" lIns="0" tIns="0" rIns="0" bIns="0" rtlCol="0" anchor="t"/>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Track AOC-4, MGT-7, DIR-3 KYC and other corporate filing deadlines with auto-alerts.</a:t>
            </a:r>
            <a:endParaRPr lang="en-US" sz="1000" dirty="0"/>
          </a:p>
        </p:txBody>
      </p:sp>
      <p:sp>
        <p:nvSpPr>
          <p:cNvPr id="16" name="Text 14"/>
          <p:cNvSpPr/>
          <p:nvPr/>
        </p:nvSpPr>
        <p:spPr>
          <a:xfrm>
            <a:off x="8485632" y="3273552"/>
            <a:ext cx="3090672" cy="457200"/>
          </a:xfrm>
          <a:prstGeom prst="rect">
            <a:avLst/>
          </a:prstGeom>
          <a:noFill/>
          <a:ln/>
        </p:spPr>
        <p:txBody>
          <a:bodyPr wrap="square" lIns="0" tIns="0" rIns="0" bIns="0" rtlCol="0" anchor="t"/>
          <a:lstStyle/>
          <a:p>
            <a:pPr indent="0" marL="0">
              <a:lnSpc>
                <a:spcPts val="1200"/>
              </a:lnSpc>
              <a:buNone/>
            </a:pPr>
            <a:r>
              <a:rPr lang="en-US" sz="900" i="1" dirty="0">
                <a:solidFill>
                  <a:srgbClr val="C08428"/>
                </a:solidFill>
                <a:latin typeface="Calibri" pitchFamily="34" charset="0"/>
                <a:ea typeface="Calibri" pitchFamily="34" charset="-122"/>
                <a:cs typeface="Calibri" pitchFamily="34" charset="-120"/>
              </a:rPr>
              <a:t>A natural extension of Agent 9's calendar.</a:t>
            </a:r>
            <a:endParaRPr lang="en-US" sz="900" dirty="0"/>
          </a:p>
        </p:txBody>
      </p:sp>
      <p:sp>
        <p:nvSpPr>
          <p:cNvPr id="17" name="Shape 15"/>
          <p:cNvSpPr/>
          <p:nvPr/>
        </p:nvSpPr>
        <p:spPr>
          <a:xfrm>
            <a:off x="566928" y="3968496"/>
            <a:ext cx="3566160" cy="2084832"/>
          </a:xfrm>
          <a:prstGeom prst="roundRect">
            <a:avLst>
              <a:gd name="adj" fmla="val 3070"/>
            </a:avLst>
          </a:prstGeom>
          <a:solidFill>
            <a:srgbClr val="EFF4F3"/>
          </a:solidFill>
          <a:ln w="12700">
            <a:solidFill>
              <a:srgbClr val="D5E0DE"/>
            </a:solidFill>
            <a:prstDash val="solid"/>
          </a:ln>
        </p:spPr>
      </p:sp>
      <p:sp>
        <p:nvSpPr>
          <p:cNvPr id="18" name="Text 16"/>
          <p:cNvSpPr/>
          <p:nvPr/>
        </p:nvSpPr>
        <p:spPr>
          <a:xfrm>
            <a:off x="804672" y="4096512"/>
            <a:ext cx="3090672" cy="548640"/>
          </a:xfrm>
          <a:prstGeom prst="rect">
            <a:avLst/>
          </a:prstGeom>
          <a:noFill/>
          <a:ln/>
        </p:spPr>
        <p:txBody>
          <a:bodyPr wrap="square" lIns="0" tIns="0" rIns="0" bIns="0" rtlCol="0" anchor="t"/>
          <a:lstStyle/>
          <a:p>
            <a:pPr indent="0" marL="0">
              <a:lnSpc>
                <a:spcPts val="1700"/>
              </a:lnSpc>
              <a:buNone/>
            </a:pPr>
            <a:r>
              <a:rPr lang="en-US" sz="1300" b="1" dirty="0">
                <a:solidFill>
                  <a:srgbClr val="0F3D3E"/>
                </a:solidFill>
                <a:latin typeface="Cambria" pitchFamily="34" charset="0"/>
                <a:ea typeface="Cambria" pitchFamily="34" charset="-122"/>
                <a:cs typeface="Cambria" pitchFamily="34" charset="-120"/>
              </a:rPr>
              <a:t>Fixed Asset Register &amp; Depreciation</a:t>
            </a:r>
            <a:endParaRPr lang="en-US" sz="1300" dirty="0"/>
          </a:p>
        </p:txBody>
      </p:sp>
      <p:sp>
        <p:nvSpPr>
          <p:cNvPr id="19" name="Text 17"/>
          <p:cNvSpPr/>
          <p:nvPr/>
        </p:nvSpPr>
        <p:spPr>
          <a:xfrm>
            <a:off x="804672" y="4681728"/>
            <a:ext cx="3090672" cy="786384"/>
          </a:xfrm>
          <a:prstGeom prst="rect">
            <a:avLst/>
          </a:prstGeom>
          <a:noFill/>
          <a:ln/>
        </p:spPr>
        <p:txBody>
          <a:bodyPr wrap="square" lIns="0" tIns="0" rIns="0" bIns="0" rtlCol="0" anchor="t"/>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Maintain the asset register and compute depreciation under both the Companies Act and the Income Tax Act.</a:t>
            </a:r>
            <a:endParaRPr lang="en-US" sz="1000" dirty="0"/>
          </a:p>
        </p:txBody>
      </p:sp>
      <p:sp>
        <p:nvSpPr>
          <p:cNvPr id="20" name="Text 18"/>
          <p:cNvSpPr/>
          <p:nvPr/>
        </p:nvSpPr>
        <p:spPr>
          <a:xfrm>
            <a:off x="804672" y="5504688"/>
            <a:ext cx="3090672" cy="457200"/>
          </a:xfrm>
          <a:prstGeom prst="rect">
            <a:avLst/>
          </a:prstGeom>
          <a:noFill/>
          <a:ln/>
        </p:spPr>
        <p:txBody>
          <a:bodyPr wrap="square" lIns="0" tIns="0" rIns="0" bIns="0" rtlCol="0" anchor="t"/>
          <a:lstStyle/>
          <a:p>
            <a:pPr indent="0" marL="0">
              <a:lnSpc>
                <a:spcPts val="1200"/>
              </a:lnSpc>
              <a:buNone/>
            </a:pPr>
            <a:r>
              <a:rPr lang="en-US" sz="900" i="1" dirty="0">
                <a:solidFill>
                  <a:srgbClr val="C08428"/>
                </a:solidFill>
                <a:latin typeface="Calibri" pitchFamily="34" charset="0"/>
                <a:ea typeface="Calibri" pitchFamily="34" charset="-122"/>
                <a:cs typeface="Calibri" pitchFamily="34" charset="-120"/>
              </a:rPr>
              <a:t>Adds a register the current build doesn't touch.</a:t>
            </a:r>
            <a:endParaRPr lang="en-US" sz="900" dirty="0"/>
          </a:p>
        </p:txBody>
      </p:sp>
      <p:sp>
        <p:nvSpPr>
          <p:cNvPr id="21" name="Shape 19"/>
          <p:cNvSpPr/>
          <p:nvPr/>
        </p:nvSpPr>
        <p:spPr>
          <a:xfrm>
            <a:off x="4407408" y="3968496"/>
            <a:ext cx="3566160" cy="2084832"/>
          </a:xfrm>
          <a:prstGeom prst="roundRect">
            <a:avLst>
              <a:gd name="adj" fmla="val 3070"/>
            </a:avLst>
          </a:prstGeom>
          <a:solidFill>
            <a:srgbClr val="EFF4F3"/>
          </a:solidFill>
          <a:ln w="12700">
            <a:solidFill>
              <a:srgbClr val="D5E0DE"/>
            </a:solidFill>
            <a:prstDash val="solid"/>
          </a:ln>
        </p:spPr>
      </p:sp>
      <p:sp>
        <p:nvSpPr>
          <p:cNvPr id="22" name="Text 20"/>
          <p:cNvSpPr/>
          <p:nvPr/>
        </p:nvSpPr>
        <p:spPr>
          <a:xfrm>
            <a:off x="4645152" y="4096512"/>
            <a:ext cx="3090672" cy="548640"/>
          </a:xfrm>
          <a:prstGeom prst="rect">
            <a:avLst/>
          </a:prstGeom>
          <a:noFill/>
          <a:ln/>
        </p:spPr>
        <p:txBody>
          <a:bodyPr wrap="square" lIns="0" tIns="0" rIns="0" bIns="0" rtlCol="0" anchor="t"/>
          <a:lstStyle/>
          <a:p>
            <a:pPr indent="0" marL="0">
              <a:lnSpc>
                <a:spcPts val="1700"/>
              </a:lnSpc>
              <a:buNone/>
            </a:pPr>
            <a:r>
              <a:rPr lang="en-US" sz="1300" b="1" dirty="0">
                <a:solidFill>
                  <a:srgbClr val="0F3D3E"/>
                </a:solidFill>
                <a:latin typeface="Cambria" pitchFamily="34" charset="0"/>
                <a:ea typeface="Cambria" pitchFamily="34" charset="-122"/>
                <a:cs typeface="Cambria" pitchFamily="34" charset="-120"/>
              </a:rPr>
              <a:t>Audit Sampling &amp; Risk-Scoring</a:t>
            </a:r>
            <a:endParaRPr lang="en-US" sz="1300" dirty="0"/>
          </a:p>
        </p:txBody>
      </p:sp>
      <p:sp>
        <p:nvSpPr>
          <p:cNvPr id="23" name="Text 21"/>
          <p:cNvSpPr/>
          <p:nvPr/>
        </p:nvSpPr>
        <p:spPr>
          <a:xfrm>
            <a:off x="4645152" y="4681728"/>
            <a:ext cx="3090672" cy="786384"/>
          </a:xfrm>
          <a:prstGeom prst="rect">
            <a:avLst/>
          </a:prstGeom>
          <a:noFill/>
          <a:ln/>
        </p:spPr>
        <p:txBody>
          <a:bodyPr wrap="square" lIns="0" tIns="0" rIns="0" bIns="0" rtlCol="0" anchor="t"/>
          <a:lstStyle/>
          <a:p>
            <a:pPr indent="0" marL="0">
              <a:lnSpc>
                <a:spcPts val="1300"/>
              </a:lnSpc>
              <a:buNone/>
            </a:pPr>
            <a:r>
              <a:rPr lang="en-US" sz="1000" dirty="0">
                <a:solidFill>
                  <a:srgbClr val="5C6B6A"/>
                </a:solidFill>
                <a:latin typeface="Calibri" pitchFamily="34" charset="0"/>
                <a:ea typeface="Calibri" pitchFamily="34" charset="-122"/>
                <a:cs typeface="Calibri" pitchFamily="34" charset="-120"/>
              </a:rPr>
              <a:t>Apply materiality thresholds and flag high-risk transactions for focused audit testing.</a:t>
            </a:r>
            <a:endParaRPr lang="en-US" sz="1000" dirty="0"/>
          </a:p>
        </p:txBody>
      </p:sp>
      <p:sp>
        <p:nvSpPr>
          <p:cNvPr id="24" name="Text 22"/>
          <p:cNvSpPr/>
          <p:nvPr/>
        </p:nvSpPr>
        <p:spPr>
          <a:xfrm>
            <a:off x="4645152" y="5504688"/>
            <a:ext cx="3090672" cy="457200"/>
          </a:xfrm>
          <a:prstGeom prst="rect">
            <a:avLst/>
          </a:prstGeom>
          <a:noFill/>
          <a:ln/>
        </p:spPr>
        <p:txBody>
          <a:bodyPr wrap="square" lIns="0" tIns="0" rIns="0" bIns="0" rtlCol="0" anchor="t"/>
          <a:lstStyle/>
          <a:p>
            <a:pPr indent="0" marL="0">
              <a:lnSpc>
                <a:spcPts val="1200"/>
              </a:lnSpc>
              <a:buNone/>
            </a:pPr>
            <a:r>
              <a:rPr lang="en-US" sz="900" i="1" dirty="0">
                <a:solidFill>
                  <a:srgbClr val="C08428"/>
                </a:solidFill>
                <a:latin typeface="Calibri" pitchFamily="34" charset="0"/>
                <a:ea typeface="Calibri" pitchFamily="34" charset="-122"/>
                <a:cs typeface="Calibri" pitchFamily="34" charset="-120"/>
              </a:rPr>
              <a:t>Builds on the exception data the core agents generate.</a:t>
            </a:r>
            <a:endParaRPr lang="en-US" sz="900" dirty="0"/>
          </a:p>
        </p:txBody>
      </p:sp>
      <p:sp>
        <p:nvSpPr>
          <p:cNvPr id="25" name="Shape 23"/>
          <p:cNvSpPr/>
          <p:nvPr/>
        </p:nvSpPr>
        <p:spPr>
          <a:xfrm>
            <a:off x="8247888" y="3968496"/>
            <a:ext cx="3566160" cy="2084832"/>
          </a:xfrm>
          <a:prstGeom prst="roundRect">
            <a:avLst>
              <a:gd name="adj" fmla="val 3070"/>
            </a:avLst>
          </a:prstGeom>
          <a:solidFill>
            <a:srgbClr val="0F3D3E"/>
          </a:solidFill>
          <a:ln w="12700">
            <a:solidFill>
              <a:srgbClr val="0F3D3E"/>
            </a:solidFill>
            <a:prstDash val="solid"/>
          </a:ln>
        </p:spPr>
      </p:sp>
      <p:sp>
        <p:nvSpPr>
          <p:cNvPr id="26" name="Text 24"/>
          <p:cNvSpPr/>
          <p:nvPr/>
        </p:nvSpPr>
        <p:spPr>
          <a:xfrm>
            <a:off x="8485632" y="4096512"/>
            <a:ext cx="3090672" cy="548640"/>
          </a:xfrm>
          <a:prstGeom prst="rect">
            <a:avLst/>
          </a:prstGeom>
          <a:noFill/>
          <a:ln/>
        </p:spPr>
        <p:txBody>
          <a:bodyPr wrap="square" lIns="0" tIns="0" rIns="0" bIns="0" rtlCol="0" anchor="t"/>
          <a:lstStyle/>
          <a:p>
            <a:pPr indent="0" marL="0">
              <a:lnSpc>
                <a:spcPts val="1700"/>
              </a:lnSpc>
              <a:buNone/>
            </a:pPr>
            <a:r>
              <a:rPr lang="en-US" sz="1300" b="1" dirty="0">
                <a:solidFill>
                  <a:srgbClr val="FFFFFF"/>
                </a:solidFill>
                <a:latin typeface="Cambria" pitchFamily="34" charset="0"/>
                <a:ea typeface="Cambria" pitchFamily="34" charset="-122"/>
                <a:cs typeface="Cambria" pitchFamily="34" charset="-120"/>
              </a:rPr>
              <a:t>Why hold these back</a:t>
            </a:r>
            <a:endParaRPr lang="en-US" sz="1300" dirty="0"/>
          </a:p>
        </p:txBody>
      </p:sp>
      <p:sp>
        <p:nvSpPr>
          <p:cNvPr id="27" name="Text 25"/>
          <p:cNvSpPr/>
          <p:nvPr/>
        </p:nvSpPr>
        <p:spPr>
          <a:xfrm>
            <a:off x="8485632" y="4681728"/>
            <a:ext cx="3090672" cy="1188720"/>
          </a:xfrm>
          <a:prstGeom prst="rect">
            <a:avLst/>
          </a:prstGeom>
          <a:noFill/>
          <a:ln/>
        </p:spPr>
        <p:txBody>
          <a:bodyPr wrap="square" lIns="0" tIns="0" rIns="0" bIns="0" rtlCol="0" anchor="t"/>
          <a:lstStyle/>
          <a:p>
            <a:pPr indent="0" marL="0">
              <a:lnSpc>
                <a:spcPts val="1350"/>
              </a:lnSpc>
              <a:buNone/>
            </a:pPr>
            <a:r>
              <a:rPr lang="en-US" sz="1000" dirty="0">
                <a:solidFill>
                  <a:srgbClr val="BFD4D3"/>
                </a:solidFill>
                <a:latin typeface="Calibri" pitchFamily="34" charset="0"/>
                <a:ea typeface="Calibri" pitchFamily="34" charset="-122"/>
                <a:cs typeface="Calibri" pitchFamily="34" charset="-120"/>
              </a:rPr>
              <a:t>Each of these depends on data the core ten agents produce. Building them first would mean building on assumptions; building them second means building on the practice's own real numbers.</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3D3E"/>
        </a:solidFill>
      </p:bgPr>
    </p:bg>
    <p:spTree>
      <p:nvGrpSpPr>
        <p:cNvPr id="1" name=""/>
        <p:cNvGrpSpPr/>
        <p:nvPr/>
      </p:nvGrpSpPr>
      <p:grpSpPr>
        <a:xfrm>
          <a:off x="0" y="0"/>
          <a:ext cx="0" cy="0"/>
          <a:chOff x="0" y="0"/>
          <a:chExt cx="0" cy="0"/>
        </a:xfrm>
      </p:grpSpPr>
      <p:sp>
        <p:nvSpPr>
          <p:cNvPr id="2" name="Text 0"/>
          <p:cNvSpPr/>
          <p:nvPr/>
        </p:nvSpPr>
        <p:spPr>
          <a:xfrm>
            <a:off x="566928" y="1371600"/>
            <a:ext cx="8229600" cy="82296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From Chaos to CAOS</a:t>
            </a:r>
            <a:endParaRPr lang="en-US" sz="4600" dirty="0"/>
          </a:p>
        </p:txBody>
      </p:sp>
      <p:sp>
        <p:nvSpPr>
          <p:cNvPr id="3" name="Text 1"/>
          <p:cNvSpPr/>
          <p:nvPr/>
        </p:nvSpPr>
        <p:spPr>
          <a:xfrm>
            <a:off x="566928" y="2212848"/>
            <a:ext cx="8229600" cy="365760"/>
          </a:xfrm>
          <a:prstGeom prst="rect">
            <a:avLst/>
          </a:prstGeom>
          <a:noFill/>
          <a:ln/>
        </p:spPr>
        <p:txBody>
          <a:bodyPr wrap="square" lIns="0" tIns="0" rIns="0" bIns="0" rtlCol="0" anchor="ctr"/>
          <a:lstStyle/>
          <a:p>
            <a:pPr indent="0" marL="0">
              <a:buNone/>
            </a:pPr>
            <a:r>
              <a:rPr lang="en-US" sz="1400" i="1" dirty="0">
                <a:solidFill>
                  <a:srgbClr val="C08428"/>
                </a:solidFill>
                <a:latin typeface="Calibri" pitchFamily="34" charset="0"/>
                <a:ea typeface="Calibri" pitchFamily="34" charset="-122"/>
                <a:cs typeface="Calibri" pitchFamily="34" charset="-120"/>
              </a:rPr>
              <a:t>What the whole document comes down to</a:t>
            </a:r>
            <a:endParaRPr lang="en-US" sz="1400" dirty="0"/>
          </a:p>
        </p:txBody>
      </p:sp>
      <p:sp>
        <p:nvSpPr>
          <p:cNvPr id="4" name="Shape 2"/>
          <p:cNvSpPr/>
          <p:nvPr/>
        </p:nvSpPr>
        <p:spPr>
          <a:xfrm>
            <a:off x="566928" y="2871216"/>
            <a:ext cx="2679192" cy="2286000"/>
          </a:xfrm>
          <a:prstGeom prst="roundRect">
            <a:avLst>
              <a:gd name="adj" fmla="val 2400"/>
            </a:avLst>
          </a:prstGeom>
          <a:solidFill>
            <a:srgbClr val="FFFFFF">
              <a:alpha val="8000"/>
            </a:srgbClr>
          </a:solidFill>
          <a:ln w="12700">
            <a:solidFill>
              <a:srgbClr val="2E7A78"/>
            </a:solidFill>
            <a:prstDash val="solid"/>
          </a:ln>
        </p:spPr>
      </p:sp>
      <p:sp>
        <p:nvSpPr>
          <p:cNvPr id="5" name="Text 3"/>
          <p:cNvSpPr/>
          <p:nvPr/>
        </p:nvSpPr>
        <p:spPr>
          <a:xfrm>
            <a:off x="804672" y="3072384"/>
            <a:ext cx="310896" cy="310896"/>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6" name="Text 4"/>
          <p:cNvSpPr/>
          <p:nvPr/>
        </p:nvSpPr>
        <p:spPr>
          <a:xfrm>
            <a:off x="804672" y="3474720"/>
            <a:ext cx="2203704" cy="54864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mbria" pitchFamily="34" charset="0"/>
                <a:ea typeface="Cambria" pitchFamily="34" charset="-122"/>
                <a:cs typeface="Cambria" pitchFamily="34" charset="-120"/>
              </a:rPr>
              <a:t>The work is knowable</a:t>
            </a:r>
            <a:endParaRPr lang="en-US" sz="1400" dirty="0"/>
          </a:p>
        </p:txBody>
      </p:sp>
      <p:sp>
        <p:nvSpPr>
          <p:cNvPr id="7" name="Text 5"/>
          <p:cNvSpPr/>
          <p:nvPr/>
        </p:nvSpPr>
        <p:spPr>
          <a:xfrm>
            <a:off x="804672" y="4059936"/>
            <a:ext cx="2203704" cy="969264"/>
          </a:xfrm>
          <a:prstGeom prst="rect">
            <a:avLst/>
          </a:prstGeom>
          <a:noFill/>
          <a:ln/>
        </p:spPr>
        <p:txBody>
          <a:bodyPr wrap="square" lIns="0" tIns="0" rIns="0" bIns="0" rtlCol="0" anchor="t"/>
          <a:lstStyle/>
          <a:p>
            <a:pPr indent="0" marL="0">
              <a:lnSpc>
                <a:spcPts val="1250"/>
              </a:lnSpc>
              <a:buNone/>
            </a:pPr>
            <a:r>
              <a:rPr lang="en-US" sz="950" dirty="0">
                <a:solidFill>
                  <a:srgbClr val="A9C3C2"/>
                </a:solidFill>
                <a:latin typeface="Calibri" pitchFamily="34" charset="0"/>
                <a:ea typeface="Calibri" pitchFamily="34" charset="-122"/>
                <a:cs typeface="Calibri" pitchFamily="34" charset="-120"/>
              </a:rPr>
              <a:t>Every process in Part 1 — voucher entry, reconciliation, filing, documentation — follows the same shape every month, for every client. That is what makes it automatable at all.</a:t>
            </a:r>
            <a:endParaRPr lang="en-US" sz="950" dirty="0"/>
          </a:p>
        </p:txBody>
      </p:sp>
      <p:sp>
        <p:nvSpPr>
          <p:cNvPr id="8" name="Shape 6"/>
          <p:cNvSpPr/>
          <p:nvPr/>
        </p:nvSpPr>
        <p:spPr>
          <a:xfrm>
            <a:off x="3502152" y="2871216"/>
            <a:ext cx="2679192" cy="2286000"/>
          </a:xfrm>
          <a:prstGeom prst="roundRect">
            <a:avLst>
              <a:gd name="adj" fmla="val 2400"/>
            </a:avLst>
          </a:prstGeom>
          <a:solidFill>
            <a:srgbClr val="FFFFFF">
              <a:alpha val="8000"/>
            </a:srgbClr>
          </a:solidFill>
          <a:ln w="12700">
            <a:solidFill>
              <a:srgbClr val="2E7A78"/>
            </a:solidFill>
            <a:prstDash val="solid"/>
          </a:ln>
        </p:spPr>
      </p:sp>
      <p:sp>
        <p:nvSpPr>
          <p:cNvPr id="9" name="Text 7"/>
          <p:cNvSpPr/>
          <p:nvPr/>
        </p:nvSpPr>
        <p:spPr>
          <a:xfrm>
            <a:off x="3739896" y="3072384"/>
            <a:ext cx="310896" cy="310896"/>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0" name="Text 8"/>
          <p:cNvSpPr/>
          <p:nvPr/>
        </p:nvSpPr>
        <p:spPr>
          <a:xfrm>
            <a:off x="3739896" y="3474720"/>
            <a:ext cx="2203704" cy="54864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mbria" pitchFamily="34" charset="0"/>
                <a:ea typeface="Cambria" pitchFamily="34" charset="-122"/>
                <a:cs typeface="Cambria" pitchFamily="34" charset="-120"/>
              </a:rPr>
              <a:t>The volume is the constraint</a:t>
            </a:r>
            <a:endParaRPr lang="en-US" sz="1400" dirty="0"/>
          </a:p>
        </p:txBody>
      </p:sp>
      <p:sp>
        <p:nvSpPr>
          <p:cNvPr id="11" name="Text 9"/>
          <p:cNvSpPr/>
          <p:nvPr/>
        </p:nvSpPr>
        <p:spPr>
          <a:xfrm>
            <a:off x="3739896" y="4059936"/>
            <a:ext cx="2203704" cy="969264"/>
          </a:xfrm>
          <a:prstGeom prst="rect">
            <a:avLst/>
          </a:prstGeom>
          <a:noFill/>
          <a:ln/>
        </p:spPr>
        <p:txBody>
          <a:bodyPr wrap="square" lIns="0" tIns="0" rIns="0" bIns="0" rtlCol="0" anchor="t"/>
          <a:lstStyle/>
          <a:p>
            <a:pPr indent="0" marL="0">
              <a:lnSpc>
                <a:spcPts val="1250"/>
              </a:lnSpc>
              <a:buNone/>
            </a:pPr>
            <a:r>
              <a:rPr lang="en-US" sz="950" dirty="0">
                <a:solidFill>
                  <a:srgbClr val="A9C3C2"/>
                </a:solidFill>
                <a:latin typeface="Calibri" pitchFamily="34" charset="0"/>
                <a:ea typeface="Calibri" pitchFamily="34" charset="-122"/>
                <a:cs typeface="Calibri" pitchFamily="34" charset="-120"/>
              </a:rPr>
              <a:t>100 returns a month to 500, with the same ten people. Hours per return have to fall proportionally; nothing else gets there.</a:t>
            </a:r>
            <a:endParaRPr lang="en-US" sz="950" dirty="0"/>
          </a:p>
        </p:txBody>
      </p:sp>
      <p:sp>
        <p:nvSpPr>
          <p:cNvPr id="12" name="Shape 10"/>
          <p:cNvSpPr/>
          <p:nvPr/>
        </p:nvSpPr>
        <p:spPr>
          <a:xfrm>
            <a:off x="6437376" y="2871216"/>
            <a:ext cx="2679192" cy="2286000"/>
          </a:xfrm>
          <a:prstGeom prst="roundRect">
            <a:avLst>
              <a:gd name="adj" fmla="val 2400"/>
            </a:avLst>
          </a:prstGeom>
          <a:solidFill>
            <a:srgbClr val="FFFFFF">
              <a:alpha val="8000"/>
            </a:srgbClr>
          </a:solidFill>
          <a:ln w="12700">
            <a:solidFill>
              <a:srgbClr val="2E7A78"/>
            </a:solidFill>
            <a:prstDash val="solid"/>
          </a:ln>
        </p:spPr>
      </p:sp>
      <p:sp>
        <p:nvSpPr>
          <p:cNvPr id="13" name="Text 11"/>
          <p:cNvSpPr/>
          <p:nvPr/>
        </p:nvSpPr>
        <p:spPr>
          <a:xfrm>
            <a:off x="6675120" y="3072384"/>
            <a:ext cx="310896" cy="310896"/>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4" name="Text 12"/>
          <p:cNvSpPr/>
          <p:nvPr/>
        </p:nvSpPr>
        <p:spPr>
          <a:xfrm>
            <a:off x="6675120" y="3474720"/>
            <a:ext cx="2203704" cy="54864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mbria" pitchFamily="34" charset="0"/>
                <a:ea typeface="Cambria" pitchFamily="34" charset="-122"/>
                <a:cs typeface="Cambria" pitchFamily="34" charset="-120"/>
              </a:rPr>
              <a:t>The judgment stays human</a:t>
            </a:r>
            <a:endParaRPr lang="en-US" sz="1400" dirty="0"/>
          </a:p>
        </p:txBody>
      </p:sp>
      <p:sp>
        <p:nvSpPr>
          <p:cNvPr id="15" name="Text 13"/>
          <p:cNvSpPr/>
          <p:nvPr/>
        </p:nvSpPr>
        <p:spPr>
          <a:xfrm>
            <a:off x="6675120" y="4059936"/>
            <a:ext cx="2203704" cy="969264"/>
          </a:xfrm>
          <a:prstGeom prst="rect">
            <a:avLst/>
          </a:prstGeom>
          <a:noFill/>
          <a:ln/>
        </p:spPr>
        <p:txBody>
          <a:bodyPr wrap="square" lIns="0" tIns="0" rIns="0" bIns="0" rtlCol="0" anchor="t"/>
          <a:lstStyle/>
          <a:p>
            <a:pPr indent="0" marL="0">
              <a:lnSpc>
                <a:spcPts val="1250"/>
              </a:lnSpc>
              <a:buNone/>
            </a:pPr>
            <a:r>
              <a:rPr lang="en-US" sz="950" dirty="0">
                <a:solidFill>
                  <a:srgbClr val="A9C3C2"/>
                </a:solidFill>
                <a:latin typeface="Calibri" pitchFamily="34" charset="0"/>
                <a:ea typeface="Calibri" pitchFamily="34" charset="-122"/>
                <a:cs typeface="Calibri" pitchFamily="34" charset="-120"/>
              </a:rPr>
              <a:t>Every agent names its own touchpoint. Nothing posts to Tally, goes to a client, or gets filed without a person confirming it.</a:t>
            </a:r>
            <a:endParaRPr lang="en-US" sz="950" dirty="0"/>
          </a:p>
        </p:txBody>
      </p:sp>
      <p:sp>
        <p:nvSpPr>
          <p:cNvPr id="16" name="Shape 14"/>
          <p:cNvSpPr/>
          <p:nvPr/>
        </p:nvSpPr>
        <p:spPr>
          <a:xfrm>
            <a:off x="9372600" y="2871216"/>
            <a:ext cx="2679192" cy="2286000"/>
          </a:xfrm>
          <a:prstGeom prst="roundRect">
            <a:avLst>
              <a:gd name="adj" fmla="val 2400"/>
            </a:avLst>
          </a:prstGeom>
          <a:solidFill>
            <a:srgbClr val="FFFFFF">
              <a:alpha val="8000"/>
            </a:srgbClr>
          </a:solidFill>
          <a:ln w="12700">
            <a:solidFill>
              <a:srgbClr val="2E7A78"/>
            </a:solidFill>
            <a:prstDash val="solid"/>
          </a:ln>
        </p:spPr>
      </p:sp>
      <p:sp>
        <p:nvSpPr>
          <p:cNvPr id="17" name="Text 15"/>
          <p:cNvSpPr/>
          <p:nvPr/>
        </p:nvSpPr>
        <p:spPr>
          <a:xfrm>
            <a:off x="9610344" y="3072384"/>
            <a:ext cx="310896" cy="310896"/>
          </a:xfrm>
          <a:prstGeom prst="ellipse">
            <a:avLst/>
          </a:prstGeom>
          <a:solidFill>
            <a:srgbClr val="C08428"/>
          </a:solid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8" name="Text 16"/>
          <p:cNvSpPr/>
          <p:nvPr/>
        </p:nvSpPr>
        <p:spPr>
          <a:xfrm>
            <a:off x="9610344" y="3474720"/>
            <a:ext cx="2203704" cy="548640"/>
          </a:xfrm>
          <a:prstGeom prst="rect">
            <a:avLst/>
          </a:prstGeom>
          <a:noFill/>
          <a:ln/>
        </p:spPr>
        <p:txBody>
          <a:bodyPr wrap="square" lIns="0" tIns="0" rIns="0" bIns="0" rtlCol="0" anchor="t"/>
          <a:lstStyle/>
          <a:p>
            <a:pPr indent="0" marL="0">
              <a:lnSpc>
                <a:spcPts val="1800"/>
              </a:lnSpc>
              <a:buNone/>
            </a:pPr>
            <a:r>
              <a:rPr lang="en-US" sz="1400" b="1" dirty="0">
                <a:solidFill>
                  <a:srgbClr val="FFFFFF"/>
                </a:solidFill>
                <a:latin typeface="Cambria" pitchFamily="34" charset="0"/>
                <a:ea typeface="Cambria" pitchFamily="34" charset="-122"/>
                <a:cs typeface="Cambria" pitchFamily="34" charset="-120"/>
              </a:rPr>
              <a:t>The discipline is structural</a:t>
            </a:r>
            <a:endParaRPr lang="en-US" sz="1400" dirty="0"/>
          </a:p>
        </p:txBody>
      </p:sp>
      <p:sp>
        <p:nvSpPr>
          <p:cNvPr id="19" name="Text 17"/>
          <p:cNvSpPr/>
          <p:nvPr/>
        </p:nvSpPr>
        <p:spPr>
          <a:xfrm>
            <a:off x="9610344" y="4059936"/>
            <a:ext cx="2203704" cy="969264"/>
          </a:xfrm>
          <a:prstGeom prst="rect">
            <a:avLst/>
          </a:prstGeom>
          <a:noFill/>
          <a:ln/>
        </p:spPr>
        <p:txBody>
          <a:bodyPr wrap="square" lIns="0" tIns="0" rIns="0" bIns="0" rtlCol="0" anchor="t"/>
          <a:lstStyle/>
          <a:p>
            <a:pPr indent="0" marL="0">
              <a:lnSpc>
                <a:spcPts val="1250"/>
              </a:lnSpc>
              <a:buNone/>
            </a:pPr>
            <a:r>
              <a:rPr lang="en-US" sz="950" dirty="0">
                <a:solidFill>
                  <a:srgbClr val="A9C3C2"/>
                </a:solidFill>
                <a:latin typeface="Calibri" pitchFamily="34" charset="0"/>
                <a:ea typeface="Calibri" pitchFamily="34" charset="-122"/>
                <a:cs typeface="Calibri" pitchFamily="34" charset="-120"/>
              </a:rPr>
              <a:t>Judgment calls become tasks with owners and due dates, and escalate on their own. No one has to remember to check.</a:t>
            </a:r>
            <a:endParaRPr lang="en-US" sz="950" dirty="0"/>
          </a:p>
        </p:txBody>
      </p:sp>
      <p:sp>
        <p:nvSpPr>
          <p:cNvPr id="20" name="Text 18"/>
          <p:cNvSpPr/>
          <p:nvPr/>
        </p:nvSpPr>
        <p:spPr>
          <a:xfrm>
            <a:off x="566928" y="5852160"/>
            <a:ext cx="11064240" cy="274320"/>
          </a:xfrm>
          <a:prstGeom prst="rect">
            <a:avLst/>
          </a:prstGeom>
          <a:noFill/>
          <a:ln/>
        </p:spPr>
        <p:txBody>
          <a:bodyPr wrap="square" lIns="0" tIns="0" rIns="0" bIns="0" rtlCol="0" anchor="ctr"/>
          <a:lstStyle/>
          <a:p>
            <a:pPr indent="0" marL="0">
              <a:buNone/>
            </a:pPr>
            <a:r>
              <a:rPr lang="en-US" sz="1000" dirty="0">
                <a:solidFill>
                  <a:srgbClr val="7E9A98"/>
                </a:solidFill>
                <a:latin typeface="Calibri" pitchFamily="34" charset="0"/>
                <a:ea typeface="Calibri" pitchFamily="34" charset="-122"/>
                <a:cs typeface="Calibri" pitchFamily="34" charset="-120"/>
              </a:rPr>
              <a:t>CAOS  ·  Feature &amp; Process Documentation v0.2  ·  Prepared for Venture Assist / Srivatsan &amp; Associates  ·  August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Venture Assist and Srivatsan Associates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CAOS Feature and Process Documentation</dc:title>
  <dc:subject>PptxGenJS Presentation</dc:subject>
  <dc:creator>CAOS</dc:creator>
  <cp:lastModifiedBy>CAOS</cp:lastModifiedBy>
  <cp:revision>1</cp:revision>
  <dcterms:created xsi:type="dcterms:W3CDTF">2026-08-17T17:33:36Z</dcterms:created>
  <dcterms:modified xsi:type="dcterms:W3CDTF">2026-08-17T17:33:36Z</dcterms:modified>
</cp:coreProperties>
</file>